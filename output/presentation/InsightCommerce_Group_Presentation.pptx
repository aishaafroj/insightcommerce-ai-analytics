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8a34e6b86b4ee6" /><Relationship Type="http://schemas.openxmlformats.org/officeDocument/2006/relationships/extended-properties" Target="/docProps/app.xml" Id="R79aeab33344542fd" /><Relationship Type="http://schemas.openxmlformats.org/officeDocument/2006/relationships/officeDocument" Target="/ppt/presentation.xml" Id="R323ed4da6eaf4a11" /></Relationships>
</file>

<file path=ppt/presentation.xml><?xml version="1.0" encoding="utf-8"?>
<p:presentation xmlns:p="http://schemas.openxmlformats.org/presentationml/2006/main">
  <p:sldMasterIdLst>
    <p:sldMasterId xmlns:r="http://schemas.openxmlformats.org/officeDocument/2006/relationships" id="2147483648" r:id="Ra210e5ddac154e64"/>
  </p:sldMasterIdLst>
  <p:notesMasterIdLst>
    <p:notesMasterId xmlns:r="http://schemas.openxmlformats.org/officeDocument/2006/relationships" r:id="Rebb183bc1025471c"/>
  </p:notesMasterIdLst>
  <p:sldIdLst>
    <p:sldId xmlns:r="http://schemas.openxmlformats.org/officeDocument/2006/relationships" id="256" r:id="R7bee70a582b74a71"/>
    <p:sldId xmlns:r="http://schemas.openxmlformats.org/officeDocument/2006/relationships" id="257" r:id="R4dba3191f3734fa2"/>
    <p:sldId xmlns:r="http://schemas.openxmlformats.org/officeDocument/2006/relationships" id="258" r:id="R7f8b8ca98ceb4c7c"/>
    <p:sldId xmlns:r="http://schemas.openxmlformats.org/officeDocument/2006/relationships" id="259" r:id="Raba1da1cea3d4eb7"/>
    <p:sldId xmlns:r="http://schemas.openxmlformats.org/officeDocument/2006/relationships" id="260" r:id="Rd8b16ac2211a46af"/>
    <p:sldId xmlns:r="http://schemas.openxmlformats.org/officeDocument/2006/relationships" id="261" r:id="R11bf82b77bc74743"/>
    <p:sldId xmlns:r="http://schemas.openxmlformats.org/officeDocument/2006/relationships" id="262" r:id="Rc8fd86fbdd3d415f"/>
    <p:sldId xmlns:r="http://schemas.openxmlformats.org/officeDocument/2006/relationships" id="263" r:id="R9d37882a5e3840c8"/>
    <p:sldId xmlns:r="http://schemas.openxmlformats.org/officeDocument/2006/relationships" id="264" r:id="Rddc5c66a2aec4d9a"/>
    <p:sldId xmlns:r="http://schemas.openxmlformats.org/officeDocument/2006/relationships" id="265" r:id="Rf32fac59c42b4848"/>
    <p:sldId xmlns:r="http://schemas.openxmlformats.org/officeDocument/2006/relationships" id="266" r:id="R62d57029a06448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bd3db237114730" /><Relationship Type="http://schemas.openxmlformats.org/officeDocument/2006/relationships/slideMaster" Target="/ppt/slideMasters/slideMaster1.xml" Id="Ra210e5ddac154e64" /><Relationship Type="http://schemas.openxmlformats.org/officeDocument/2006/relationships/notesMaster" Target="/ppt/notesMasters/notesMaster1.xml" Id="Rebb183bc1025471c" /><Relationship Type="http://schemas.openxmlformats.org/officeDocument/2006/relationships/presProps" Target="/ppt/presProps.xml" Id="Ree6c6968cfe24e74" /><Relationship Type="http://schemas.openxmlformats.org/officeDocument/2006/relationships/tableStyles" Target="/ppt/tableStyles.xml" Id="R285ce2dffc2a4d60" /><Relationship Type="http://schemas.openxmlformats.org/officeDocument/2006/relationships/slide" Target="/ppt/slides/slide1.xml" Id="R7bee70a582b74a71" /><Relationship Type="http://schemas.openxmlformats.org/officeDocument/2006/relationships/slide" Target="/ppt/slides/slide2.xml" Id="R4dba3191f3734fa2" /><Relationship Type="http://schemas.openxmlformats.org/officeDocument/2006/relationships/slide" Target="/ppt/slides/slide3.xml" Id="R7f8b8ca98ceb4c7c" /><Relationship Type="http://schemas.openxmlformats.org/officeDocument/2006/relationships/slide" Target="/ppt/slides/slide4.xml" Id="Raba1da1cea3d4eb7" /><Relationship Type="http://schemas.openxmlformats.org/officeDocument/2006/relationships/slide" Target="/ppt/slides/slide5.xml" Id="Rd8b16ac2211a46af" /><Relationship Type="http://schemas.openxmlformats.org/officeDocument/2006/relationships/slide" Target="/ppt/slides/slide6.xml" Id="R11bf82b77bc74743" /><Relationship Type="http://schemas.openxmlformats.org/officeDocument/2006/relationships/slide" Target="/ppt/slides/slide7.xml" Id="Rc8fd86fbdd3d415f" /><Relationship Type="http://schemas.openxmlformats.org/officeDocument/2006/relationships/slide" Target="/ppt/slides/slide8.xml" Id="R9d37882a5e3840c8" /><Relationship Type="http://schemas.openxmlformats.org/officeDocument/2006/relationships/slide" Target="/ppt/slides/slide9.xml" Id="Rddc5c66a2aec4d9a" /><Relationship Type="http://schemas.openxmlformats.org/officeDocument/2006/relationships/slide" Target="/ppt/slides/slide10.xml" Id="Rf32fac59c42b4848" /><Relationship Type="http://schemas.openxmlformats.org/officeDocument/2006/relationships/slide" Target="/ppt/slides/slide11.xml" Id="R62d57029a06448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85c0e5ca764d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c2931d97d9450b" /><Relationship Type="http://schemas.openxmlformats.org/officeDocument/2006/relationships/notesMaster" Target="/ppt/notesMasters/notesMaster1.xml" Id="R8cad8d0b5a5044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9432acbc0d4066" /><Relationship Type="http://schemas.openxmlformats.org/officeDocument/2006/relationships/notesMaster" Target="/ppt/notesMasters/notesMaster1.xml" Id="R650e6af1bc3b47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05c2ca029b4c91" /><Relationship Type="http://schemas.openxmlformats.org/officeDocument/2006/relationships/notesMaster" Target="/ppt/notesMasters/notesMaster1.xml" Id="Rb6393e49a50d40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fbce5ae3694cda" /><Relationship Type="http://schemas.openxmlformats.org/officeDocument/2006/relationships/notesMaster" Target="/ppt/notesMasters/notesMaster1.xml" Id="R431105c9811444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aae31d55974cac" /><Relationship Type="http://schemas.openxmlformats.org/officeDocument/2006/relationships/notesMaster" Target="/ppt/notesMasters/notesMaster1.xml" Id="Rb743d662a49346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7e32d7af824db5" /><Relationship Type="http://schemas.openxmlformats.org/officeDocument/2006/relationships/notesMaster" Target="/ppt/notesMasters/notesMaster1.xml" Id="Rbb6d2ac8f7bc43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60ebf4a6154d55" /><Relationship Type="http://schemas.openxmlformats.org/officeDocument/2006/relationships/notesMaster" Target="/ppt/notesMasters/notesMaster1.xml" Id="R8d1f010ead6145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3a525ef8ae4b64" /><Relationship Type="http://schemas.openxmlformats.org/officeDocument/2006/relationships/notesMaster" Target="/ppt/notesMasters/notesMaster1.xml" Id="Rd88afa89d3fc49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396dc783b04d5f" /><Relationship Type="http://schemas.openxmlformats.org/officeDocument/2006/relationships/notesMaster" Target="/ppt/notesMasters/notesMaster1.xml" Id="R02f634ddbb154f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c619b396514b83" /><Relationship Type="http://schemas.openxmlformats.org/officeDocument/2006/relationships/notesMaster" Target="/ppt/notesMasters/notesMaster1.xml" Id="R689ac19bdbbc44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4a7e98ccc0e4f47" /><Relationship Type="http://schemas.openxmlformats.org/officeDocument/2006/relationships/notesMaster" Target="/ppt/notesMasters/notesMaster1.xml" Id="R72a0942c820e4c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Shahriar and Aisha. Our project is InsightCommerce: a decision-intelligence platform built for the Deep Learning course. We will show how verified transaction data moves through a fast dashboard, a guarded AI query workflow, prediction, anomaly detection, and downloadable evidence.</a:t>
            </a:r>
          </a:p>
          <a:p xmlns:a="http://schemas.openxmlformats.org/drawingml/2006/main">
            <a:r>
              <a:t/>
            </a:r>
          </a:p>
          <a:p xmlns:a="http://schemas.openxmlformats.org/drawingml/2006/main">
            <a:r>
              <a:t>[Sources]</a:t>
            </a:r>
          </a:p>
          <a:p xmlns:a="http://schemas.openxmlformats.org/drawingml/2006/main">
            <a:r>
              <a:t>- Local project README.md and output/pdf/InsightCommerce_Group_Capstone_Report.pdf</a:t>
            </a:r>
          </a:p>
          <a:p xmlns:a="http://schemas.openxmlformats.org/drawingml/2006/main">
            <a:r>
              <a:t>- Local screenshot docs/dashboard-overview.png</a:t>
            </a:r>
          </a:p>
          <a:p xmlns:a="http://schemas.openxmlformats.org/drawingml/2006/main">
            <a:r>
              <a:t>- https://github.com/AishaAfroj/insightcommerce-ai-analytics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with a practical problem: a large transaction file is not automatically useful. Static charts answer only prepared questions, while LLM-generated code introduces safety risks. InsightCommerce combines fast exploration, guarded questions, advanced analytics, and evidence in one workflow.</a:t>
            </a:r>
          </a:p>
          <a:p xmlns:a="http://schemas.openxmlformats.org/drawingml/2006/main">
            <a:r>
              <a:t/>
            </a:r>
          </a:p>
          <a:p xmlns:a="http://schemas.openxmlformats.org/drawingml/2006/main">
            <a:r>
              <a:t>[Sources]</a:t>
            </a:r>
          </a:p>
          <a:p xmlns:a="http://schemas.openxmlformats.org/drawingml/2006/main">
            <a:r>
              <a:t>- Local project README.md</a:t>
            </a:r>
          </a:p>
          <a:p xmlns:a="http://schemas.openxmlformats.org/drawingml/2006/main">
            <a:r>
              <a:t>- Local capstone brief coverage documented in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coding, we inspected the downloaded CSV and built the application around the exact schema. The file contains 108,300 transactions and ten source columns, with zero missing cells and zero duplicate order IDs. It does not contain profit, discount, shipping, cancellation, or category, so the project never presents those as source facts. Only documented calendar fields and a reproducible electronics taxonomy are derived.</a:t>
            </a:r>
          </a:p>
          <a:p xmlns:a="http://schemas.openxmlformats.org/drawingml/2006/main">
            <a:r>
              <a:t/>
            </a:r>
          </a:p>
          <a:p xmlns:a="http://schemas.openxmlformats.org/drawingml/2006/main">
            <a:r>
              <a:t>[Sources]</a:t>
            </a:r>
          </a:p>
          <a:p xmlns:a="http://schemas.openxmlformats.org/drawingml/2006/main">
            <a:r>
              <a:t>- Local data/processed/schema.json</a:t>
            </a:r>
          </a:p>
          <a:p xmlns:a="http://schemas.openxmlformats.org/drawingml/2006/main">
            <a:r>
              <a:t>- Local data/processed/quality_report.json</a:t>
            </a:r>
          </a:p>
          <a:p xmlns:a="http://schemas.openxmlformats.org/drawingml/2006/main">
            <a:r>
              <a:t>- Local docs/dataset_verification.md</a:t>
            </a:r>
          </a:p>
          <a:p xmlns:a="http://schemas.openxmlformats.org/drawingml/2006/main">
            <a:r>
              <a:t>- https://www.kaggle.com/datasets/wojciechkiebowicz/e-commerce-electronic-sales-2025-dataset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architecture. The CSV is validated and converted to optimized Parquet. The Streamlit interface sends filters to DuckDB. For natural-language questions, the schema and latest five successful turns ground the planner. A SELECT-only safety gate checks the plan before DuckDB runs it. Prediction and anomaly modules use only approved fields, and outputs can be exported.</a:t>
            </a:r>
          </a:p>
          <a:p xmlns:a="http://schemas.openxmlformats.org/drawingml/2006/main">
            <a:r>
              <a:t/>
            </a:r>
          </a:p>
          <a:p xmlns:a="http://schemas.openxmlformats.org/drawingml/2006/main">
            <a:r>
              <a:t>[Sources]</a:t>
            </a:r>
          </a:p>
          <a:p xmlns:a="http://schemas.openxmlformats.org/drawingml/2006/main">
            <a:r>
              <a:t>- Local docs/architecture.png</a:t>
            </a:r>
          </a:p>
          <a:p xmlns:a="http://schemas.openxmlformats.org/drawingml/2006/main">
            <a:r>
              <a:t>- Local docs/architecture.mmd</a:t>
            </a:r>
          </a:p>
          <a:p xmlns:a="http://schemas.openxmlformats.org/drawingml/2006/main">
            <a:r>
              <a:t>- Local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overview is the entry point. Date, country, and category filters update the KPI row and every chart together. The Visual Explorer offers line, map, bar, heatmap, treemap, scatter, box, and histogram views. Users can hover, zoom, select a prepared view, or build a manual chart. The dashboard is not a screenshot-only deliverable; every visual is interactive in the running app.</a:t>
            </a:r>
          </a:p>
          <a:p xmlns:a="http://schemas.openxmlformats.org/drawingml/2006/main">
            <a:r>
              <a:t/>
            </a:r>
          </a:p>
          <a:p xmlns:a="http://schemas.openxmlformats.org/drawingml/2006/main">
            <a:r>
              <a:t>[Sources]</a:t>
            </a:r>
          </a:p>
          <a:p xmlns:a="http://schemas.openxmlformats.org/drawingml/2006/main">
            <a:r>
              <a:t>- Local docs/dashboard-overview.png</a:t>
            </a:r>
          </a:p>
          <a:p xmlns:a="http://schemas.openxmlformats.org/drawingml/2006/main">
            <a:r>
              <a:t>- Local app.py</a:t>
            </a:r>
          </a:p>
          <a:p xmlns:a="http://schemas.openxmlformats.org/drawingml/2006/main">
            <a:r>
              <a:t>- Local src/insightcommerce/charts.py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AI workflow. The user asks a question. The planner receives only the safe schema, filter context, and latest five successful turns. It returns a strict JSON plan. The validator rejects unsafe SQL before execution. DuckDB returns the checked result, and only then does the app create the explanation and chart. In the demo, run the monthly revenue preset, show the generated SQL, then change the chart override from line to bar.</a:t>
            </a:r>
          </a:p>
          <a:p xmlns:a="http://schemas.openxmlformats.org/drawingml/2006/main">
            <a:r>
              <a:t/>
            </a:r>
          </a:p>
          <a:p xmlns:a="http://schemas.openxmlformats.org/drawingml/2006/main">
            <a:r>
              <a:t>[Sources]</a:t>
            </a:r>
          </a:p>
          <a:p xmlns:a="http://schemas.openxmlformats.org/drawingml/2006/main">
            <a:r>
              <a:t>- Local src/insightcommerce/prompts.py</a:t>
            </a:r>
          </a:p>
          <a:p xmlns:a="http://schemas.openxmlformats.org/drawingml/2006/main">
            <a:r>
              <a:t>- Local src/insightcommerce/assistant.py</a:t>
            </a:r>
          </a:p>
          <a:p xmlns:a="http://schemas.openxmlformats.org/drawingml/2006/main">
            <a:r>
              <a:t>- Local src/insightcommerce/sandbox.py</a:t>
            </a:r>
          </a:p>
          <a:p xmlns:a="http://schemas.openxmlformats.org/drawingml/2006/main">
            <a:r>
              <a:t>- Local docs/PRESENTATION_DEMO_GUIDE.md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safety boundary is intentionally narrow. The validator accepts one SELECT or CTE over the approved in-memory orders table. It blocks mutation, commands, external access, hidden schemas, unrestricted SELECT star, and sensitive customer fields. Execution is capped at 5,000 rows, five seconds, and one gigabyte. A failed generation receives exactly one corrective retry. Only successful answers enter the five-turn memory.</a:t>
            </a:r>
          </a:p>
          <a:p xmlns:a="http://schemas.openxmlformats.org/drawingml/2006/main">
            <a:r>
              <a:t/>
            </a:r>
          </a:p>
          <a:p xmlns:a="http://schemas.openxmlformats.org/drawingml/2006/main">
            <a:r>
              <a:t>[Sources]</a:t>
            </a:r>
          </a:p>
          <a:p xmlns:a="http://schemas.openxmlformats.org/drawingml/2006/main">
            <a:r>
              <a:t>- Local src/insightcommerce/sandbox.py</a:t>
            </a:r>
          </a:p>
          <a:p xmlns:a="http://schemas.openxmlformats.org/drawingml/2006/main">
            <a:r>
              <a:t>- Local src/insightcommerce/memory.py</a:t>
            </a:r>
          </a:p>
          <a:p xmlns:a="http://schemas.openxmlformats.org/drawingml/2006/main">
            <a:r>
              <a:t>- Local docs/SECURITY.md</a:t>
            </a:r>
          </a:p>
          <a:p xmlns:a="http://schemas.openxmlformats.org/drawingml/2006/main">
            <a:r>
              <a:t>- Local tests/test_sandbox.py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predictive feature estimates daily order demand using calendar features and a Random Forest. We evaluate on 53 deterministic held-out dates. The MAE is 12.4 orders per day and R-squared is 0.995. However, we do not oversell this number: the synthetic dataset contains a very strong Q4 jump, and month explains almost all of the pattern. The score should not be generalized to a real retailer without real historical data and a time-based validation design.</a:t>
            </a:r>
          </a:p>
          <a:p xmlns:a="http://schemas.openxmlformats.org/drawingml/2006/main">
            <a:r>
              <a:t/>
            </a:r>
          </a:p>
          <a:p xmlns:a="http://schemas.openxmlformats.org/drawingml/2006/main">
            <a:r>
              <a:t>[Sources]</a:t>
            </a:r>
          </a:p>
          <a:p xmlns:a="http://schemas.openxmlformats.org/drawingml/2006/main">
            <a:r>
              <a:t>- Local src/insightcommerce/ml.py</a:t>
            </a:r>
          </a:p>
          <a:p xmlns:a="http://schemas.openxmlformats.org/drawingml/2006/main">
            <a:r>
              <a:t>- Local docs/MODEL_CARD.md</a:t>
            </a:r>
          </a:p>
          <a:p xmlns:a="http://schemas.openxmlformats.org/drawingml/2006/main">
            <a:r>
              <a:t>- Local tests/test_ml_anomaly.py</a:t>
            </a:r>
          </a:p>
          <a:p xmlns:a="http://schemas.openxmlformats.org/drawingml/2006/main">
            <a:r>
              <a:t>- Metrics reproduced from local data/processed/orders.parquet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anomaly module uses Isolation Forest on public transaction features. It scores all 108,300 rows and flags 1,006, or about 0.93 percent. Each flag includes a transparent reason, such as maximum quantity or an order far above the product's typical value. We describe these as investigative signals, not as fraud labels or confirmed data errors. In the live demo, hover on the scatter plot, open the reasons table, and download the anomaly CSV.</a:t>
            </a:r>
          </a:p>
          <a:p xmlns:a="http://schemas.openxmlformats.org/drawingml/2006/main">
            <a:r>
              <a:t/>
            </a:r>
          </a:p>
          <a:p xmlns:a="http://schemas.openxmlformats.org/drawingml/2006/main">
            <a:r>
              <a:t>[Sources]</a:t>
            </a:r>
          </a:p>
          <a:p xmlns:a="http://schemas.openxmlformats.org/drawingml/2006/main">
            <a:r>
              <a:t>- Local src/insightcommerce/anomaly.py</a:t>
            </a:r>
          </a:p>
          <a:p xmlns:a="http://schemas.openxmlformats.org/drawingml/2006/main">
            <a:r>
              <a:t>- Local docs/MODEL_CARD.md</a:t>
            </a:r>
          </a:p>
          <a:p xmlns:a="http://schemas.openxmlformats.org/drawingml/2006/main">
            <a:r>
              <a:t>- Local tests/test_ml_anomaly.py</a:t>
            </a:r>
          </a:p>
          <a:p xmlns:a="http://schemas.openxmlformats.org/drawingml/2006/main">
            <a:r>
              <a:t>- Metrics reproduced from local data/processed/orders.parquet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did not treat the app working once as enough evidence. The test suite has 21 passing tests covering data, guardrails, memory, charts, exports, prediction, and anomaly detection. The question benchmark passes all ten questions. The filtered aggregation median is 2.52 milliseconds, with a p95 of 2.66, comfortably below the 500 millisecond requirement. These are recorded outputs that can be regenerated before the presentation.</a:t>
            </a:r>
          </a:p>
          <a:p xmlns:a="http://schemas.openxmlformats.org/drawingml/2006/main">
            <a:r>
              <a:t/>
            </a:r>
          </a:p>
          <a:p xmlns:a="http://schemas.openxmlformats.org/drawingml/2006/main">
            <a:r>
              <a:t>[Sources]</a:t>
            </a:r>
          </a:p>
          <a:p xmlns:a="http://schemas.openxmlformats.org/drawingml/2006/main">
            <a:r>
              <a:t>- Local artifacts/benchmarks/performance.json</a:t>
            </a:r>
          </a:p>
          <a:p xmlns:a="http://schemas.openxmlformats.org/drawingml/2006/main">
            <a:r>
              <a:t>- Local artifacts/benchmarks/question_benchmark.json</a:t>
            </a:r>
          </a:p>
          <a:p xmlns:a="http://schemas.openxmlformats.org/drawingml/2006/main">
            <a:r>
              <a:t>- Local tests/</a:t>
            </a:r>
          </a:p>
          <a:p xmlns:a="http://schemas.openxmlformats.org/drawingml/2006/main">
            <a:r>
              <a:t>- Local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InsightCommerce demonstrates three things: a verified data foundation, an AI workflow controlled by deterministic safety checks, and evidence that can be reproduced and presented. The repository contains the complete app, report, testing guide, model card, architecture, and deployment files. Thank you. We are ready for questions and the live demonstration.</a:t>
            </a:r>
          </a:p>
          <a:p xmlns:a="http://schemas.openxmlformats.org/drawingml/2006/main">
            <a:r>
              <a:t/>
            </a:r>
          </a:p>
          <a:p xmlns:a="http://schemas.openxmlformats.org/drawingml/2006/main">
            <a:r>
              <a:t>[Sources]</a:t>
            </a:r>
          </a:p>
          <a:p xmlns:a="http://schemas.openxmlformats.org/drawingml/2006/main">
            <a:r>
              <a:t>- https://github.com/AishaAfroj/insightcommerce-ai-analytics</a:t>
            </a:r>
          </a:p>
          <a:p xmlns:a="http://schemas.openxmlformats.org/drawingml/2006/main">
            <a:r>
              <a:t>- Local README.md</a:t>
            </a:r>
          </a:p>
          <a:p xmlns:a="http://schemas.openxmlformats.org/drawingml/2006/main">
            <a:r>
              <a:t>- Local docs/PRESENTATION_DEMO_GUIDE.md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14be8f15874d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c6188189e74dc8" /><Relationship Type="http://schemas.openxmlformats.org/officeDocument/2006/relationships/slideLayout" Target="/ppt/slideLayouts/slideLayout1.xml" Id="R32191e11236e4f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191e11236e4f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10c4904d894019" /><Relationship Type="http://schemas.openxmlformats.org/officeDocument/2006/relationships/image" Target="/ppt/media/image.jpeg" Id="R875410863edf4078" /><Relationship Type="http://schemas.openxmlformats.org/officeDocument/2006/relationships/notesSlide" Target="/ppt/notesSlides/notesSlide1.xml" Id="Rb3e0bab2900f45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12fe1ea53c49f7" /><Relationship Type="http://schemas.openxmlformats.org/officeDocument/2006/relationships/notesSlide" Target="/ppt/notesSlides/notesSlide2.xml" Id="R92ba3a6a246d40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a4df87701345aa" /><Relationship Type="http://schemas.openxmlformats.org/officeDocument/2006/relationships/notesSlide" Target="/ppt/notesSlides/notesSlide3.xml" Id="R94a723bd16cf45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226f2e201b42dd" /><Relationship Type="http://schemas.openxmlformats.org/officeDocument/2006/relationships/image" Target="/ppt/media/image.png" Id="Rab45ad867548498b" /><Relationship Type="http://schemas.openxmlformats.org/officeDocument/2006/relationships/notesSlide" Target="/ppt/notesSlides/notesSlide4.xml" Id="R3d2f93143e654d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417be1e2944a3b" /><Relationship Type="http://schemas.openxmlformats.org/officeDocument/2006/relationships/image" Target="/ppt/media/image2.jpeg" Id="Rf39d5d81b50f495b" /><Relationship Type="http://schemas.openxmlformats.org/officeDocument/2006/relationships/notesSlide" Target="/ppt/notesSlides/notesSlide5.xml" Id="R9de60d88c7b243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7f4c1f9c064688" /><Relationship Type="http://schemas.openxmlformats.org/officeDocument/2006/relationships/notesSlide" Target="/ppt/notesSlides/notesSlide6.xml" Id="Rc3a28c9d487e4e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d2f6bf2e0446f6" /><Relationship Type="http://schemas.openxmlformats.org/officeDocument/2006/relationships/notesSlide" Target="/ppt/notesSlides/notesSlide7.xml" Id="R4b2dd302b78148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4512da04c84e9b" /><Relationship Type="http://schemas.openxmlformats.org/officeDocument/2006/relationships/chart" Target="/ppt/slides/charts/chart1.xml" Id="Rbc32109b80b742aa" /><Relationship Type="http://schemas.openxmlformats.org/officeDocument/2006/relationships/notesSlide" Target="/ppt/notesSlides/notesSlide8.xml" Id="Rdb126f887e5e4a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e00defcf0c4529" /><Relationship Type="http://schemas.openxmlformats.org/officeDocument/2006/relationships/chart" Target="/ppt/slides/charts/chart2.xml" Id="R97cd929faef84252" /><Relationship Type="http://schemas.openxmlformats.org/officeDocument/2006/relationships/notesSlide" Target="/ppt/notesSlides/notesSlide9.xml" Id="R245ce19775e048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571b90b8e34570" /><Relationship Type="http://schemas.openxmlformats.org/officeDocument/2006/relationships/notesSlide" Target="/ppt/notesSlides/notesSlide10.xml" Id="Rccba3691beaa4c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15bfe25019e4ba2" /><Relationship Type="http://schemas.openxmlformats.org/officeDocument/2006/relationships/notesSlide" Target="/ppt/notesSlides/notesSlide11.xml" Id="R44ae5cb9f1a14bd2" /></Relationships>
</file>

<file path=ppt/slides/charts/chart1.xml><?xml version="1.0" encoding="utf-8"?>
<c:chartSpace xmlns:c="http://schemas.openxmlformats.org/drawingml/2006/chart">
  <c:lang val="en-US"/>
  <c:chart>
    <c:plotArea>
      <c:lineChart>
        <c:grouping val="standard"/>
        <c:ser>
          <c:idx val="0"/>
          <c:order val="0"/>
          <c:tx>
            <c:v>Actual</c:v>
          </c:tx>
          <c:spPr>
            <a:ln xmlns:a="http://schemas.openxmlformats.org/drawingml/2006/main" w="28575">
              <a:solidFill>
                <a:srgbClr val="101522"/>
              </a:solidFill>
              <a:prstDash val="solid"/>
            </a:ln>
          </c:spPr>
          <c:marker>
            <c:symbol val="circle"/>
            <c:size val="6"/>
            <c:spPr>
              <a:solidFill xmlns:a="http://schemas.openxmlformats.org/drawingml/2006/main">
                <a:srgbClr val="101522"/>
              </a:solidFill>
            </c:spPr>
          </c:marker>
          <c:cat>
            <c:strLit>
              <c:ptCount val="12"/>
              <c:pt idx="0">
                <c:v>Jan</c:v>
              </c:pt>
              <c:pt idx="1">
                <c:v>Feb</c:v>
              </c:pt>
              <c:pt idx="2">
                <c:v>Mar</c:v>
              </c:pt>
              <c:pt idx="3">
                <c:v>Apr</c:v>
              </c:pt>
              <c:pt idx="4">
                <c:v>May</c:v>
              </c:pt>
              <c:pt idx="5">
                <c:v>Jun</c:v>
              </c:pt>
              <c:pt idx="6">
                <c:v>Jul</c:v>
              </c:pt>
              <c:pt idx="7">
                <c:v>Aug</c:v>
              </c:pt>
              <c:pt idx="8">
                <c:v>Sep</c:v>
              </c:pt>
              <c:pt idx="9">
                <c:v>Oct</c:v>
              </c:pt>
              <c:pt idx="10">
                <c:v>Nov</c:v>
              </c:pt>
              <c:pt idx="11">
                <c:v>Dec</c:v>
              </c:pt>
            </c:strLit>
          </c:cat>
          <c:val>
            <c:numLit>
              <c:formatCode>0</c:formatCode>
              <c:ptCount val="12"/>
              <c:pt idx="0">
                <c:v>179.8</c:v>
              </c:pt>
              <c:pt idx="1">
                <c:v>178</c:v>
              </c:pt>
              <c:pt idx="2">
                <c:v>178.3</c:v>
              </c:pt>
              <c:pt idx="3">
                <c:v>177.4</c:v>
              </c:pt>
              <c:pt idx="4">
                <c:v>178.2</c:v>
              </c:pt>
              <c:pt idx="5">
                <c:v>177.7</c:v>
              </c:pt>
              <c:pt idx="6">
                <c:v>176.6</c:v>
              </c:pt>
              <c:pt idx="7">
                <c:v>175.8</c:v>
              </c:pt>
              <c:pt idx="8">
                <c:v>180.8</c:v>
              </c:pt>
              <c:pt idx="9">
                <c:v>175.9</c:v>
              </c:pt>
              <c:pt idx="10">
                <c:v>893.4</c:v>
              </c:pt>
              <c:pt idx="11">
                <c:v>884.9</c:v>
              </c:pt>
            </c:numLit>
          </c:val>
        </c:ser>
        <c:ser>
          <c:idx val="1"/>
          <c:order val="1"/>
          <c:tx>
            <c:v>Predicted</c:v>
          </c:tx>
          <c:spPr>
            <a:ln xmlns:a="http://schemas.openxmlformats.org/drawingml/2006/main" w="38100">
              <a:solidFill>
                <a:srgbClr val="3D8DFF"/>
              </a:solidFill>
              <a:prstDash val="solid"/>
            </a:ln>
          </c:spPr>
          <c:marker>
            <c:symbol val="circle"/>
            <c:size val="6"/>
            <c:spPr>
              <a:solidFill xmlns:a="http://schemas.openxmlformats.org/drawingml/2006/main">
                <a:srgbClr val="3D8DFF"/>
              </a:solidFill>
            </c:spPr>
          </c:marker>
          <c:cat>
            <c:strLit>
              <c:ptCount val="12"/>
              <c:pt idx="0">
                <c:v>Jan</c:v>
              </c:pt>
              <c:pt idx="1">
                <c:v>Feb</c:v>
              </c:pt>
              <c:pt idx="2">
                <c:v>Mar</c:v>
              </c:pt>
              <c:pt idx="3">
                <c:v>Apr</c:v>
              </c:pt>
              <c:pt idx="4">
                <c:v>May</c:v>
              </c:pt>
              <c:pt idx="5">
                <c:v>Jun</c:v>
              </c:pt>
              <c:pt idx="6">
                <c:v>Jul</c:v>
              </c:pt>
              <c:pt idx="7">
                <c:v>Aug</c:v>
              </c:pt>
              <c:pt idx="8">
                <c:v>Sep</c:v>
              </c:pt>
              <c:pt idx="9">
                <c:v>Oct</c:v>
              </c:pt>
              <c:pt idx="10">
                <c:v>Nov</c:v>
              </c:pt>
              <c:pt idx="11">
                <c:v>Dec</c:v>
              </c:pt>
            </c:strLit>
          </c:cat>
          <c:val>
            <c:numLit>
              <c:formatCode>0</c:formatCode>
              <c:ptCount val="12"/>
              <c:pt idx="0">
                <c:v>180.1</c:v>
              </c:pt>
              <c:pt idx="1">
                <c:v>178.5</c:v>
              </c:pt>
              <c:pt idx="2">
                <c:v>178.5</c:v>
              </c:pt>
              <c:pt idx="3">
                <c:v>177.7</c:v>
              </c:pt>
              <c:pt idx="4">
                <c:v>176.9</c:v>
              </c:pt>
              <c:pt idx="5">
                <c:v>176.9</c:v>
              </c:pt>
              <c:pt idx="6">
                <c:v>176.6</c:v>
              </c:pt>
              <c:pt idx="7">
                <c:v>174.3</c:v>
              </c:pt>
              <c:pt idx="8">
                <c:v>180</c:v>
              </c:pt>
              <c:pt idx="9">
                <c:v>175.7</c:v>
              </c:pt>
              <c:pt idx="10">
                <c:v>892.5</c:v>
              </c:pt>
              <c:pt idx="11">
                <c:v>890.9</c:v>
              </c:pt>
            </c:numLit>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75">
                <a:solidFill>
                  <a:srgbClr val="596274"/>
                </a:solidFill>
              </a:defRPr>
            </a:pPr>
          </a:p>
        </c:txPr>
        <c:crossAx val="48672768"/>
      </c:catAx>
      <c:valAx>
        <c:axId val="48672768"/>
        <c:scaling>
          <c:orientation val="minMax"/>
          <c:max val="1000"/>
          <c:min val="0"/>
        </c:scaling>
        <c:delete val="0"/>
        <c:axPos val="l"/>
        <c:majorGridlines>
          <c:spPr>
            <a:ln xmlns:a="http://schemas.openxmlformats.org/drawingml/2006/main" w="9525">
              <a:solidFill>
                <a:srgbClr val="DADDE3"/>
              </a:solidFill>
              <a:prstDash val="solid"/>
            </a:ln>
          </c:spPr>
        </c:majorGridlines>
        <c:numFmt formatCode="0"/>
        <c:majorTickMark val="none"/>
        <c:minorTickMark val="none"/>
        <c:spPr>
          <a:ln xmlns:a="http://schemas.openxmlformats.org/drawingml/2006/main" w="0">
            <a:solidFill>
              <a:srgbClr val="F7F8FA"/>
            </a:solidFill>
            <a:prstDash val="solid"/>
          </a:ln>
        </c:spPr>
        <c:txPr>
          <a:bodyPr xmlns:a="http://schemas.openxmlformats.org/drawingml/2006/main" anchorCtr="1"/>
          <a:lstStyle xmlns:a="http://schemas.openxmlformats.org/drawingml/2006/main"/>
          <a:p xmlns:a="http://schemas.openxmlformats.org/drawingml/2006/main">
            <a:pPr>
              <a:defRPr sz="975">
                <a:solidFill>
                  <a:srgbClr val="596274"/>
                </a:solidFill>
              </a:defRPr>
            </a:pPr>
          </a:p>
        </c:txPr>
        <c:crossAx val="48650112"/>
        <c:crossBetween val="between"/>
        <c:majorUnit val="200"/>
      </c:valAx>
      <c:spPr>
        <a:noFill xmlns:a="http://schemas.openxmlformats.org/drawingml/2006/main"/>
        <a:ln xmlns:a="http://schemas.openxmlformats.org/drawingml/2006/main" w="0">
          <a:solidFill>
            <a:srgbClr val="F7F8FA"/>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96274"/>
              </a:solidFill>
            </a:defRPr>
          </a:pPr>
        </a:p>
      </c:txPr>
    </c:legend>
    <c:plotVisOnly val="1"/>
  </c:chart>
  <c:spPr>
    <a:solidFill xmlns:a="http://schemas.openxmlformats.org/drawingml/2006/main">
      <a:srgbClr val="F7F8FA"/>
    </a:solidFill>
    <a:ln xmlns:a="http://schemas.openxmlformats.org/drawingml/2006/main" w="0">
      <a:solidFill>
        <a:srgbClr val="F7F8FA"/>
      </a:solidFill>
      <a:prstDash val="solid"/>
    </a:ln>
  </c:spPr>
</c:chartSpace>
</file>

<file path=ppt/slides/charts/chart2.xml><?xml version="1.0" encoding="utf-8"?>
<c:chartSpace xmlns:c="http://schemas.openxmlformats.org/drawingml/2006/chart">
  <c:lang val="en-US"/>
  <c:chart>
    <c:plotArea>
      <c:doughnutChart>
        <c:ser>
          <c:idx val="0"/>
          <c:order val="0"/>
          <c:tx>
            <c:v>Share of scored rows</c:v>
          </c:tx>
          <c:dPt>
            <c:idx val="0"/>
            <c:spPr>
              <a:solidFill xmlns:a="http://schemas.openxmlformats.org/drawingml/2006/main">
                <a:srgbClr val="DADDE3"/>
              </a:solidFill>
            </c:spPr>
          </c:dPt>
          <c:dPt>
            <c:idx val="1"/>
            <c:spPr>
              <a:solidFill xmlns:a="http://schemas.openxmlformats.org/drawingml/2006/main">
                <a:srgbClr val="3D8DFF"/>
              </a:solidFill>
            </c:spPr>
          </c:dPt>
          <c:cat>
            <c:strLit>
              <c:ptCount val="2"/>
              <c:pt idx="0">
                <c:v>Not flagged</c:v>
              </c:pt>
              <c:pt idx="1">
                <c:v>Flagged</c:v>
              </c:pt>
            </c:strLit>
          </c:cat>
          <c:val>
            <c:numLit>
              <c:formatCode>General</c:formatCode>
              <c:ptCount val="2"/>
              <c:pt idx="0">
                <c:v>107294</c:v>
              </c:pt>
              <c:pt idx="1">
                <c:v>1006</c:v>
              </c:pt>
            </c:numLit>
          </c:val>
        </c:ser>
        <c:firstSliceAng val="270"/>
        <c:holeSize val="72"/>
      </c:doughnutChart>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96274"/>
              </a:solidFill>
            </a:defRPr>
          </a:pPr>
        </a:p>
      </c:txPr>
    </c:legend>
    <c:plotVisOnly val="1"/>
  </c:chart>
  <c:spPr>
    <a:solidFill xmlns:a="http://schemas.openxmlformats.org/drawingml/2006/main">
      <a:srgbClr val="F7F8FA"/>
    </a:solidFill>
    <a:ln xmlns:a="http://schemas.openxmlformats.org/drawingml/2006/main" w="0">
      <a:solidFill>
        <a:srgbClr val="F7F8FA"/>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0E352B8-4EA4-4CE9-BF7D-46F6AAC3491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x8fihc">
            <a:extLst xmlns:a="http://schemas.openxmlformats.org/drawingml/2006/main">
              <a:ext uri="{FF2B5EF4-FFF2-40B4-BE49-F238E27FC236}">
                <a16:creationId xmlns:a16="http://schemas.microsoft.com/office/drawing/2014/main" id="{F5B69088-10D3-4134-8205-3C1D9387A0B2}"/>
              </a:ext>
            </a:extLst>
          </p:cNvPr>
          <p:cNvSpPr>
            <a:spLocks xmlns:a="http://schemas.openxmlformats.org/drawingml/2006/main" noGrp="1"/>
          </p:cNvSpPr>
          <p:nvPr/>
        </p:nvSpPr>
        <p:spPr>
          <a:xfrm xmlns:a="http://schemas.openxmlformats.org/drawingml/2006/main">
            <a:off x="514350" y="361950"/>
            <a:ext cx="581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MSc Group Capstone · Deep Learning</a:t>
            </a:r>
          </a:p>
        </p:txBody>
      </p:sp>
      <p:sp>
        <p:nvSpPr>
          <p:cNvPr id="3" name="text-797wzg">
            <a:extLst xmlns:a="http://schemas.openxmlformats.org/drawingml/2006/main">
              <a:ext uri="{FF2B5EF4-FFF2-40B4-BE49-F238E27FC236}">
                <a16:creationId xmlns:a16="http://schemas.microsoft.com/office/drawing/2014/main" id="{6556391A-3B0F-4CE1-B2C5-80E04CA608F3}"/>
              </a:ext>
            </a:extLst>
          </p:cNvPr>
          <p:cNvSpPr>
            <a:spLocks xmlns:a="http://schemas.openxmlformats.org/drawingml/2006/main" noGrp="1"/>
          </p:cNvSpPr>
          <p:nvPr/>
        </p:nvSpPr>
        <p:spPr>
          <a:xfrm xmlns:a="http://schemas.openxmlformats.org/drawingml/2006/main">
            <a:off x="495300" y="781050"/>
            <a:ext cx="590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a:solidFill>
                  <a:srgbClr val="101522"/>
                </a:solidFill>
                <a:latin typeface="Helvetica Neue"/>
                <a:ea typeface="Helvetica Neue"/>
                <a:cs typeface="Helvetica Neue"/>
              </a:defRPr>
            </a:pPr>
            <a:r>
              <a:rPr sz="4950" b="1">
                <a:solidFill>
                  <a:srgbClr val="101522"/>
                </a:solidFill>
                <a:latin typeface="Helvetica Neue"/>
                <a:ea typeface="Helvetica Neue"/>
                <a:cs typeface="Helvetica Neue"/>
              </a:rPr>
              <a:t>InsightCommerce</a:t>
            </a:r>
          </a:p>
        </p:txBody>
      </p:sp>
      <p:sp>
        <p:nvSpPr>
          <p:cNvPr id="4" name="text-2c8ohz">
            <a:extLst xmlns:a="http://schemas.openxmlformats.org/drawingml/2006/main">
              <a:ext uri="{FF2B5EF4-FFF2-40B4-BE49-F238E27FC236}">
                <a16:creationId xmlns:a16="http://schemas.microsoft.com/office/drawing/2014/main" id="{0A94EBE5-4C9D-4628-AAFE-516277429E0A}"/>
              </a:ext>
            </a:extLst>
          </p:cNvPr>
          <p:cNvSpPr>
            <a:spLocks xmlns:a="http://schemas.openxmlformats.org/drawingml/2006/main" noGrp="1"/>
          </p:cNvSpPr>
          <p:nvPr/>
        </p:nvSpPr>
        <p:spPr>
          <a:xfrm xmlns:a="http://schemas.openxmlformats.org/drawingml/2006/main">
            <a:off x="523875" y="1609725"/>
            <a:ext cx="5572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0">
                <a:solidFill>
                  <a:srgbClr val="596274"/>
                </a:solidFill>
                <a:latin typeface="Helvetica Neue"/>
                <a:ea typeface="Helvetica Neue"/>
                <a:cs typeface="Helvetica Neue"/>
              </a:defRPr>
            </a:pPr>
            <a:r>
              <a:rPr sz="2175" b="0">
                <a:solidFill>
                  <a:srgbClr val="596274"/>
                </a:solidFill>
                <a:latin typeface="Helvetica Neue"/>
                <a:ea typeface="Helvetica Neue"/>
                <a:cs typeface="Helvetica Neue"/>
              </a:rPr>
              <a:t>An AI-Powered E-Commerce Analytics</a:t>
            </a:r>
          </a:p>
          <a:p xmlns:a="http://schemas.openxmlformats.org/drawingml/2006/main">
            <a:pPr algn="l">
              <a:defRPr sz="2175" b="0">
                <a:solidFill>
                  <a:srgbClr val="596274"/>
                </a:solidFill>
                <a:latin typeface="Helvetica Neue"/>
                <a:ea typeface="Helvetica Neue"/>
                <a:cs typeface="Helvetica Neue"/>
              </a:defRPr>
            </a:pPr>
            <a:r>
              <a:rPr sz="2175" b="0">
                <a:solidFill>
                  <a:srgbClr val="596274"/>
                </a:solidFill>
                <a:latin typeface="Helvetica Neue"/>
                <a:ea typeface="Helvetica Neue"/>
                <a:cs typeface="Helvetica Neue"/>
              </a:rPr>
              <a:t>and Decision Intelligence Platform</a:t>
            </a:r>
          </a:p>
        </p:txBody>
      </p:sp>
      <p:sp>
        <p:nvSpPr>
          <p:cNvPr id="5" name="">
            <a:extLst xmlns:a="http://schemas.openxmlformats.org/drawingml/2006/main">
              <a:ext uri="{FF2B5EF4-FFF2-40B4-BE49-F238E27FC236}">
                <a16:creationId xmlns:a16="http://schemas.microsoft.com/office/drawing/2014/main" id="{766EBF01-4D90-46D1-A30D-4B69C5FF881F}"/>
              </a:ext>
            </a:extLst>
          </p:cNvPr>
          <p:cNvSpPr>
            <a:spLocks xmlns:a="http://schemas.openxmlformats.org/drawingml/2006/main" noGrp="1"/>
          </p:cNvSpPr>
          <p:nvPr/>
        </p:nvSpPr>
        <p:spPr>
          <a:xfrm xmlns:a="http://schemas.openxmlformats.org/drawingml/2006/main">
            <a:off x="523875" y="2638425"/>
            <a:ext cx="1000125" cy="5715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30AAD4-A538-4BEE-95B5-D94E124B9E0C}"/>
              </a:ext>
            </a:extLst>
          </p:cNvPr>
          <p:cNvSpPr>
            <a:spLocks xmlns:a="http://schemas.openxmlformats.org/drawingml/2006/main" noGrp="1"/>
          </p:cNvSpPr>
          <p:nvPr/>
        </p:nvSpPr>
        <p:spPr>
          <a:xfrm xmlns:a="http://schemas.openxmlformats.org/drawingml/2006/main">
            <a:off x="6629400" y="590550"/>
            <a:ext cx="5048250" cy="3181350"/>
          </a:xfrm>
          <a:prstGeom xmlns:a="http://schemas.openxmlformats.org/drawingml/2006/main" prst="roundRect">
            <a:avLst>
              <a:gd name="adj" fmla="val 4790"/>
            </a:avLst>
          </a:prstGeom>
          <a:solidFill xmlns:a="http://schemas.openxmlformats.org/drawingml/2006/main">
            <a:srgbClr val="EAF5FB"/>
          </a:solidFill>
          <a:ln xmlns:a="http://schemas.openxmlformats.org/drawingml/2006/main" w="9525">
            <a:solidFill>
              <a:srgbClr val="B8BCC4"/>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75410863edf4078"/>
          <a:srcRect xmlns:a="http://schemas.openxmlformats.org/drawingml/2006/main" l="0" t="745" r="0" b="745"/>
          <a:stretch xmlns:a="http://schemas.openxmlformats.org/drawingml/2006/main">
            <a:fillRect l="0" t="0" r="0" b="0"/>
          </a:stretch>
        </p:blipFill>
        <p:spPr>
          <a:xfrm xmlns:a="http://schemas.openxmlformats.org/drawingml/2006/main">
            <a:off x="6724650" y="685800"/>
            <a:ext cx="4857750" cy="2990850"/>
          </a:xfrm>
          <a:prstGeom xmlns:a="http://schemas.openxmlformats.org/drawingml/2006/main" prst="roundRect">
            <a:avLst>
              <a:gd name="adj" fmla="val 5096"/>
            </a:avLst>
          </a:prstGeom>
        </p:spPr>
      </p:pic>
      <p:sp>
        <p:nvSpPr>
          <p:cNvPr id="8" name="text-gy28tf">
            <a:extLst xmlns:a="http://schemas.openxmlformats.org/drawingml/2006/main">
              <a:ext uri="{FF2B5EF4-FFF2-40B4-BE49-F238E27FC236}">
                <a16:creationId xmlns:a16="http://schemas.microsoft.com/office/drawing/2014/main" id="{FCF23E6A-7291-46D5-9D93-528540770E82}"/>
              </a:ext>
            </a:extLst>
          </p:cNvPr>
          <p:cNvSpPr>
            <a:spLocks xmlns:a="http://schemas.openxmlformats.org/drawingml/2006/main" noGrp="1"/>
          </p:cNvSpPr>
          <p:nvPr/>
        </p:nvSpPr>
        <p:spPr>
          <a:xfrm xmlns:a="http://schemas.openxmlformats.org/drawingml/2006/main">
            <a:off x="523875" y="30670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SUBMITTED BY</a:t>
            </a:r>
          </a:p>
        </p:txBody>
      </p:sp>
      <p:sp>
        <p:nvSpPr>
          <p:cNvPr id="9" name="text-gyn2lr">
            <a:extLst xmlns:a="http://schemas.openxmlformats.org/drawingml/2006/main">
              <a:ext uri="{FF2B5EF4-FFF2-40B4-BE49-F238E27FC236}">
                <a16:creationId xmlns:a16="http://schemas.microsoft.com/office/drawing/2014/main" id="{8BF964A9-E9CB-419C-9636-60C7B8471A2E}"/>
              </a:ext>
            </a:extLst>
          </p:cNvPr>
          <p:cNvSpPr>
            <a:spLocks xmlns:a="http://schemas.openxmlformats.org/drawingml/2006/main" noGrp="1"/>
          </p:cNvSpPr>
          <p:nvPr/>
        </p:nvSpPr>
        <p:spPr>
          <a:xfrm xmlns:a="http://schemas.openxmlformats.org/drawingml/2006/main">
            <a:off x="523875" y="3352800"/>
            <a:ext cx="576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01522"/>
                </a:solidFill>
                <a:latin typeface="Helvetica Neue"/>
                <a:ea typeface="Helvetica Neue"/>
                <a:cs typeface="Helvetica Neue"/>
              </a:defRPr>
            </a:pPr>
            <a:r>
              <a:rPr sz="1650" b="1">
                <a:solidFill>
                  <a:srgbClr val="101522"/>
                </a:solidFill>
                <a:latin typeface="Helvetica Neue"/>
                <a:ea typeface="Helvetica Neue"/>
                <a:cs typeface="Helvetica Neue"/>
              </a:rPr>
              <a:t>MD. Shahriar Ahamed Ridoy  ·  ID: 261-25-008</a:t>
            </a:r>
          </a:p>
          <a:p xmlns:a="http://schemas.openxmlformats.org/drawingml/2006/main">
            <a:pPr algn="l">
              <a:defRPr sz="1650" b="1">
                <a:solidFill>
                  <a:srgbClr val="101522"/>
                </a:solidFill>
                <a:latin typeface="Helvetica Neue"/>
                <a:ea typeface="Helvetica Neue"/>
                <a:cs typeface="Helvetica Neue"/>
              </a:defRPr>
            </a:pPr>
            <a:r>
              <a:rPr sz="1650" b="1">
                <a:solidFill>
                  <a:srgbClr val="101522"/>
                </a:solidFill>
                <a:latin typeface="Helvetica Neue"/>
                <a:ea typeface="Helvetica Neue"/>
                <a:cs typeface="Helvetica Neue"/>
              </a:rPr>
              <a:t>Aisha Afroj  ·  ID: 261-25-007</a:t>
            </a:r>
          </a:p>
        </p:txBody>
      </p:sp>
      <p:sp>
        <p:nvSpPr>
          <p:cNvPr id="10" name="text-wmv8x3">
            <a:extLst xmlns:a="http://schemas.openxmlformats.org/drawingml/2006/main">
              <a:ext uri="{FF2B5EF4-FFF2-40B4-BE49-F238E27FC236}">
                <a16:creationId xmlns:a16="http://schemas.microsoft.com/office/drawing/2014/main" id="{3BE71E1E-DFD6-4FBA-BDA1-659F7ED81EFC}"/>
              </a:ext>
            </a:extLst>
          </p:cNvPr>
          <p:cNvSpPr>
            <a:spLocks xmlns:a="http://schemas.openxmlformats.org/drawingml/2006/main" noGrp="1"/>
          </p:cNvSpPr>
          <p:nvPr/>
        </p:nvSpPr>
        <p:spPr>
          <a:xfrm xmlns:a="http://schemas.openxmlformats.org/drawingml/2006/main">
            <a:off x="523875" y="4124325"/>
            <a:ext cx="576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MSc in CSE (Major in Data Science)</a:t>
            </a:r>
          </a:p>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Daffodil International University</a:t>
            </a:r>
          </a:p>
        </p:txBody>
      </p:sp>
      <p:sp>
        <p:nvSpPr>
          <p:cNvPr id="11" name="">
            <a:extLst xmlns:a="http://schemas.openxmlformats.org/drawingml/2006/main">
              <a:ext uri="{FF2B5EF4-FFF2-40B4-BE49-F238E27FC236}">
                <a16:creationId xmlns:a16="http://schemas.microsoft.com/office/drawing/2014/main" id="{BEAF5754-EB33-42F6-998E-5D2867E9E8CD}"/>
              </a:ext>
            </a:extLst>
          </p:cNvPr>
          <p:cNvSpPr>
            <a:spLocks xmlns:a="http://schemas.openxmlformats.org/drawingml/2006/main" noGrp="1"/>
          </p:cNvSpPr>
          <p:nvPr/>
        </p:nvSpPr>
        <p:spPr>
          <a:xfrm xmlns:a="http://schemas.openxmlformats.org/drawingml/2006/main">
            <a:off x="6629400" y="4095750"/>
            <a:ext cx="5048250" cy="1695450"/>
          </a:xfrm>
          <a:prstGeom xmlns:a="http://schemas.openxmlformats.org/drawingml/2006/main" prst="roundRect">
            <a:avLst>
              <a:gd name="adj" fmla="val 8989"/>
            </a:avLst>
          </a:prstGeom>
          <a:solidFill xmlns:a="http://schemas.openxmlformats.org/drawingml/2006/main">
            <a:srgbClr val="F7F8FA"/>
          </a:solidFill>
          <a:ln xmlns:a="http://schemas.openxmlformats.org/drawingml/2006/main" w="9525">
            <a:solidFill>
              <a:srgbClr val="B8BCC4"/>
            </a:solidFill>
            <a:prstDash val="solid"/>
          </a:ln>
        </p:spPr>
      </p:sp>
      <p:sp>
        <p:nvSpPr>
          <p:cNvPr id="12" name="text-fp4pv8">
            <a:extLst xmlns:a="http://schemas.openxmlformats.org/drawingml/2006/main">
              <a:ext uri="{FF2B5EF4-FFF2-40B4-BE49-F238E27FC236}">
                <a16:creationId xmlns:a16="http://schemas.microsoft.com/office/drawing/2014/main" id="{41BB9106-B4A9-41B8-8467-E0C58965F820}"/>
              </a:ext>
            </a:extLst>
          </p:cNvPr>
          <p:cNvSpPr>
            <a:spLocks xmlns:a="http://schemas.openxmlformats.org/drawingml/2006/main" noGrp="1"/>
          </p:cNvSpPr>
          <p:nvPr/>
        </p:nvSpPr>
        <p:spPr>
          <a:xfrm xmlns:a="http://schemas.openxmlformats.org/drawingml/2006/main">
            <a:off x="6896100" y="4324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SUBMITTED TO</a:t>
            </a:r>
          </a:p>
        </p:txBody>
      </p:sp>
      <p:sp>
        <p:nvSpPr>
          <p:cNvPr id="13" name="text-p7gqb3">
            <a:extLst xmlns:a="http://schemas.openxmlformats.org/drawingml/2006/main">
              <a:ext uri="{FF2B5EF4-FFF2-40B4-BE49-F238E27FC236}">
                <a16:creationId xmlns:a16="http://schemas.microsoft.com/office/drawing/2014/main" id="{92512D11-EB6C-4D60-956A-EAEC757EBDFD}"/>
              </a:ext>
            </a:extLst>
          </p:cNvPr>
          <p:cNvSpPr>
            <a:spLocks xmlns:a="http://schemas.openxmlformats.org/drawingml/2006/main" noGrp="1"/>
          </p:cNvSpPr>
          <p:nvPr/>
        </p:nvSpPr>
        <p:spPr>
          <a:xfrm xmlns:a="http://schemas.openxmlformats.org/drawingml/2006/main">
            <a:off x="6896100" y="462915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Sadat Hasan · Adjunct Faculty</a:t>
            </a:r>
          </a:p>
        </p:txBody>
      </p:sp>
      <p:sp>
        <p:nvSpPr>
          <p:cNvPr id="14" name="text-tf37pm">
            <a:extLst xmlns:a="http://schemas.openxmlformats.org/drawingml/2006/main">
              <a:ext uri="{FF2B5EF4-FFF2-40B4-BE49-F238E27FC236}">
                <a16:creationId xmlns:a16="http://schemas.microsoft.com/office/drawing/2014/main" id="{F77135B4-D393-451D-B893-88C3138FB07A}"/>
              </a:ext>
            </a:extLst>
          </p:cNvPr>
          <p:cNvSpPr>
            <a:spLocks xmlns:a="http://schemas.openxmlformats.org/drawingml/2006/main" noGrp="1"/>
          </p:cNvSpPr>
          <p:nvPr/>
        </p:nvSpPr>
        <p:spPr>
          <a:xfrm xmlns:a="http://schemas.openxmlformats.org/drawingml/2006/main">
            <a:off x="6896100" y="5000625"/>
            <a:ext cx="438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Department of CSE · Faculty of Science and</a:t>
            </a:r>
          </a:p>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Information Technology (FSIT)</a:t>
            </a:r>
          </a:p>
        </p:txBody>
      </p:sp>
      <p:sp>
        <p:nvSpPr>
          <p:cNvPr id="15" name="">
            <a:extLst xmlns:a="http://schemas.openxmlformats.org/drawingml/2006/main">
              <a:ext uri="{FF2B5EF4-FFF2-40B4-BE49-F238E27FC236}">
                <a16:creationId xmlns:a16="http://schemas.microsoft.com/office/drawing/2014/main" id="{4F4EE1FB-C26A-4B24-9A44-97BAD0FB8866}"/>
              </a:ext>
            </a:extLst>
          </p:cNvPr>
          <p:cNvSpPr>
            <a:spLocks xmlns:a="http://schemas.openxmlformats.org/drawingml/2006/main" noGrp="1"/>
          </p:cNvSpPr>
          <p:nvPr/>
        </p:nvSpPr>
        <p:spPr>
          <a:xfrm xmlns:a="http://schemas.openxmlformats.org/drawingml/2006/main">
            <a:off x="523875" y="6162675"/>
            <a:ext cx="111442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6" name="text-rijdto">
            <a:extLst xmlns:a="http://schemas.openxmlformats.org/drawingml/2006/main">
              <a:ext uri="{FF2B5EF4-FFF2-40B4-BE49-F238E27FC236}">
                <a16:creationId xmlns:a16="http://schemas.microsoft.com/office/drawing/2014/main" id="{2B9A0628-1AB7-4D19-A959-9717D19998B9}"/>
              </a:ext>
            </a:extLst>
          </p:cNvPr>
          <p:cNvSpPr>
            <a:spLocks xmlns:a="http://schemas.openxmlformats.org/drawingml/2006/main" noGrp="1"/>
          </p:cNvSpPr>
          <p:nvPr/>
        </p:nvSpPr>
        <p:spPr>
          <a:xfrm xmlns:a="http://schemas.openxmlformats.org/drawingml/2006/main">
            <a:off x="523875" y="627697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96274"/>
                </a:solidFill>
                <a:latin typeface="Helvetica Neue"/>
                <a:ea typeface="Helvetica Neue"/>
                <a:cs typeface="Helvetica Neue"/>
              </a:defRPr>
            </a:pPr>
            <a:r>
              <a:rPr sz="1050" b="0">
                <a:solidFill>
                  <a:srgbClr val="596274"/>
                </a:solidFill>
                <a:latin typeface="Helvetica Neue"/>
                <a:ea typeface="Helvetica Neue"/>
                <a:cs typeface="Helvetica Neue"/>
              </a:rPr>
              <a:t>Synthetic E-Commerce Electronic Sales 2025 · 108,300 transactions</a:t>
            </a:r>
          </a:p>
        </p:txBody>
      </p:sp>
      <p:sp>
        <p:nvSpPr>
          <p:cNvPr id="17" name="text-gcsmc6">
            <a:extLst xmlns:a="http://schemas.openxmlformats.org/drawingml/2006/main">
              <a:ext uri="{FF2B5EF4-FFF2-40B4-BE49-F238E27FC236}">
                <a16:creationId xmlns:a16="http://schemas.microsoft.com/office/drawing/2014/main" id="{764C20AB-AAE8-4D2F-BD6B-04CBE42D10B8}"/>
              </a:ext>
            </a:extLst>
          </p:cNvPr>
          <p:cNvSpPr>
            <a:spLocks xmlns:a="http://schemas.openxmlformats.org/drawingml/2006/main" noGrp="1"/>
          </p:cNvSpPr>
          <p:nvPr/>
        </p:nvSpPr>
        <p:spPr>
          <a:xfrm xmlns:a="http://schemas.openxmlformats.org/drawingml/2006/main">
            <a:off x="10001250" y="6276975"/>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274"/>
                </a:solidFill>
                <a:latin typeface="Helvetica Neue"/>
                <a:ea typeface="Helvetica Neue"/>
                <a:cs typeface="Helvetica Neue"/>
              </a:defRPr>
            </a:pPr>
            <a:r>
              <a:rPr sz="1050" b="0">
                <a:solidFill>
                  <a:srgbClr val="596274"/>
                </a:solidFill>
                <a:latin typeface="Helvetica Neue"/>
                <a:ea typeface="Helvetica Neue"/>
                <a:cs typeface="Helvetica Neue"/>
              </a:rPr>
              <a:t>August 2026</a:t>
            </a:r>
          </a:p>
        </p:txBody>
      </p:sp>
    </p:spTree>
    <p:extLst>
      <p:ext uri="{BB962C8B-B14F-4D97-AF65-F5344CB8AC3E}">
        <p14:creationId xmlns:p14="http://schemas.microsoft.com/office/powerpoint/2010/main" val="2423562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CC34F5DA-21E3-4E2D-AEC9-9A002DF112D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u14b60">
            <a:extLst xmlns:a="http://schemas.openxmlformats.org/drawingml/2006/main">
              <a:ext uri="{FF2B5EF4-FFF2-40B4-BE49-F238E27FC236}">
                <a16:creationId xmlns:a16="http://schemas.microsoft.com/office/drawing/2014/main" id="{6F295022-E3B0-494D-8E93-98B9293F107B}"/>
              </a:ext>
            </a:extLst>
          </p:cNvPr>
          <p:cNvSpPr>
            <a:spLocks xmlns:a="http://schemas.openxmlformats.org/drawingml/2006/main" noGrp="1"/>
          </p:cNvSpPr>
          <p:nvPr/>
        </p:nvSpPr>
        <p:spPr>
          <a:xfrm xmlns:a="http://schemas.openxmlformats.org/drawingml/2006/main">
            <a:off x="457200" y="247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WHY WE BUILT IT</a:t>
            </a:r>
          </a:p>
        </p:txBody>
      </p:sp>
      <p:sp>
        <p:nvSpPr>
          <p:cNvPr id="3" name="text-1p7oic">
            <a:extLst xmlns:a="http://schemas.openxmlformats.org/drawingml/2006/main">
              <a:ext uri="{FF2B5EF4-FFF2-40B4-BE49-F238E27FC236}">
                <a16:creationId xmlns:a16="http://schemas.microsoft.com/office/drawing/2014/main" id="{E54BDE33-2E93-431C-87AE-993BD42518E9}"/>
              </a:ext>
            </a:extLst>
          </p:cNvPr>
          <p:cNvSpPr>
            <a:spLocks xmlns:a="http://schemas.openxmlformats.org/drawingml/2006/main" noGrp="1"/>
          </p:cNvSpPr>
          <p:nvPr/>
        </p:nvSpPr>
        <p:spPr>
          <a:xfrm xmlns:a="http://schemas.openxmlformats.org/drawingml/2006/main">
            <a:off x="457200" y="381000"/>
            <a:ext cx="11277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From raw transactions to decisions</a:t>
            </a:r>
          </a:p>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people can explain</a:t>
            </a:r>
          </a:p>
        </p:txBody>
      </p:sp>
      <p:sp>
        <p:nvSpPr>
          <p:cNvPr id="4" name="text-wtjo59">
            <a:extLst xmlns:a="http://schemas.openxmlformats.org/drawingml/2006/main">
              <a:ext uri="{FF2B5EF4-FFF2-40B4-BE49-F238E27FC236}">
                <a16:creationId xmlns:a16="http://schemas.microsoft.com/office/drawing/2014/main" id="{F25497EF-7080-4742-84C8-BE226590A6EE}"/>
              </a:ext>
            </a:extLst>
          </p:cNvPr>
          <p:cNvSpPr>
            <a:spLocks xmlns:a="http://schemas.openxmlformats.org/drawingml/2006/main" noGrp="1"/>
          </p:cNvSpPr>
          <p:nvPr/>
        </p:nvSpPr>
        <p:spPr>
          <a:xfrm xmlns:a="http://schemas.openxmlformats.org/drawingml/2006/main">
            <a:off x="476250" y="15240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274"/>
                </a:solidFill>
                <a:latin typeface="Helvetica Neue"/>
                <a:ea typeface="Helvetica Neue"/>
                <a:cs typeface="Helvetica Neue"/>
              </a:defRPr>
            </a:pPr>
            <a:r>
              <a:rPr sz="1575" b="0">
                <a:solidFill>
                  <a:srgbClr val="596274"/>
                </a:solidFill>
                <a:latin typeface="Helvetica Neue"/>
                <a:ea typeface="Helvetica Neue"/>
                <a:cs typeface="Helvetica Neue"/>
              </a:rPr>
              <a:t>The project is designed for both exploration and evidence—not just a static dashboard.</a:t>
            </a:r>
          </a:p>
        </p:txBody>
      </p:sp>
      <p:sp>
        <p:nvSpPr>
          <p:cNvPr id="5" name="">
            <a:extLst xmlns:a="http://schemas.openxmlformats.org/drawingml/2006/main">
              <a:ext uri="{FF2B5EF4-FFF2-40B4-BE49-F238E27FC236}">
                <a16:creationId xmlns:a16="http://schemas.microsoft.com/office/drawing/2014/main" id="{F4307006-B32C-4C1D-9F5F-CA791E3D30A0}"/>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text-e6h54n">
            <a:extLst xmlns:a="http://schemas.openxmlformats.org/drawingml/2006/main">
              <a:ext uri="{FF2B5EF4-FFF2-40B4-BE49-F238E27FC236}">
                <a16:creationId xmlns:a16="http://schemas.microsoft.com/office/drawing/2014/main" id="{AE634FDB-9641-453D-983F-83D1E6BEB4D4}"/>
              </a:ext>
            </a:extLst>
          </p:cNvPr>
          <p:cNvSpPr>
            <a:spLocks xmlns:a="http://schemas.openxmlformats.org/drawingml/2006/main" noGrp="1"/>
          </p:cNvSpPr>
          <p:nvPr/>
        </p:nvSpPr>
        <p:spPr>
          <a:xfrm xmlns:a="http://schemas.openxmlformats.org/drawingml/2006/main">
            <a:off x="457200" y="65722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InsightCommerce · Deep Learning · Daffodil International University</a:t>
            </a:r>
          </a:p>
        </p:txBody>
      </p:sp>
      <p:sp>
        <p:nvSpPr>
          <p:cNvPr id="7" name="text-9936n7">
            <a:extLst xmlns:a="http://schemas.openxmlformats.org/drawingml/2006/main">
              <a:ext uri="{FF2B5EF4-FFF2-40B4-BE49-F238E27FC236}">
                <a16:creationId xmlns:a16="http://schemas.microsoft.com/office/drawing/2014/main" id="{9DC4D9DF-48E6-4711-B025-4AD70F1A73E3}"/>
              </a:ext>
            </a:extLst>
          </p:cNvPr>
          <p:cNvSpPr>
            <a:spLocks xmlns:a="http://schemas.openxmlformats.org/drawingml/2006/main" noGrp="1"/>
          </p:cNvSpPr>
          <p:nvPr/>
        </p:nvSpPr>
        <p:spPr>
          <a:xfrm xmlns:a="http://schemas.openxmlformats.org/drawingml/2006/main">
            <a:off x="11287125" y="656272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DF85D461-EE29-489F-8B85-7971015CE0EA}"/>
              </a:ext>
            </a:extLst>
          </p:cNvPr>
          <p:cNvSpPr>
            <a:spLocks xmlns:a="http://schemas.openxmlformats.org/drawingml/2006/main" noGrp="1"/>
          </p:cNvSpPr>
          <p:nvPr/>
        </p:nvSpPr>
        <p:spPr>
          <a:xfrm xmlns:a="http://schemas.openxmlformats.org/drawingml/2006/main">
            <a:off x="457200" y="1952625"/>
            <a:ext cx="5095875" cy="4095750"/>
          </a:xfrm>
          <a:prstGeom xmlns:a="http://schemas.openxmlformats.org/drawingml/2006/main" prst="roundRect">
            <a:avLst>
              <a:gd name="adj" fmla="val 3721"/>
            </a:avLst>
          </a:prstGeom>
          <a:solidFill xmlns:a="http://schemas.openxmlformats.org/drawingml/2006/main">
            <a:srgbClr val="F7F8FA"/>
          </a:solidFill>
          <a:ln xmlns:a="http://schemas.openxmlformats.org/drawingml/2006/main" w="9525">
            <a:solidFill>
              <a:srgbClr val="B8BCC4"/>
            </a:solidFill>
            <a:prstDash val="solid"/>
          </a:ln>
        </p:spPr>
      </p:sp>
      <p:sp>
        <p:nvSpPr>
          <p:cNvPr id="9" name="text-x3ky4o">
            <a:extLst xmlns:a="http://schemas.openxmlformats.org/drawingml/2006/main">
              <a:ext uri="{FF2B5EF4-FFF2-40B4-BE49-F238E27FC236}">
                <a16:creationId xmlns:a16="http://schemas.microsoft.com/office/drawing/2014/main" id="{028CF7C3-F964-40C2-A366-145638917C76}"/>
              </a:ext>
            </a:extLst>
          </p:cNvPr>
          <p:cNvSpPr>
            <a:spLocks xmlns:a="http://schemas.openxmlformats.org/drawingml/2006/main" noGrp="1"/>
          </p:cNvSpPr>
          <p:nvPr/>
        </p:nvSpPr>
        <p:spPr>
          <a:xfrm xmlns:a="http://schemas.openxmlformats.org/drawingml/2006/main">
            <a:off x="752475" y="21717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01522"/>
                </a:solidFill>
                <a:latin typeface="Helvetica Neue"/>
                <a:ea typeface="Helvetica Neue"/>
                <a:cs typeface="Helvetica Neue"/>
              </a:defRPr>
            </a:pPr>
            <a:r>
              <a:rPr sz="2250" b="1">
                <a:solidFill>
                  <a:srgbClr val="101522"/>
                </a:solidFill>
                <a:latin typeface="Helvetica Neue"/>
                <a:ea typeface="Helvetica Neue"/>
                <a:cs typeface="Helvetica Neue"/>
              </a:rPr>
              <a:t>The challenge</a:t>
            </a:r>
          </a:p>
        </p:txBody>
      </p:sp>
      <p:sp>
        <p:nvSpPr>
          <p:cNvPr id="10" name="">
            <a:extLst xmlns:a="http://schemas.openxmlformats.org/drawingml/2006/main">
              <a:ext uri="{FF2B5EF4-FFF2-40B4-BE49-F238E27FC236}">
                <a16:creationId xmlns:a16="http://schemas.microsoft.com/office/drawing/2014/main" id="{98570500-7857-42F5-9949-D08E152D851A}"/>
              </a:ext>
            </a:extLst>
          </p:cNvPr>
          <p:cNvSpPr>
            <a:spLocks xmlns:a="http://schemas.openxmlformats.org/drawingml/2006/main" noGrp="1"/>
          </p:cNvSpPr>
          <p:nvPr/>
        </p:nvSpPr>
        <p:spPr>
          <a:xfrm xmlns:a="http://schemas.openxmlformats.org/drawingml/2006/main">
            <a:off x="752475" y="2733675"/>
            <a:ext cx="419100" cy="4191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1" name="text-wlqice">
            <a:extLst xmlns:a="http://schemas.openxmlformats.org/drawingml/2006/main">
              <a:ext uri="{FF2B5EF4-FFF2-40B4-BE49-F238E27FC236}">
                <a16:creationId xmlns:a16="http://schemas.microsoft.com/office/drawing/2014/main" id="{A399FC92-A459-491B-A612-70FD0AC36388}"/>
              </a:ext>
            </a:extLst>
          </p:cNvPr>
          <p:cNvSpPr>
            <a:spLocks xmlns:a="http://schemas.openxmlformats.org/drawingml/2006/main" noGrp="1"/>
          </p:cNvSpPr>
          <p:nvPr/>
        </p:nvSpPr>
        <p:spPr>
          <a:xfrm xmlns:a="http://schemas.openxmlformats.org/drawingml/2006/main">
            <a:off x="752475" y="28003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1</a:t>
            </a:r>
          </a:p>
        </p:txBody>
      </p:sp>
      <p:sp>
        <p:nvSpPr>
          <p:cNvPr id="12" name="text-grqy7o">
            <a:extLst xmlns:a="http://schemas.openxmlformats.org/drawingml/2006/main">
              <a:ext uri="{FF2B5EF4-FFF2-40B4-BE49-F238E27FC236}">
                <a16:creationId xmlns:a16="http://schemas.microsoft.com/office/drawing/2014/main" id="{255E099D-68ED-42F3-9D07-E0389AAF04A3}"/>
              </a:ext>
            </a:extLst>
          </p:cNvPr>
          <p:cNvSpPr>
            <a:spLocks xmlns:a="http://schemas.openxmlformats.org/drawingml/2006/main" noGrp="1"/>
          </p:cNvSpPr>
          <p:nvPr/>
        </p:nvSpPr>
        <p:spPr>
          <a:xfrm xmlns:a="http://schemas.openxmlformats.org/drawingml/2006/main">
            <a:off x="1362075" y="2724150"/>
            <a:ext cx="3724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Too much transaction detail</a:t>
            </a:r>
          </a:p>
        </p:txBody>
      </p:sp>
      <p:sp>
        <p:nvSpPr>
          <p:cNvPr id="13" name="text-v6x39h">
            <a:extLst xmlns:a="http://schemas.openxmlformats.org/drawingml/2006/main">
              <a:ext uri="{FF2B5EF4-FFF2-40B4-BE49-F238E27FC236}">
                <a16:creationId xmlns:a16="http://schemas.microsoft.com/office/drawing/2014/main" id="{5B01DF24-0096-4EC4-B7B2-B1016F56663A}"/>
              </a:ext>
            </a:extLst>
          </p:cNvPr>
          <p:cNvSpPr>
            <a:spLocks xmlns:a="http://schemas.openxmlformats.org/drawingml/2006/main" noGrp="1"/>
          </p:cNvSpPr>
          <p:nvPr/>
        </p:nvSpPr>
        <p:spPr>
          <a:xfrm xmlns:a="http://schemas.openxmlformats.org/drawingml/2006/main">
            <a:off x="1362075" y="3105150"/>
            <a:ext cx="3724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108,300 rows are difficult to explore manually.</a:t>
            </a:r>
          </a:p>
        </p:txBody>
      </p:sp>
      <p:sp>
        <p:nvSpPr>
          <p:cNvPr id="14" name="">
            <a:extLst xmlns:a="http://schemas.openxmlformats.org/drawingml/2006/main">
              <a:ext uri="{FF2B5EF4-FFF2-40B4-BE49-F238E27FC236}">
                <a16:creationId xmlns:a16="http://schemas.microsoft.com/office/drawing/2014/main" id="{E191EE9E-0E53-4390-92B2-687EFE324C48}"/>
              </a:ext>
            </a:extLst>
          </p:cNvPr>
          <p:cNvSpPr>
            <a:spLocks xmlns:a="http://schemas.openxmlformats.org/drawingml/2006/main" noGrp="1"/>
          </p:cNvSpPr>
          <p:nvPr/>
        </p:nvSpPr>
        <p:spPr>
          <a:xfrm xmlns:a="http://schemas.openxmlformats.org/drawingml/2006/main">
            <a:off x="752475" y="3733800"/>
            <a:ext cx="419100" cy="4191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5" name="text-jg8gz9">
            <a:extLst xmlns:a="http://schemas.openxmlformats.org/drawingml/2006/main">
              <a:ext uri="{FF2B5EF4-FFF2-40B4-BE49-F238E27FC236}">
                <a16:creationId xmlns:a16="http://schemas.microsoft.com/office/drawing/2014/main" id="{747A6C4F-64C7-4714-A059-AF03C9FAC5D8}"/>
              </a:ext>
            </a:extLst>
          </p:cNvPr>
          <p:cNvSpPr>
            <a:spLocks xmlns:a="http://schemas.openxmlformats.org/drawingml/2006/main" noGrp="1"/>
          </p:cNvSpPr>
          <p:nvPr/>
        </p:nvSpPr>
        <p:spPr>
          <a:xfrm xmlns:a="http://schemas.openxmlformats.org/drawingml/2006/main">
            <a:off x="752475" y="38004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2</a:t>
            </a:r>
          </a:p>
        </p:txBody>
      </p:sp>
      <p:sp>
        <p:nvSpPr>
          <p:cNvPr id="16" name="text-1ojlyz">
            <a:extLst xmlns:a="http://schemas.openxmlformats.org/drawingml/2006/main">
              <a:ext uri="{FF2B5EF4-FFF2-40B4-BE49-F238E27FC236}">
                <a16:creationId xmlns:a16="http://schemas.microsoft.com/office/drawing/2014/main" id="{5E64736F-3840-4CD7-BB2F-F7B9CB65CBDC}"/>
              </a:ext>
            </a:extLst>
          </p:cNvPr>
          <p:cNvSpPr>
            <a:spLocks xmlns:a="http://schemas.openxmlformats.org/drawingml/2006/main" noGrp="1"/>
          </p:cNvSpPr>
          <p:nvPr/>
        </p:nvSpPr>
        <p:spPr>
          <a:xfrm xmlns:a="http://schemas.openxmlformats.org/drawingml/2006/main">
            <a:off x="1362075" y="3724275"/>
            <a:ext cx="3724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Static charts limit questions</a:t>
            </a:r>
          </a:p>
        </p:txBody>
      </p:sp>
      <p:sp>
        <p:nvSpPr>
          <p:cNvPr id="17" name="text-6gxk7y">
            <a:extLst xmlns:a="http://schemas.openxmlformats.org/drawingml/2006/main">
              <a:ext uri="{FF2B5EF4-FFF2-40B4-BE49-F238E27FC236}">
                <a16:creationId xmlns:a16="http://schemas.microsoft.com/office/drawing/2014/main" id="{2740AD04-7A12-4781-8471-BD1A5C0C734E}"/>
              </a:ext>
            </a:extLst>
          </p:cNvPr>
          <p:cNvSpPr>
            <a:spLocks xmlns:a="http://schemas.openxmlformats.org/drawingml/2006/main" noGrp="1"/>
          </p:cNvSpPr>
          <p:nvPr/>
        </p:nvSpPr>
        <p:spPr>
          <a:xfrm xmlns:a="http://schemas.openxmlformats.org/drawingml/2006/main">
            <a:off x="1362075" y="4105275"/>
            <a:ext cx="3724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New questions need code or a new report.</a:t>
            </a:r>
          </a:p>
        </p:txBody>
      </p:sp>
      <p:sp>
        <p:nvSpPr>
          <p:cNvPr id="18" name="">
            <a:extLst xmlns:a="http://schemas.openxmlformats.org/drawingml/2006/main">
              <a:ext uri="{FF2B5EF4-FFF2-40B4-BE49-F238E27FC236}">
                <a16:creationId xmlns:a16="http://schemas.microsoft.com/office/drawing/2014/main" id="{E30C9BF8-14F1-433B-A514-ABE55CCB9641}"/>
              </a:ext>
            </a:extLst>
          </p:cNvPr>
          <p:cNvSpPr>
            <a:spLocks xmlns:a="http://schemas.openxmlformats.org/drawingml/2006/main" noGrp="1"/>
          </p:cNvSpPr>
          <p:nvPr/>
        </p:nvSpPr>
        <p:spPr>
          <a:xfrm xmlns:a="http://schemas.openxmlformats.org/drawingml/2006/main">
            <a:off x="752475" y="4733925"/>
            <a:ext cx="419100" cy="4191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9" name="text-g2l8ly">
            <a:extLst xmlns:a="http://schemas.openxmlformats.org/drawingml/2006/main">
              <a:ext uri="{FF2B5EF4-FFF2-40B4-BE49-F238E27FC236}">
                <a16:creationId xmlns:a16="http://schemas.microsoft.com/office/drawing/2014/main" id="{B6DAEF45-8584-447E-929C-2A810B999099}"/>
              </a:ext>
            </a:extLst>
          </p:cNvPr>
          <p:cNvSpPr>
            <a:spLocks xmlns:a="http://schemas.openxmlformats.org/drawingml/2006/main" noGrp="1"/>
          </p:cNvSpPr>
          <p:nvPr/>
        </p:nvSpPr>
        <p:spPr>
          <a:xfrm xmlns:a="http://schemas.openxmlformats.org/drawingml/2006/main">
            <a:off x="752475" y="48006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a:t>
            </a:r>
          </a:p>
        </p:txBody>
      </p:sp>
      <p:sp>
        <p:nvSpPr>
          <p:cNvPr id="20" name="text-jrpmox">
            <a:extLst xmlns:a="http://schemas.openxmlformats.org/drawingml/2006/main">
              <a:ext uri="{FF2B5EF4-FFF2-40B4-BE49-F238E27FC236}">
                <a16:creationId xmlns:a16="http://schemas.microsoft.com/office/drawing/2014/main" id="{464EA569-8FB4-4BD2-BB7A-24C82D22DD2E}"/>
              </a:ext>
            </a:extLst>
          </p:cNvPr>
          <p:cNvSpPr>
            <a:spLocks xmlns:a="http://schemas.openxmlformats.org/drawingml/2006/main" noGrp="1"/>
          </p:cNvSpPr>
          <p:nvPr/>
        </p:nvSpPr>
        <p:spPr>
          <a:xfrm xmlns:a="http://schemas.openxmlformats.org/drawingml/2006/main">
            <a:off x="1362075" y="4724400"/>
            <a:ext cx="3724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Generated SQL can be unsafe</a:t>
            </a:r>
          </a:p>
        </p:txBody>
      </p:sp>
      <p:sp>
        <p:nvSpPr>
          <p:cNvPr id="21" name="text-1m5asc">
            <a:extLst xmlns:a="http://schemas.openxmlformats.org/drawingml/2006/main">
              <a:ext uri="{FF2B5EF4-FFF2-40B4-BE49-F238E27FC236}">
                <a16:creationId xmlns:a16="http://schemas.microsoft.com/office/drawing/2014/main" id="{7BB6FDD4-770A-4E19-95D5-7C740FE88761}"/>
              </a:ext>
            </a:extLst>
          </p:cNvPr>
          <p:cNvSpPr>
            <a:spLocks xmlns:a="http://schemas.openxmlformats.org/drawingml/2006/main" noGrp="1"/>
          </p:cNvSpPr>
          <p:nvPr/>
        </p:nvSpPr>
        <p:spPr>
          <a:xfrm xmlns:a="http://schemas.openxmlformats.org/drawingml/2006/main">
            <a:off x="1362075" y="5105400"/>
            <a:ext cx="37242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An LLM suggestion must be checked before touching data.</a:t>
            </a:r>
          </a:p>
        </p:txBody>
      </p:sp>
      <p:sp>
        <p:nvSpPr>
          <p:cNvPr id="22" name="">
            <a:extLst xmlns:a="http://schemas.openxmlformats.org/drawingml/2006/main">
              <a:ext uri="{FF2B5EF4-FFF2-40B4-BE49-F238E27FC236}">
                <a16:creationId xmlns:a16="http://schemas.microsoft.com/office/drawing/2014/main" id="{B3816DB4-D41C-479C-9E9A-C523320113DE}"/>
              </a:ext>
            </a:extLst>
          </p:cNvPr>
          <p:cNvSpPr>
            <a:spLocks xmlns:a="http://schemas.openxmlformats.org/drawingml/2006/main" noGrp="1"/>
          </p:cNvSpPr>
          <p:nvPr/>
        </p:nvSpPr>
        <p:spPr>
          <a:xfrm xmlns:a="http://schemas.openxmlformats.org/drawingml/2006/main">
            <a:off x="5857875" y="1952625"/>
            <a:ext cx="5876925" cy="4095750"/>
          </a:xfrm>
          <a:prstGeom xmlns:a="http://schemas.openxmlformats.org/drawingml/2006/main" prst="roundRect">
            <a:avLst>
              <a:gd name="adj" fmla="val 3721"/>
            </a:avLst>
          </a:prstGeom>
          <a:solidFill xmlns:a="http://schemas.openxmlformats.org/drawingml/2006/main">
            <a:srgbClr val="EAF5FB"/>
          </a:solidFill>
          <a:ln xmlns:a="http://schemas.openxmlformats.org/drawingml/2006/main" w="9525">
            <a:solidFill>
              <a:srgbClr val="3D8DFF"/>
            </a:solidFill>
            <a:prstDash val="solid"/>
          </a:ln>
        </p:spPr>
      </p:sp>
      <p:sp>
        <p:nvSpPr>
          <p:cNvPr id="23" name="text-8lyy8l">
            <a:extLst xmlns:a="http://schemas.openxmlformats.org/drawingml/2006/main">
              <a:ext uri="{FF2B5EF4-FFF2-40B4-BE49-F238E27FC236}">
                <a16:creationId xmlns:a16="http://schemas.microsoft.com/office/drawing/2014/main" id="{88D146A7-57A8-433B-967D-E71476B7280D}"/>
              </a:ext>
            </a:extLst>
          </p:cNvPr>
          <p:cNvSpPr>
            <a:spLocks xmlns:a="http://schemas.openxmlformats.org/drawingml/2006/main" noGrp="1"/>
          </p:cNvSpPr>
          <p:nvPr/>
        </p:nvSpPr>
        <p:spPr>
          <a:xfrm xmlns:a="http://schemas.openxmlformats.org/drawingml/2006/main">
            <a:off x="6191250" y="21717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Our response</a:t>
            </a:r>
          </a:p>
        </p:txBody>
      </p:sp>
      <p:sp>
        <p:nvSpPr>
          <p:cNvPr id="24" name="text-76iz3m">
            <a:extLst xmlns:a="http://schemas.openxmlformats.org/drawingml/2006/main">
              <a:ext uri="{FF2B5EF4-FFF2-40B4-BE49-F238E27FC236}">
                <a16:creationId xmlns:a16="http://schemas.microsoft.com/office/drawing/2014/main" id="{04B5A9E8-F39E-4502-8B95-6B5DD03ED39F}"/>
              </a:ext>
            </a:extLst>
          </p:cNvPr>
          <p:cNvSpPr>
            <a:spLocks xmlns:a="http://schemas.openxmlformats.org/drawingml/2006/main" noGrp="1"/>
          </p:cNvSpPr>
          <p:nvPr/>
        </p:nvSpPr>
        <p:spPr>
          <a:xfrm xmlns:a="http://schemas.openxmlformats.org/drawingml/2006/main">
            <a:off x="6191250" y="27241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Explore</a:t>
            </a:r>
          </a:p>
        </p:txBody>
      </p:sp>
      <p:sp>
        <p:nvSpPr>
          <p:cNvPr id="25" name="text-j0aik0">
            <a:extLst xmlns:a="http://schemas.openxmlformats.org/drawingml/2006/main">
              <a:ext uri="{FF2B5EF4-FFF2-40B4-BE49-F238E27FC236}">
                <a16:creationId xmlns:a16="http://schemas.microsoft.com/office/drawing/2014/main" id="{19BC0235-F7D7-46DE-8BE1-A6F97918024C}"/>
              </a:ext>
            </a:extLst>
          </p:cNvPr>
          <p:cNvSpPr>
            <a:spLocks xmlns:a="http://schemas.openxmlformats.org/drawingml/2006/main" noGrp="1"/>
          </p:cNvSpPr>
          <p:nvPr/>
        </p:nvSpPr>
        <p:spPr>
          <a:xfrm xmlns:a="http://schemas.openxmlformats.org/drawingml/2006/main">
            <a:off x="7715250" y="2724150"/>
            <a:ext cx="3476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96274"/>
                </a:solidFill>
                <a:latin typeface="Helvetica Neue"/>
                <a:ea typeface="Helvetica Neue"/>
                <a:cs typeface="Helvetica Neue"/>
              </a:defRPr>
            </a:pPr>
            <a:r>
              <a:rPr sz="1500" b="0">
                <a:solidFill>
                  <a:srgbClr val="596274"/>
                </a:solidFill>
                <a:latin typeface="Helvetica Neue"/>
                <a:ea typeface="Helvetica Neue"/>
                <a:cs typeface="Helvetica Neue"/>
              </a:rPr>
              <a:t>Fast global filters and eight prepared chart types.</a:t>
            </a:r>
          </a:p>
        </p:txBody>
      </p:sp>
      <p:sp>
        <p:nvSpPr>
          <p:cNvPr id="26" name="">
            <a:extLst xmlns:a="http://schemas.openxmlformats.org/drawingml/2006/main">
              <a:ext uri="{FF2B5EF4-FFF2-40B4-BE49-F238E27FC236}">
                <a16:creationId xmlns:a16="http://schemas.microsoft.com/office/drawing/2014/main" id="{DC52307A-8310-4599-B282-E6F371E06CDD}"/>
              </a:ext>
            </a:extLst>
          </p:cNvPr>
          <p:cNvSpPr>
            <a:spLocks xmlns:a="http://schemas.openxmlformats.org/drawingml/2006/main" noGrp="1"/>
          </p:cNvSpPr>
          <p:nvPr/>
        </p:nvSpPr>
        <p:spPr>
          <a:xfrm xmlns:a="http://schemas.openxmlformats.org/drawingml/2006/main">
            <a:off x="6191250" y="3362325"/>
            <a:ext cx="500062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7" name="text-q3h02a">
            <a:extLst xmlns:a="http://schemas.openxmlformats.org/drawingml/2006/main">
              <a:ext uri="{FF2B5EF4-FFF2-40B4-BE49-F238E27FC236}">
                <a16:creationId xmlns:a16="http://schemas.microsoft.com/office/drawing/2014/main" id="{A181B4A8-57DC-4049-926B-9C315AC1BA5B}"/>
              </a:ext>
            </a:extLst>
          </p:cNvPr>
          <p:cNvSpPr>
            <a:spLocks xmlns:a="http://schemas.openxmlformats.org/drawingml/2006/main" noGrp="1"/>
          </p:cNvSpPr>
          <p:nvPr/>
        </p:nvSpPr>
        <p:spPr>
          <a:xfrm xmlns:a="http://schemas.openxmlformats.org/drawingml/2006/main">
            <a:off x="6191250" y="35623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Ask</a:t>
            </a:r>
          </a:p>
        </p:txBody>
      </p:sp>
      <p:sp>
        <p:nvSpPr>
          <p:cNvPr id="28" name="text-062a41">
            <a:extLst xmlns:a="http://schemas.openxmlformats.org/drawingml/2006/main">
              <a:ext uri="{FF2B5EF4-FFF2-40B4-BE49-F238E27FC236}">
                <a16:creationId xmlns:a16="http://schemas.microsoft.com/office/drawing/2014/main" id="{A95B7A32-D6C7-4F38-9C09-B11961B3F1DF}"/>
              </a:ext>
            </a:extLst>
          </p:cNvPr>
          <p:cNvSpPr>
            <a:spLocks xmlns:a="http://schemas.openxmlformats.org/drawingml/2006/main" noGrp="1"/>
          </p:cNvSpPr>
          <p:nvPr/>
        </p:nvSpPr>
        <p:spPr>
          <a:xfrm xmlns:a="http://schemas.openxmlformats.org/drawingml/2006/main">
            <a:off x="7715250" y="3562350"/>
            <a:ext cx="3476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96274"/>
                </a:solidFill>
                <a:latin typeface="Helvetica Neue"/>
                <a:ea typeface="Helvetica Neue"/>
                <a:cs typeface="Helvetica Neue"/>
              </a:defRPr>
            </a:pPr>
            <a:r>
              <a:rPr sz="1500" b="0">
                <a:solidFill>
                  <a:srgbClr val="596274"/>
                </a:solidFill>
                <a:latin typeface="Helvetica Neue"/>
                <a:ea typeface="Helvetica Neue"/>
                <a:cs typeface="Helvetica Neue"/>
              </a:rPr>
              <a:t>Schema-aware natural language with a manual chart override.</a:t>
            </a:r>
          </a:p>
        </p:txBody>
      </p:sp>
      <p:sp>
        <p:nvSpPr>
          <p:cNvPr id="29" name="">
            <a:extLst xmlns:a="http://schemas.openxmlformats.org/drawingml/2006/main">
              <a:ext uri="{FF2B5EF4-FFF2-40B4-BE49-F238E27FC236}">
                <a16:creationId xmlns:a16="http://schemas.microsoft.com/office/drawing/2014/main" id="{F8DE8815-C08B-4EFD-8C40-4DEDA35D9ECA}"/>
              </a:ext>
            </a:extLst>
          </p:cNvPr>
          <p:cNvSpPr>
            <a:spLocks xmlns:a="http://schemas.openxmlformats.org/drawingml/2006/main" noGrp="1"/>
          </p:cNvSpPr>
          <p:nvPr/>
        </p:nvSpPr>
        <p:spPr>
          <a:xfrm xmlns:a="http://schemas.openxmlformats.org/drawingml/2006/main">
            <a:off x="6191250" y="4200525"/>
            <a:ext cx="500062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0" name="text-eklisk">
            <a:extLst xmlns:a="http://schemas.openxmlformats.org/drawingml/2006/main">
              <a:ext uri="{FF2B5EF4-FFF2-40B4-BE49-F238E27FC236}">
                <a16:creationId xmlns:a16="http://schemas.microsoft.com/office/drawing/2014/main" id="{75154D77-D725-4C30-A6C0-35802F3A87EB}"/>
              </a:ext>
            </a:extLst>
          </p:cNvPr>
          <p:cNvSpPr>
            <a:spLocks xmlns:a="http://schemas.openxmlformats.org/drawingml/2006/main" noGrp="1"/>
          </p:cNvSpPr>
          <p:nvPr/>
        </p:nvSpPr>
        <p:spPr>
          <a:xfrm xmlns:a="http://schemas.openxmlformats.org/drawingml/2006/main">
            <a:off x="6191250" y="44005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Verify</a:t>
            </a:r>
          </a:p>
        </p:txBody>
      </p:sp>
      <p:sp>
        <p:nvSpPr>
          <p:cNvPr id="31" name="text-urzu4v">
            <a:extLst xmlns:a="http://schemas.openxmlformats.org/drawingml/2006/main">
              <a:ext uri="{FF2B5EF4-FFF2-40B4-BE49-F238E27FC236}">
                <a16:creationId xmlns:a16="http://schemas.microsoft.com/office/drawing/2014/main" id="{E859DC08-E124-40F4-A37D-ECC56D881008}"/>
              </a:ext>
            </a:extLst>
          </p:cNvPr>
          <p:cNvSpPr>
            <a:spLocks xmlns:a="http://schemas.openxmlformats.org/drawingml/2006/main" noGrp="1"/>
          </p:cNvSpPr>
          <p:nvPr/>
        </p:nvSpPr>
        <p:spPr>
          <a:xfrm xmlns:a="http://schemas.openxmlformats.org/drawingml/2006/main">
            <a:off x="7715250" y="4400550"/>
            <a:ext cx="3476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96274"/>
                </a:solidFill>
                <a:latin typeface="Helvetica Neue"/>
                <a:ea typeface="Helvetica Neue"/>
                <a:cs typeface="Helvetica Neue"/>
              </a:defRPr>
            </a:pPr>
            <a:r>
              <a:rPr sz="1500" b="0">
                <a:solidFill>
                  <a:srgbClr val="596274"/>
                </a:solidFill>
                <a:latin typeface="Helvetica Neue"/>
                <a:ea typeface="Helvetica Neue"/>
                <a:cs typeface="Helvetica Neue"/>
              </a:rPr>
              <a:t>Prediction, anomaly signals, tests, benchmarks, and exports.</a:t>
            </a:r>
          </a:p>
        </p:txBody>
      </p:sp>
      <p:sp>
        <p:nvSpPr>
          <p:cNvPr id="32" name="text-k9xrlu">
            <a:extLst xmlns:a="http://schemas.openxmlformats.org/drawingml/2006/main">
              <a:ext uri="{FF2B5EF4-FFF2-40B4-BE49-F238E27FC236}">
                <a16:creationId xmlns:a16="http://schemas.microsoft.com/office/drawing/2014/main" id="{DA9EA694-82B6-4F74-8EDA-88921DD8334D}"/>
              </a:ext>
            </a:extLst>
          </p:cNvPr>
          <p:cNvSpPr>
            <a:spLocks xmlns:a="http://schemas.openxmlformats.org/drawingml/2006/main" noGrp="1"/>
          </p:cNvSpPr>
          <p:nvPr/>
        </p:nvSpPr>
        <p:spPr>
          <a:xfrm xmlns:a="http://schemas.openxmlformats.org/drawingml/2006/main">
            <a:off x="6191250" y="5391150"/>
            <a:ext cx="5000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The goal: make every insight traceable to checked data.</a:t>
            </a:r>
          </a:p>
        </p:txBody>
      </p:sp>
    </p:spTree>
    <p:extLst>
      <p:ext uri="{BB962C8B-B14F-4D97-AF65-F5344CB8AC3E}">
        <p14:creationId xmlns:p14="http://schemas.microsoft.com/office/powerpoint/2010/main" val="20148339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C97EE6A-78C2-4299-B4B5-742C534089FC}"/>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s5hbee">
            <a:extLst xmlns:a="http://schemas.openxmlformats.org/drawingml/2006/main">
              <a:ext uri="{FF2B5EF4-FFF2-40B4-BE49-F238E27FC236}">
                <a16:creationId xmlns:a16="http://schemas.microsoft.com/office/drawing/2014/main" id="{6465CF42-D0E1-4FAF-8A3C-81B8DC2135FB}"/>
              </a:ext>
            </a:extLst>
          </p:cNvPr>
          <p:cNvSpPr>
            <a:spLocks xmlns:a="http://schemas.openxmlformats.org/drawingml/2006/main" noGrp="1"/>
          </p:cNvSpPr>
          <p:nvPr/>
        </p:nvSpPr>
        <p:spPr>
          <a:xfrm xmlns:a="http://schemas.openxmlformats.org/drawingml/2006/main">
            <a:off x="457200" y="247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DATASET AND SCHEMA</a:t>
            </a:r>
          </a:p>
        </p:txBody>
      </p:sp>
      <p:sp>
        <p:nvSpPr>
          <p:cNvPr id="3" name="text-2n9u4p">
            <a:extLst xmlns:a="http://schemas.openxmlformats.org/drawingml/2006/main">
              <a:ext uri="{FF2B5EF4-FFF2-40B4-BE49-F238E27FC236}">
                <a16:creationId xmlns:a16="http://schemas.microsoft.com/office/drawing/2014/main" id="{93912FA1-9C98-4062-B5A6-DBE5364B4CD8}"/>
              </a:ext>
            </a:extLst>
          </p:cNvPr>
          <p:cNvSpPr>
            <a:spLocks xmlns:a="http://schemas.openxmlformats.org/drawingml/2006/main" noGrp="1"/>
          </p:cNvSpPr>
          <p:nvPr/>
        </p:nvSpPr>
        <p:spPr>
          <a:xfrm xmlns:a="http://schemas.openxmlformats.org/drawingml/2006/main">
            <a:off x="457200" y="504825"/>
            <a:ext cx="11277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We verified the file before designing the app</a:t>
            </a:r>
          </a:p>
        </p:txBody>
      </p:sp>
      <p:sp>
        <p:nvSpPr>
          <p:cNvPr id="4" name="text-yqcy4c">
            <a:extLst xmlns:a="http://schemas.openxmlformats.org/drawingml/2006/main">
              <a:ext uri="{FF2B5EF4-FFF2-40B4-BE49-F238E27FC236}">
                <a16:creationId xmlns:a16="http://schemas.microsoft.com/office/drawing/2014/main" id="{189F5C0E-D71B-4AAB-AEBC-6CE058632B17}"/>
              </a:ext>
            </a:extLst>
          </p:cNvPr>
          <p:cNvSpPr>
            <a:spLocks xmlns:a="http://schemas.openxmlformats.org/drawingml/2006/main" noGrp="1"/>
          </p:cNvSpPr>
          <p:nvPr/>
        </p:nvSpPr>
        <p:spPr>
          <a:xfrm xmlns:a="http://schemas.openxmlformats.org/drawingml/2006/main">
            <a:off x="476250" y="116205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274"/>
                </a:solidFill>
                <a:latin typeface="Helvetica Neue"/>
                <a:ea typeface="Helvetica Neue"/>
                <a:cs typeface="Helvetica Neue"/>
              </a:defRPr>
            </a:pPr>
            <a:r>
              <a:rPr sz="1575" b="0">
                <a:solidFill>
                  <a:srgbClr val="596274"/>
                </a:solidFill>
                <a:latin typeface="Helvetica Neue"/>
                <a:ea typeface="Helvetica Neue"/>
                <a:cs typeface="Helvetica Neue"/>
              </a:rPr>
              <a:t>Synthetic E-Commerce Electronic Sales 2025 · Kaggle version 1 · CC BY-NC-SA 4.0</a:t>
            </a:r>
          </a:p>
        </p:txBody>
      </p:sp>
      <p:sp>
        <p:nvSpPr>
          <p:cNvPr id="5" name="">
            <a:extLst xmlns:a="http://schemas.openxmlformats.org/drawingml/2006/main">
              <a:ext uri="{FF2B5EF4-FFF2-40B4-BE49-F238E27FC236}">
                <a16:creationId xmlns:a16="http://schemas.microsoft.com/office/drawing/2014/main" id="{5BD77C5D-81BA-449E-97E2-4BBF1CE107F9}"/>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text-3m0f8m">
            <a:extLst xmlns:a="http://schemas.openxmlformats.org/drawingml/2006/main">
              <a:ext uri="{FF2B5EF4-FFF2-40B4-BE49-F238E27FC236}">
                <a16:creationId xmlns:a16="http://schemas.microsoft.com/office/drawing/2014/main" id="{C938F743-C758-45F9-9E29-5AB34E7751F9}"/>
              </a:ext>
            </a:extLst>
          </p:cNvPr>
          <p:cNvSpPr>
            <a:spLocks xmlns:a="http://schemas.openxmlformats.org/drawingml/2006/main" noGrp="1"/>
          </p:cNvSpPr>
          <p:nvPr/>
        </p:nvSpPr>
        <p:spPr>
          <a:xfrm xmlns:a="http://schemas.openxmlformats.org/drawingml/2006/main">
            <a:off x="457200" y="65722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InsightCommerce · Deep Learning · Daffodil International University</a:t>
            </a:r>
          </a:p>
        </p:txBody>
      </p:sp>
      <p:sp>
        <p:nvSpPr>
          <p:cNvPr id="7" name="text-coc2s3">
            <a:extLst xmlns:a="http://schemas.openxmlformats.org/drawingml/2006/main">
              <a:ext uri="{FF2B5EF4-FFF2-40B4-BE49-F238E27FC236}">
                <a16:creationId xmlns:a16="http://schemas.microsoft.com/office/drawing/2014/main" id="{A6171550-7728-4412-AD23-FB0CE9D057F0}"/>
              </a:ext>
            </a:extLst>
          </p:cNvPr>
          <p:cNvSpPr>
            <a:spLocks xmlns:a="http://schemas.openxmlformats.org/drawingml/2006/main" noGrp="1"/>
          </p:cNvSpPr>
          <p:nvPr/>
        </p:nvSpPr>
        <p:spPr>
          <a:xfrm xmlns:a="http://schemas.openxmlformats.org/drawingml/2006/main">
            <a:off x="11287125" y="656272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03</a:t>
            </a:r>
          </a:p>
        </p:txBody>
      </p:sp>
      <p:sp>
        <p:nvSpPr>
          <p:cNvPr id="8" name="text-4yrzll">
            <a:extLst xmlns:a="http://schemas.openxmlformats.org/drawingml/2006/main">
              <a:ext uri="{FF2B5EF4-FFF2-40B4-BE49-F238E27FC236}">
                <a16:creationId xmlns:a16="http://schemas.microsoft.com/office/drawing/2014/main" id="{390501E2-91DF-4D9F-8ED9-E89821FBB881}"/>
              </a:ext>
            </a:extLst>
          </p:cNvPr>
          <p:cNvSpPr>
            <a:spLocks xmlns:a="http://schemas.openxmlformats.org/drawingml/2006/main" noGrp="1"/>
          </p:cNvSpPr>
          <p:nvPr/>
        </p:nvSpPr>
        <p:spPr>
          <a:xfrm xmlns:a="http://schemas.openxmlformats.org/drawingml/2006/main">
            <a:off x="457200" y="1714500"/>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01522"/>
                </a:solidFill>
                <a:latin typeface="Helvetica Neue"/>
                <a:ea typeface="Helvetica Neue"/>
                <a:cs typeface="Helvetica Neue"/>
              </a:defRPr>
            </a:pPr>
            <a:r>
              <a:rPr sz="2025" b="1">
                <a:solidFill>
                  <a:srgbClr val="101522"/>
                </a:solidFill>
                <a:latin typeface="Helvetica Neue"/>
                <a:ea typeface="Helvetica Neue"/>
                <a:cs typeface="Helvetica Neue"/>
              </a:rPr>
              <a:t>The 10 source fields</a:t>
            </a:r>
          </a:p>
        </p:txBody>
      </p:sp>
      <p:sp>
        <p:nvSpPr>
          <p:cNvPr id="9" name="text-mrkgye">
            <a:extLst xmlns:a="http://schemas.openxmlformats.org/drawingml/2006/main">
              <a:ext uri="{FF2B5EF4-FFF2-40B4-BE49-F238E27FC236}">
                <a16:creationId xmlns:a16="http://schemas.microsoft.com/office/drawing/2014/main" id="{408063FE-A07D-4091-9A73-AAE7D8A2221F}"/>
              </a:ext>
            </a:extLst>
          </p:cNvPr>
          <p:cNvSpPr>
            <a:spLocks xmlns:a="http://schemas.openxmlformats.org/drawingml/2006/main" noGrp="1"/>
          </p:cNvSpPr>
          <p:nvPr/>
        </p:nvSpPr>
        <p:spPr>
          <a:xfrm xmlns:a="http://schemas.openxmlformats.org/drawingml/2006/main">
            <a:off x="457200" y="2143125"/>
            <a:ext cx="685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274"/>
                </a:solidFill>
                <a:latin typeface="Helvetica Neue"/>
                <a:ea typeface="Helvetica Neue"/>
                <a:cs typeface="Helvetica Neue"/>
              </a:defRPr>
            </a:pPr>
            <a:r>
              <a:rPr sz="1650" b="0">
                <a:solidFill>
                  <a:srgbClr val="596274"/>
                </a:solidFill>
                <a:latin typeface="Helvetica Neue"/>
                <a:ea typeface="Helvetica Neue"/>
                <a:cs typeface="Helvetica Neue"/>
              </a:rPr>
              <a:t>order_id · date · customer_id · customer_name · customer_email</a:t>
            </a:r>
          </a:p>
          <a:p xmlns:a="http://schemas.openxmlformats.org/drawingml/2006/main">
            <a:pPr algn="l">
              <a:defRPr sz="1650" b="0">
                <a:solidFill>
                  <a:srgbClr val="596274"/>
                </a:solidFill>
                <a:latin typeface="Helvetica Neue"/>
                <a:ea typeface="Helvetica Neue"/>
                <a:cs typeface="Helvetica Neue"/>
              </a:defRPr>
            </a:pPr>
            <a:r>
              <a:rPr sz="1650" b="0">
                <a:solidFill>
                  <a:srgbClr val="596274"/>
                </a:solidFill>
                <a:latin typeface="Helvetica Neue"/>
                <a:ea typeface="Helvetica Neue"/>
                <a:cs typeface="Helvetica Neue"/>
              </a:rPr>
              <a:t>country · product · price · quantity · order_value</a:t>
            </a:r>
          </a:p>
        </p:txBody>
      </p:sp>
      <p:sp>
        <p:nvSpPr>
          <p:cNvPr id="10" name="">
            <a:extLst xmlns:a="http://schemas.openxmlformats.org/drawingml/2006/main">
              <a:ext uri="{FF2B5EF4-FFF2-40B4-BE49-F238E27FC236}">
                <a16:creationId xmlns:a16="http://schemas.microsoft.com/office/drawing/2014/main" id="{FAC7283C-259B-4EE0-AC2A-38246F7E5147}"/>
              </a:ext>
            </a:extLst>
          </p:cNvPr>
          <p:cNvSpPr>
            <a:spLocks xmlns:a="http://schemas.openxmlformats.org/drawingml/2006/main" noGrp="1"/>
          </p:cNvSpPr>
          <p:nvPr/>
        </p:nvSpPr>
        <p:spPr>
          <a:xfrm xmlns:a="http://schemas.openxmlformats.org/drawingml/2006/main">
            <a:off x="7686675" y="1733550"/>
            <a:ext cx="4048125" cy="1133475"/>
          </a:xfrm>
          <a:prstGeom xmlns:a="http://schemas.openxmlformats.org/drawingml/2006/main" prst="roundRect">
            <a:avLst>
              <a:gd name="adj" fmla="val 13445"/>
            </a:avLst>
          </a:prstGeom>
          <a:solidFill xmlns:a="http://schemas.openxmlformats.org/drawingml/2006/main">
            <a:srgbClr val="EAF5FB"/>
          </a:solidFill>
          <a:ln xmlns:a="http://schemas.openxmlformats.org/drawingml/2006/main" w="9525">
            <a:solidFill>
              <a:srgbClr val="3D8DFF"/>
            </a:solidFill>
            <a:prstDash val="solid"/>
          </a:ln>
        </p:spPr>
      </p:sp>
      <p:sp>
        <p:nvSpPr>
          <p:cNvPr id="11" name="text-xn9qu1">
            <a:extLst xmlns:a="http://schemas.openxmlformats.org/drawingml/2006/main">
              <a:ext uri="{FF2B5EF4-FFF2-40B4-BE49-F238E27FC236}">
                <a16:creationId xmlns:a16="http://schemas.microsoft.com/office/drawing/2014/main" id="{65B98680-65A2-41D2-A48D-0E782DFE4C2C}"/>
              </a:ext>
            </a:extLst>
          </p:cNvPr>
          <p:cNvSpPr>
            <a:spLocks xmlns:a="http://schemas.openxmlformats.org/drawingml/2006/main" noGrp="1"/>
          </p:cNvSpPr>
          <p:nvPr/>
        </p:nvSpPr>
        <p:spPr>
          <a:xfrm xmlns:a="http://schemas.openxmlformats.org/drawingml/2006/main">
            <a:off x="7962900" y="1971675"/>
            <a:ext cx="3381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Revenue is explicit</a:t>
            </a:r>
          </a:p>
        </p:txBody>
      </p:sp>
      <p:sp>
        <p:nvSpPr>
          <p:cNvPr id="12" name="text-xsngrh">
            <a:extLst xmlns:a="http://schemas.openxmlformats.org/drawingml/2006/main">
              <a:ext uri="{FF2B5EF4-FFF2-40B4-BE49-F238E27FC236}">
                <a16:creationId xmlns:a16="http://schemas.microsoft.com/office/drawing/2014/main" id="{69B3A579-F0BA-4DAE-BD9C-C85F6DBB4D85}"/>
              </a:ext>
            </a:extLst>
          </p:cNvPr>
          <p:cNvSpPr>
            <a:spLocks xmlns:a="http://schemas.openxmlformats.org/drawingml/2006/main" noGrp="1"/>
          </p:cNvSpPr>
          <p:nvPr/>
        </p:nvSpPr>
        <p:spPr>
          <a:xfrm xmlns:a="http://schemas.openxmlformats.org/drawingml/2006/main">
            <a:off x="7962900" y="2343150"/>
            <a:ext cx="3381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order_value = price × quantity</a:t>
            </a:r>
          </a:p>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0 formula mismatches</a:t>
            </a:r>
          </a:p>
        </p:txBody>
      </p:sp>
      <p:sp>
        <p:nvSpPr>
          <p:cNvPr id="13" name="">
            <a:extLst xmlns:a="http://schemas.openxmlformats.org/drawingml/2006/main">
              <a:ext uri="{FF2B5EF4-FFF2-40B4-BE49-F238E27FC236}">
                <a16:creationId xmlns:a16="http://schemas.microsoft.com/office/drawing/2014/main" id="{EBE115A1-D0C9-45ED-A432-441FADD6FD0E}"/>
              </a:ext>
            </a:extLst>
          </p:cNvPr>
          <p:cNvSpPr>
            <a:spLocks xmlns:a="http://schemas.openxmlformats.org/drawingml/2006/main" noGrp="1"/>
          </p:cNvSpPr>
          <p:nvPr/>
        </p:nvSpPr>
        <p:spPr>
          <a:xfrm xmlns:a="http://schemas.openxmlformats.org/drawingml/2006/main">
            <a:off x="457200" y="3257550"/>
            <a:ext cx="3352800" cy="2247900"/>
          </a:xfrm>
          <a:prstGeom xmlns:a="http://schemas.openxmlformats.org/drawingml/2006/main" prst="roundRect">
            <a:avLst>
              <a:gd name="adj" fmla="val 6780"/>
            </a:avLst>
          </a:prstGeom>
          <a:solidFill xmlns:a="http://schemas.openxmlformats.org/drawingml/2006/main">
            <a:srgbClr val="F2F2F2"/>
          </a:solidFill>
          <a:ln xmlns:a="http://schemas.openxmlformats.org/drawingml/2006/main" w="9525">
            <a:solidFill>
              <a:srgbClr val="B8BCC4"/>
            </a:solidFill>
            <a:prstDash val="solid"/>
          </a:ln>
        </p:spPr>
      </p:sp>
      <p:sp>
        <p:nvSpPr>
          <p:cNvPr id="14" name="text-zsgzkl">
            <a:extLst xmlns:a="http://schemas.openxmlformats.org/drawingml/2006/main">
              <a:ext uri="{FF2B5EF4-FFF2-40B4-BE49-F238E27FC236}">
                <a16:creationId xmlns:a16="http://schemas.microsoft.com/office/drawing/2014/main" id="{2D65F3DE-707D-4B1B-9C09-BEBA6DA3A2B2}"/>
              </a:ext>
            </a:extLst>
          </p:cNvPr>
          <p:cNvSpPr>
            <a:spLocks xmlns:a="http://schemas.openxmlformats.org/drawingml/2006/main" noGrp="1"/>
          </p:cNvSpPr>
          <p:nvPr/>
        </p:nvSpPr>
        <p:spPr>
          <a:xfrm xmlns:a="http://schemas.openxmlformats.org/drawingml/2006/main">
            <a:off x="695325" y="3543300"/>
            <a:ext cx="2876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1">
                <a:solidFill>
                  <a:srgbClr val="3D8DFF"/>
                </a:solidFill>
                <a:latin typeface="Helvetica Neue"/>
                <a:ea typeface="Helvetica Neue"/>
                <a:cs typeface="Helvetica Neue"/>
              </a:defRPr>
            </a:pPr>
            <a:r>
              <a:rPr sz="3975" b="1">
                <a:solidFill>
                  <a:srgbClr val="3D8DFF"/>
                </a:solidFill>
                <a:latin typeface="Helvetica Neue"/>
                <a:ea typeface="Helvetica Neue"/>
                <a:cs typeface="Helvetica Neue"/>
              </a:rPr>
              <a:t>108,300</a:t>
            </a:r>
          </a:p>
        </p:txBody>
      </p:sp>
      <p:sp>
        <p:nvSpPr>
          <p:cNvPr id="15" name="text-kho3lh">
            <a:extLst xmlns:a="http://schemas.openxmlformats.org/drawingml/2006/main">
              <a:ext uri="{FF2B5EF4-FFF2-40B4-BE49-F238E27FC236}">
                <a16:creationId xmlns:a16="http://schemas.microsoft.com/office/drawing/2014/main" id="{341333A5-6A5E-4097-9829-BD95F62BEEF1}"/>
              </a:ext>
            </a:extLst>
          </p:cNvPr>
          <p:cNvSpPr>
            <a:spLocks xmlns:a="http://schemas.openxmlformats.org/drawingml/2006/main" noGrp="1"/>
          </p:cNvSpPr>
          <p:nvPr/>
        </p:nvSpPr>
        <p:spPr>
          <a:xfrm xmlns:a="http://schemas.openxmlformats.org/drawingml/2006/main">
            <a:off x="695325" y="4362450"/>
            <a:ext cx="2876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522"/>
                </a:solidFill>
                <a:latin typeface="Helvetica Neue"/>
                <a:ea typeface="Helvetica Neue"/>
                <a:cs typeface="Helvetica Neue"/>
              </a:defRPr>
            </a:pPr>
            <a:r>
              <a:rPr sz="1800" b="1">
                <a:solidFill>
                  <a:srgbClr val="101522"/>
                </a:solidFill>
                <a:latin typeface="Helvetica Neue"/>
                <a:ea typeface="Helvetica Neue"/>
                <a:cs typeface="Helvetica Neue"/>
              </a:rPr>
              <a:t>transactions</a:t>
            </a:r>
          </a:p>
        </p:txBody>
      </p:sp>
      <p:sp>
        <p:nvSpPr>
          <p:cNvPr id="16" name="text-hu8pzx">
            <a:extLst xmlns:a="http://schemas.openxmlformats.org/drawingml/2006/main">
              <a:ext uri="{FF2B5EF4-FFF2-40B4-BE49-F238E27FC236}">
                <a16:creationId xmlns:a16="http://schemas.microsoft.com/office/drawing/2014/main" id="{4944FA30-6CF4-4A98-A3F9-784B6502A611}"/>
              </a:ext>
            </a:extLst>
          </p:cNvPr>
          <p:cNvSpPr>
            <a:spLocks xmlns:a="http://schemas.openxmlformats.org/drawingml/2006/main" noGrp="1"/>
          </p:cNvSpPr>
          <p:nvPr/>
        </p:nvSpPr>
        <p:spPr>
          <a:xfrm xmlns:a="http://schemas.openxmlformats.org/drawingml/2006/main">
            <a:off x="695325" y="481965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Dates run from 1 Jan to 31 Dec 2025.</a:t>
            </a:r>
          </a:p>
        </p:txBody>
      </p:sp>
      <p:sp>
        <p:nvSpPr>
          <p:cNvPr id="17" name="">
            <a:extLst xmlns:a="http://schemas.openxmlformats.org/drawingml/2006/main">
              <a:ext uri="{FF2B5EF4-FFF2-40B4-BE49-F238E27FC236}">
                <a16:creationId xmlns:a16="http://schemas.microsoft.com/office/drawing/2014/main" id="{B45E9DC1-247A-4ED8-A23F-61A58B048CE0}"/>
              </a:ext>
            </a:extLst>
          </p:cNvPr>
          <p:cNvSpPr>
            <a:spLocks xmlns:a="http://schemas.openxmlformats.org/drawingml/2006/main" noGrp="1"/>
          </p:cNvSpPr>
          <p:nvPr/>
        </p:nvSpPr>
        <p:spPr>
          <a:xfrm xmlns:a="http://schemas.openxmlformats.org/drawingml/2006/main">
            <a:off x="4086225" y="3257550"/>
            <a:ext cx="3352800" cy="2247900"/>
          </a:xfrm>
          <a:prstGeom xmlns:a="http://schemas.openxmlformats.org/drawingml/2006/main" prst="roundRect">
            <a:avLst>
              <a:gd name="adj" fmla="val 6780"/>
            </a:avLst>
          </a:prstGeom>
          <a:solidFill xmlns:a="http://schemas.openxmlformats.org/drawingml/2006/main">
            <a:srgbClr val="E4F6EF"/>
          </a:solidFill>
          <a:ln xmlns:a="http://schemas.openxmlformats.org/drawingml/2006/main" w="9525">
            <a:solidFill>
              <a:srgbClr val="B8BCC4"/>
            </a:solidFill>
            <a:prstDash val="solid"/>
          </a:ln>
        </p:spPr>
      </p:sp>
      <p:sp>
        <p:nvSpPr>
          <p:cNvPr id="18" name="text-2wpn22">
            <a:extLst xmlns:a="http://schemas.openxmlformats.org/drawingml/2006/main">
              <a:ext uri="{FF2B5EF4-FFF2-40B4-BE49-F238E27FC236}">
                <a16:creationId xmlns:a16="http://schemas.microsoft.com/office/drawing/2014/main" id="{178AA2B0-F7A7-407C-824F-1733522902A7}"/>
              </a:ext>
            </a:extLst>
          </p:cNvPr>
          <p:cNvSpPr>
            <a:spLocks xmlns:a="http://schemas.openxmlformats.org/drawingml/2006/main" noGrp="1"/>
          </p:cNvSpPr>
          <p:nvPr/>
        </p:nvSpPr>
        <p:spPr>
          <a:xfrm xmlns:a="http://schemas.openxmlformats.org/drawingml/2006/main">
            <a:off x="4324350" y="3543300"/>
            <a:ext cx="2876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1">
                <a:solidFill>
                  <a:srgbClr val="3D8DFF"/>
                </a:solidFill>
                <a:latin typeface="Helvetica Neue"/>
                <a:ea typeface="Helvetica Neue"/>
                <a:cs typeface="Helvetica Neue"/>
              </a:defRPr>
            </a:pPr>
            <a:r>
              <a:rPr sz="3975" b="1">
                <a:solidFill>
                  <a:srgbClr val="3D8DFF"/>
                </a:solidFill>
                <a:latin typeface="Helvetica Neue"/>
                <a:ea typeface="Helvetica Neue"/>
                <a:cs typeface="Helvetica Neue"/>
              </a:rPr>
              <a:t>0</a:t>
            </a:r>
          </a:p>
        </p:txBody>
      </p:sp>
      <p:sp>
        <p:nvSpPr>
          <p:cNvPr id="19" name="text-4kwkpd">
            <a:extLst xmlns:a="http://schemas.openxmlformats.org/drawingml/2006/main">
              <a:ext uri="{FF2B5EF4-FFF2-40B4-BE49-F238E27FC236}">
                <a16:creationId xmlns:a16="http://schemas.microsoft.com/office/drawing/2014/main" id="{D4C73115-13AF-45FC-BFFE-2A160FC7F975}"/>
              </a:ext>
            </a:extLst>
          </p:cNvPr>
          <p:cNvSpPr>
            <a:spLocks xmlns:a="http://schemas.openxmlformats.org/drawingml/2006/main" noGrp="1"/>
          </p:cNvSpPr>
          <p:nvPr/>
        </p:nvSpPr>
        <p:spPr>
          <a:xfrm xmlns:a="http://schemas.openxmlformats.org/drawingml/2006/main">
            <a:off x="4324350" y="4362450"/>
            <a:ext cx="2876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522"/>
                </a:solidFill>
                <a:latin typeface="Helvetica Neue"/>
                <a:ea typeface="Helvetica Neue"/>
                <a:cs typeface="Helvetica Neue"/>
              </a:defRPr>
            </a:pPr>
            <a:r>
              <a:rPr sz="1800" b="1">
                <a:solidFill>
                  <a:srgbClr val="101522"/>
                </a:solidFill>
                <a:latin typeface="Helvetica Neue"/>
                <a:ea typeface="Helvetica Neue"/>
                <a:cs typeface="Helvetica Neue"/>
              </a:rPr>
              <a:t>missing or duplicate IDs</a:t>
            </a:r>
          </a:p>
        </p:txBody>
      </p:sp>
      <p:sp>
        <p:nvSpPr>
          <p:cNvPr id="20" name="text-siwl1z">
            <a:extLst xmlns:a="http://schemas.openxmlformats.org/drawingml/2006/main">
              <a:ext uri="{FF2B5EF4-FFF2-40B4-BE49-F238E27FC236}">
                <a16:creationId xmlns:a16="http://schemas.microsoft.com/office/drawing/2014/main" id="{E9A646D5-D440-4AEA-994F-281482B90D74}"/>
              </a:ext>
            </a:extLst>
          </p:cNvPr>
          <p:cNvSpPr>
            <a:spLocks xmlns:a="http://schemas.openxmlformats.org/drawingml/2006/main" noGrp="1"/>
          </p:cNvSpPr>
          <p:nvPr/>
        </p:nvSpPr>
        <p:spPr>
          <a:xfrm xmlns:a="http://schemas.openxmlformats.org/drawingml/2006/main">
            <a:off x="4324350" y="481965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The reproducible quality profile is PASS.</a:t>
            </a:r>
          </a:p>
        </p:txBody>
      </p:sp>
      <p:sp>
        <p:nvSpPr>
          <p:cNvPr id="21" name="">
            <a:extLst xmlns:a="http://schemas.openxmlformats.org/drawingml/2006/main">
              <a:ext uri="{FF2B5EF4-FFF2-40B4-BE49-F238E27FC236}">
                <a16:creationId xmlns:a16="http://schemas.microsoft.com/office/drawing/2014/main" id="{CAE5EDB9-A814-4298-9E5C-FA1C15DF4B78}"/>
              </a:ext>
            </a:extLst>
          </p:cNvPr>
          <p:cNvSpPr>
            <a:spLocks xmlns:a="http://schemas.openxmlformats.org/drawingml/2006/main" noGrp="1"/>
          </p:cNvSpPr>
          <p:nvPr/>
        </p:nvSpPr>
        <p:spPr>
          <a:xfrm xmlns:a="http://schemas.openxmlformats.org/drawingml/2006/main">
            <a:off x="7715250" y="3257550"/>
            <a:ext cx="4019550" cy="2247900"/>
          </a:xfrm>
          <a:prstGeom xmlns:a="http://schemas.openxmlformats.org/drawingml/2006/main" prst="roundRect">
            <a:avLst>
              <a:gd name="adj" fmla="val 6780"/>
            </a:avLst>
          </a:prstGeom>
          <a:solidFill xmlns:a="http://schemas.openxmlformats.org/drawingml/2006/main">
            <a:srgbClr val="F2F2F2"/>
          </a:solidFill>
          <a:ln xmlns:a="http://schemas.openxmlformats.org/drawingml/2006/main" w="9525">
            <a:solidFill>
              <a:srgbClr val="B8BCC4"/>
            </a:solidFill>
            <a:prstDash val="solid"/>
          </a:ln>
        </p:spPr>
      </p:sp>
      <p:sp>
        <p:nvSpPr>
          <p:cNvPr id="22" name="text-noy8u1">
            <a:extLst xmlns:a="http://schemas.openxmlformats.org/drawingml/2006/main">
              <a:ext uri="{FF2B5EF4-FFF2-40B4-BE49-F238E27FC236}">
                <a16:creationId xmlns:a16="http://schemas.microsoft.com/office/drawing/2014/main" id="{FB68C31C-A7E8-45D1-A2B9-B9F64747C76B}"/>
              </a:ext>
            </a:extLst>
          </p:cNvPr>
          <p:cNvSpPr>
            <a:spLocks xmlns:a="http://schemas.openxmlformats.org/drawingml/2006/main" noGrp="1"/>
          </p:cNvSpPr>
          <p:nvPr/>
        </p:nvSpPr>
        <p:spPr>
          <a:xfrm xmlns:a="http://schemas.openxmlformats.org/drawingml/2006/main">
            <a:off x="7953375" y="3543300"/>
            <a:ext cx="3543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1">
                <a:solidFill>
                  <a:srgbClr val="3D8DFF"/>
                </a:solidFill>
                <a:latin typeface="Helvetica Neue"/>
                <a:ea typeface="Helvetica Neue"/>
                <a:cs typeface="Helvetica Neue"/>
              </a:defRPr>
            </a:pPr>
            <a:r>
              <a:rPr sz="3975" b="1">
                <a:solidFill>
                  <a:srgbClr val="3D8DFF"/>
                </a:solidFill>
                <a:latin typeface="Helvetica Neue"/>
                <a:ea typeface="Helvetica Neue"/>
                <a:cs typeface="Helvetica Neue"/>
              </a:rPr>
              <a:t>15</a:t>
            </a:r>
          </a:p>
        </p:txBody>
      </p:sp>
      <p:sp>
        <p:nvSpPr>
          <p:cNvPr id="23" name="text-dcmfsd">
            <a:extLst xmlns:a="http://schemas.openxmlformats.org/drawingml/2006/main">
              <a:ext uri="{FF2B5EF4-FFF2-40B4-BE49-F238E27FC236}">
                <a16:creationId xmlns:a16="http://schemas.microsoft.com/office/drawing/2014/main" id="{59ED5151-96CA-4B96-849F-D9ABEDBEE97D}"/>
              </a:ext>
            </a:extLst>
          </p:cNvPr>
          <p:cNvSpPr>
            <a:spLocks xmlns:a="http://schemas.openxmlformats.org/drawingml/2006/main" noGrp="1"/>
          </p:cNvSpPr>
          <p:nvPr/>
        </p:nvSpPr>
        <p:spPr>
          <a:xfrm xmlns:a="http://schemas.openxmlformats.org/drawingml/2006/main">
            <a:off x="7953375" y="4362450"/>
            <a:ext cx="3543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522"/>
                </a:solidFill>
                <a:latin typeface="Helvetica Neue"/>
                <a:ea typeface="Helvetica Neue"/>
                <a:cs typeface="Helvetica Neue"/>
              </a:defRPr>
            </a:pPr>
            <a:r>
              <a:rPr sz="1800" b="1">
                <a:solidFill>
                  <a:srgbClr val="101522"/>
                </a:solidFill>
                <a:latin typeface="Helvetica Neue"/>
                <a:ea typeface="Helvetica Neue"/>
                <a:cs typeface="Helvetica Neue"/>
              </a:rPr>
              <a:t>countries · 105 products</a:t>
            </a:r>
          </a:p>
        </p:txBody>
      </p:sp>
      <p:sp>
        <p:nvSpPr>
          <p:cNvPr id="24" name="text-fw1qhf">
            <a:extLst xmlns:a="http://schemas.openxmlformats.org/drawingml/2006/main">
              <a:ext uri="{FF2B5EF4-FFF2-40B4-BE49-F238E27FC236}">
                <a16:creationId xmlns:a16="http://schemas.microsoft.com/office/drawing/2014/main" id="{ABFEEEA8-B782-4616-99E6-C3546C771582}"/>
              </a:ext>
            </a:extLst>
          </p:cNvPr>
          <p:cNvSpPr>
            <a:spLocks xmlns:a="http://schemas.openxmlformats.org/drawingml/2006/main" noGrp="1"/>
          </p:cNvSpPr>
          <p:nvPr/>
        </p:nvSpPr>
        <p:spPr>
          <a:xfrm xmlns:a="http://schemas.openxmlformats.org/drawingml/2006/main">
            <a:off x="7953375" y="4819650"/>
            <a:ext cx="3543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10,830 synthetic customers across the catalog.</a:t>
            </a:r>
          </a:p>
        </p:txBody>
      </p:sp>
      <p:sp>
        <p:nvSpPr>
          <p:cNvPr id="25" name="text-zxh4vh">
            <a:extLst xmlns:a="http://schemas.openxmlformats.org/drawingml/2006/main">
              <a:ext uri="{FF2B5EF4-FFF2-40B4-BE49-F238E27FC236}">
                <a16:creationId xmlns:a16="http://schemas.microsoft.com/office/drawing/2014/main" id="{22782DF2-43E1-4D11-BBDF-383B3B61E390}"/>
              </a:ext>
            </a:extLst>
          </p:cNvPr>
          <p:cNvSpPr>
            <a:spLocks xmlns:a="http://schemas.openxmlformats.org/drawingml/2006/main" noGrp="1"/>
          </p:cNvSpPr>
          <p:nvPr/>
        </p:nvSpPr>
        <p:spPr>
          <a:xfrm xmlns:a="http://schemas.openxmlformats.org/drawingml/2006/main">
            <a:off x="457200" y="581025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C44A5A"/>
                </a:solidFill>
                <a:latin typeface="Helvetica Neue"/>
                <a:ea typeface="Helvetica Neue"/>
                <a:cs typeface="Helvetica Neue"/>
              </a:defRPr>
            </a:pPr>
            <a:r>
              <a:rPr sz="1425" b="1">
                <a:solidFill>
                  <a:srgbClr val="C44A5A"/>
                </a:solidFill>
                <a:latin typeface="Helvetica Neue"/>
                <a:ea typeface="Helvetica Neue"/>
                <a:cs typeface="Helvetica Neue"/>
              </a:rPr>
              <a:t>Not present—and not invented: profit, discount, shipping, cancellation, or source category.</a:t>
            </a:r>
          </a:p>
        </p:txBody>
      </p:sp>
    </p:spTree>
    <p:extLst>
      <p:ext uri="{BB962C8B-B14F-4D97-AF65-F5344CB8AC3E}">
        <p14:creationId xmlns:p14="http://schemas.microsoft.com/office/powerpoint/2010/main" val="11816601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0EB5DD-795C-499C-99E6-84816F4FF0C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pf22x8">
            <a:extLst xmlns:a="http://schemas.openxmlformats.org/drawingml/2006/main">
              <a:ext uri="{FF2B5EF4-FFF2-40B4-BE49-F238E27FC236}">
                <a16:creationId xmlns:a16="http://schemas.microsoft.com/office/drawing/2014/main" id="{62949427-18C5-468C-B6FD-EBF8479D1E3F}"/>
              </a:ext>
            </a:extLst>
          </p:cNvPr>
          <p:cNvSpPr>
            <a:spLocks xmlns:a="http://schemas.openxmlformats.org/drawingml/2006/main" noGrp="1"/>
          </p:cNvSpPr>
          <p:nvPr/>
        </p:nvSpPr>
        <p:spPr>
          <a:xfrm xmlns:a="http://schemas.openxmlformats.org/drawingml/2006/main">
            <a:off x="457200" y="247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SYSTEM ARCHITECTURE</a:t>
            </a:r>
          </a:p>
        </p:txBody>
      </p:sp>
      <p:sp>
        <p:nvSpPr>
          <p:cNvPr id="3" name="text-ei3yn9">
            <a:extLst xmlns:a="http://schemas.openxmlformats.org/drawingml/2006/main">
              <a:ext uri="{FF2B5EF4-FFF2-40B4-BE49-F238E27FC236}">
                <a16:creationId xmlns:a16="http://schemas.microsoft.com/office/drawing/2014/main" id="{82006A06-E5F1-47A1-A3FF-E17022F6E729}"/>
              </a:ext>
            </a:extLst>
          </p:cNvPr>
          <p:cNvSpPr>
            <a:spLocks xmlns:a="http://schemas.openxmlformats.org/drawingml/2006/main" noGrp="1"/>
          </p:cNvSpPr>
          <p:nvPr/>
        </p:nvSpPr>
        <p:spPr>
          <a:xfrm xmlns:a="http://schemas.openxmlformats.org/drawingml/2006/main">
            <a:off x="457200" y="381000"/>
            <a:ext cx="11277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One pipeline connects verified data</a:t>
            </a:r>
          </a:p>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to usable evidence</a:t>
            </a:r>
          </a:p>
        </p:txBody>
      </p:sp>
      <p:sp>
        <p:nvSpPr>
          <p:cNvPr id="4" name="text-zj9hde">
            <a:extLst xmlns:a="http://schemas.openxmlformats.org/drawingml/2006/main">
              <a:ext uri="{FF2B5EF4-FFF2-40B4-BE49-F238E27FC236}">
                <a16:creationId xmlns:a16="http://schemas.microsoft.com/office/drawing/2014/main" id="{04358863-D7CA-46DD-AFF9-D3F557B1F231}"/>
              </a:ext>
            </a:extLst>
          </p:cNvPr>
          <p:cNvSpPr>
            <a:spLocks xmlns:a="http://schemas.openxmlformats.org/drawingml/2006/main" noGrp="1"/>
          </p:cNvSpPr>
          <p:nvPr/>
        </p:nvSpPr>
        <p:spPr>
          <a:xfrm xmlns:a="http://schemas.openxmlformats.org/drawingml/2006/main">
            <a:off x="476250" y="15240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274"/>
                </a:solidFill>
                <a:latin typeface="Helvetica Neue"/>
                <a:ea typeface="Helvetica Neue"/>
                <a:cs typeface="Helvetica Neue"/>
              </a:defRPr>
            </a:pPr>
            <a:r>
              <a:rPr sz="1575" b="0">
                <a:solidFill>
                  <a:srgbClr val="596274"/>
                </a:solidFill>
                <a:latin typeface="Helvetica Neue"/>
                <a:ea typeface="Helvetica Neue"/>
                <a:cs typeface="Helvetica Neue"/>
              </a:rPr>
              <a:t>Streamlit coordinates the experience; DuckDB remains the execution authority.</a:t>
            </a:r>
          </a:p>
        </p:txBody>
      </p:sp>
      <p:sp>
        <p:nvSpPr>
          <p:cNvPr id="5" name="">
            <a:extLst xmlns:a="http://schemas.openxmlformats.org/drawingml/2006/main">
              <a:ext uri="{FF2B5EF4-FFF2-40B4-BE49-F238E27FC236}">
                <a16:creationId xmlns:a16="http://schemas.microsoft.com/office/drawing/2014/main" id="{B6E86411-2432-426D-AE94-61DE89DE9DA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text-qjk3ea">
            <a:extLst xmlns:a="http://schemas.openxmlformats.org/drawingml/2006/main">
              <a:ext uri="{FF2B5EF4-FFF2-40B4-BE49-F238E27FC236}">
                <a16:creationId xmlns:a16="http://schemas.microsoft.com/office/drawing/2014/main" id="{E1907EB1-AC16-42D5-96EC-17CD914C48A2}"/>
              </a:ext>
            </a:extLst>
          </p:cNvPr>
          <p:cNvSpPr>
            <a:spLocks xmlns:a="http://schemas.openxmlformats.org/drawingml/2006/main" noGrp="1"/>
          </p:cNvSpPr>
          <p:nvPr/>
        </p:nvSpPr>
        <p:spPr>
          <a:xfrm xmlns:a="http://schemas.openxmlformats.org/drawingml/2006/main">
            <a:off x="457200" y="65722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InsightCommerce · Deep Learning · Daffodil International University</a:t>
            </a:r>
          </a:p>
        </p:txBody>
      </p:sp>
      <p:sp>
        <p:nvSpPr>
          <p:cNvPr id="7" name="text-fwhc1u">
            <a:extLst xmlns:a="http://schemas.openxmlformats.org/drawingml/2006/main">
              <a:ext uri="{FF2B5EF4-FFF2-40B4-BE49-F238E27FC236}">
                <a16:creationId xmlns:a16="http://schemas.microsoft.com/office/drawing/2014/main" id="{66911D23-6456-48B0-9A52-FE1B35DE3C74}"/>
              </a:ext>
            </a:extLst>
          </p:cNvPr>
          <p:cNvSpPr>
            <a:spLocks xmlns:a="http://schemas.openxmlformats.org/drawingml/2006/main" noGrp="1"/>
          </p:cNvSpPr>
          <p:nvPr/>
        </p:nvSpPr>
        <p:spPr>
          <a:xfrm xmlns:a="http://schemas.openxmlformats.org/drawingml/2006/main">
            <a:off x="11287125" y="656272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04</a:t>
            </a:r>
          </a:p>
        </p:txBody>
      </p:sp>
      <p:sp>
        <p:nvSpPr>
          <p:cNvPr id="8" name="">
            <a:extLst xmlns:a="http://schemas.openxmlformats.org/drawingml/2006/main">
              <a:ext uri="{FF2B5EF4-FFF2-40B4-BE49-F238E27FC236}">
                <a16:creationId xmlns:a16="http://schemas.microsoft.com/office/drawing/2014/main" id="{E783B5A6-FEAA-4975-A9AB-8473743E3D25}"/>
              </a:ext>
            </a:extLst>
          </p:cNvPr>
          <p:cNvSpPr>
            <a:spLocks xmlns:a="http://schemas.openxmlformats.org/drawingml/2006/main" noGrp="1"/>
          </p:cNvSpPr>
          <p:nvPr/>
        </p:nvSpPr>
        <p:spPr>
          <a:xfrm xmlns:a="http://schemas.openxmlformats.org/drawingml/2006/main">
            <a:off x="552450" y="1952625"/>
            <a:ext cx="11087100" cy="4295775"/>
          </a:xfrm>
          <a:prstGeom xmlns:a="http://schemas.openxmlformats.org/drawingml/2006/main" prst="roundRect">
            <a:avLst>
              <a:gd name="adj" fmla="val 3548"/>
            </a:avLst>
          </a:prstGeom>
          <a:solidFill xmlns:a="http://schemas.openxmlformats.org/drawingml/2006/main">
            <a:srgbClr val="F7F8FA"/>
          </a:solidFill>
          <a:ln xmlns:a="http://schemas.openxmlformats.org/drawingml/2006/main" w="9525">
            <a:solidFill>
              <a:srgbClr val="B8BCC4"/>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b45ad867548498b"/>
          <a:stretch xmlns:a="http://schemas.openxmlformats.org/drawingml/2006/main"/>
        </p:blipFill>
        <p:spPr>
          <a:xfrm xmlns:a="http://schemas.openxmlformats.org/drawingml/2006/main">
            <a:off x="2858350" y="2085975"/>
            <a:ext cx="6475299" cy="4029075"/>
          </a:xfrm>
          <a:prstGeom xmlns:a="http://schemas.openxmlformats.org/drawingml/2006/main" prst="rect">
            <a:avLst/>
          </a:prstGeom>
        </p:spPr>
      </p:pic>
    </p:spTree>
    <p:extLst>
      <p:ext uri="{BB962C8B-B14F-4D97-AF65-F5344CB8AC3E}">
        <p14:creationId xmlns:p14="http://schemas.microsoft.com/office/powerpoint/2010/main" val="10987550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3A839C-8047-4437-BACB-131BF617902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n2o5re">
            <a:extLst xmlns:a="http://schemas.openxmlformats.org/drawingml/2006/main">
              <a:ext uri="{FF2B5EF4-FFF2-40B4-BE49-F238E27FC236}">
                <a16:creationId xmlns:a16="http://schemas.microsoft.com/office/drawing/2014/main" id="{4201EF08-46D4-4CF2-88EC-28B55CE9BF34}"/>
              </a:ext>
            </a:extLst>
          </p:cNvPr>
          <p:cNvSpPr>
            <a:spLocks xmlns:a="http://schemas.openxmlformats.org/drawingml/2006/main" noGrp="1"/>
          </p:cNvSpPr>
          <p:nvPr/>
        </p:nvSpPr>
        <p:spPr>
          <a:xfrm xmlns:a="http://schemas.openxmlformats.org/drawingml/2006/main">
            <a:off x="457200" y="247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VISUAL ANALYTICS</a:t>
            </a:r>
          </a:p>
        </p:txBody>
      </p:sp>
      <p:sp>
        <p:nvSpPr>
          <p:cNvPr id="3" name="text-otf9n0">
            <a:extLst xmlns:a="http://schemas.openxmlformats.org/drawingml/2006/main">
              <a:ext uri="{FF2B5EF4-FFF2-40B4-BE49-F238E27FC236}">
                <a16:creationId xmlns:a16="http://schemas.microsoft.com/office/drawing/2014/main" id="{CEAA0464-EFA0-4820-89EA-6FFF7AA8E61B}"/>
              </a:ext>
            </a:extLst>
          </p:cNvPr>
          <p:cNvSpPr>
            <a:spLocks xmlns:a="http://schemas.openxmlformats.org/drawingml/2006/main" noGrp="1"/>
          </p:cNvSpPr>
          <p:nvPr/>
        </p:nvSpPr>
        <p:spPr>
          <a:xfrm xmlns:a="http://schemas.openxmlformats.org/drawingml/2006/main">
            <a:off x="457200" y="381000"/>
            <a:ext cx="11277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The dashboard keeps exploration</a:t>
            </a:r>
          </a:p>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fast and interactive</a:t>
            </a:r>
          </a:p>
        </p:txBody>
      </p:sp>
      <p:sp>
        <p:nvSpPr>
          <p:cNvPr id="4" name="text-mrmnm8">
            <a:extLst xmlns:a="http://schemas.openxmlformats.org/drawingml/2006/main">
              <a:ext uri="{FF2B5EF4-FFF2-40B4-BE49-F238E27FC236}">
                <a16:creationId xmlns:a16="http://schemas.microsoft.com/office/drawing/2014/main" id="{74EBE4D8-3BE6-4439-806F-7C4880425304}"/>
              </a:ext>
            </a:extLst>
          </p:cNvPr>
          <p:cNvSpPr>
            <a:spLocks xmlns:a="http://schemas.openxmlformats.org/drawingml/2006/main" noGrp="1"/>
          </p:cNvSpPr>
          <p:nvPr/>
        </p:nvSpPr>
        <p:spPr>
          <a:xfrm xmlns:a="http://schemas.openxmlformats.org/drawingml/2006/main">
            <a:off x="476250" y="15240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274"/>
                </a:solidFill>
                <a:latin typeface="Helvetica Neue"/>
                <a:ea typeface="Helvetica Neue"/>
                <a:cs typeface="Helvetica Neue"/>
              </a:defRPr>
            </a:pPr>
            <a:r>
              <a:rPr sz="1575" b="0">
                <a:solidFill>
                  <a:srgbClr val="596274"/>
                </a:solidFill>
                <a:latin typeface="Helvetica Neue"/>
                <a:ea typeface="Helvetica Neue"/>
                <a:cs typeface="Helvetica Neue"/>
              </a:rPr>
              <a:t>Six KPI summaries · global filters · eight prepared chart types · manual builder</a:t>
            </a:r>
          </a:p>
        </p:txBody>
      </p:sp>
      <p:sp>
        <p:nvSpPr>
          <p:cNvPr id="5" name="">
            <a:extLst xmlns:a="http://schemas.openxmlformats.org/drawingml/2006/main">
              <a:ext uri="{FF2B5EF4-FFF2-40B4-BE49-F238E27FC236}">
                <a16:creationId xmlns:a16="http://schemas.microsoft.com/office/drawing/2014/main" id="{0AB6885C-717D-4E29-8F79-6A05E4777C37}"/>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text-viqbuv">
            <a:extLst xmlns:a="http://schemas.openxmlformats.org/drawingml/2006/main">
              <a:ext uri="{FF2B5EF4-FFF2-40B4-BE49-F238E27FC236}">
                <a16:creationId xmlns:a16="http://schemas.microsoft.com/office/drawing/2014/main" id="{B8E9FE1E-1AD7-41F9-A352-64E0E37277ED}"/>
              </a:ext>
            </a:extLst>
          </p:cNvPr>
          <p:cNvSpPr>
            <a:spLocks xmlns:a="http://schemas.openxmlformats.org/drawingml/2006/main" noGrp="1"/>
          </p:cNvSpPr>
          <p:nvPr/>
        </p:nvSpPr>
        <p:spPr>
          <a:xfrm xmlns:a="http://schemas.openxmlformats.org/drawingml/2006/main">
            <a:off x="457200" y="65722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InsightCommerce · Deep Learning · Daffodil International University</a:t>
            </a:r>
          </a:p>
        </p:txBody>
      </p:sp>
      <p:sp>
        <p:nvSpPr>
          <p:cNvPr id="7" name="text-sq2wut">
            <a:extLst xmlns:a="http://schemas.openxmlformats.org/drawingml/2006/main">
              <a:ext uri="{FF2B5EF4-FFF2-40B4-BE49-F238E27FC236}">
                <a16:creationId xmlns:a16="http://schemas.microsoft.com/office/drawing/2014/main" id="{86B20E8D-01CA-46DC-90DC-1A941FCD587E}"/>
              </a:ext>
            </a:extLst>
          </p:cNvPr>
          <p:cNvSpPr>
            <a:spLocks xmlns:a="http://schemas.openxmlformats.org/drawingml/2006/main" noGrp="1"/>
          </p:cNvSpPr>
          <p:nvPr/>
        </p:nvSpPr>
        <p:spPr>
          <a:xfrm xmlns:a="http://schemas.openxmlformats.org/drawingml/2006/main">
            <a:off x="11287125" y="656272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05</a:t>
            </a:r>
          </a:p>
        </p:txBody>
      </p:sp>
      <p:sp>
        <p:nvSpPr>
          <p:cNvPr id="8" name="">
            <a:extLst xmlns:a="http://schemas.openxmlformats.org/drawingml/2006/main">
              <a:ext uri="{FF2B5EF4-FFF2-40B4-BE49-F238E27FC236}">
                <a16:creationId xmlns:a16="http://schemas.microsoft.com/office/drawing/2014/main" id="{AB6271C5-CC02-4CC7-80FB-26B3FBE075AD}"/>
              </a:ext>
            </a:extLst>
          </p:cNvPr>
          <p:cNvSpPr>
            <a:spLocks xmlns:a="http://schemas.openxmlformats.org/drawingml/2006/main" noGrp="1"/>
          </p:cNvSpPr>
          <p:nvPr/>
        </p:nvSpPr>
        <p:spPr>
          <a:xfrm xmlns:a="http://schemas.openxmlformats.org/drawingml/2006/main">
            <a:off x="590550" y="1952625"/>
            <a:ext cx="11010900" cy="4238625"/>
          </a:xfrm>
          <a:prstGeom xmlns:a="http://schemas.openxmlformats.org/drawingml/2006/main" prst="roundRect">
            <a:avLst>
              <a:gd name="adj" fmla="val 3596"/>
            </a:avLst>
          </a:prstGeom>
          <a:solidFill xmlns:a="http://schemas.openxmlformats.org/drawingml/2006/main">
            <a:srgbClr val="EAF5FB"/>
          </a:solidFill>
          <a:ln xmlns:a="http://schemas.openxmlformats.org/drawingml/2006/main" w="9525">
            <a:solidFill>
              <a:srgbClr val="B8BCC4"/>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39d5d81b50f495b"/>
          <a:stretch xmlns:a="http://schemas.openxmlformats.org/drawingml/2006/main"/>
        </p:blipFill>
        <p:spPr>
          <a:xfrm xmlns:a="http://schemas.openxmlformats.org/drawingml/2006/main">
            <a:off x="2926080" y="2085975"/>
            <a:ext cx="6339840" cy="3962400"/>
          </a:xfrm>
          <a:prstGeom xmlns:a="http://schemas.openxmlformats.org/drawingml/2006/main" prst="roundRect">
            <a:avLst>
              <a:gd name="adj" fmla="val 2885"/>
            </a:avLst>
          </a:prstGeom>
        </p:spPr>
      </p:pic>
    </p:spTree>
    <p:extLst>
      <p:ext uri="{BB962C8B-B14F-4D97-AF65-F5344CB8AC3E}">
        <p14:creationId xmlns:p14="http://schemas.microsoft.com/office/powerpoint/2010/main" val="9343727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723E9ED-ED95-4D13-8003-2013E409B46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1x00lx">
            <a:extLst xmlns:a="http://schemas.openxmlformats.org/drawingml/2006/main">
              <a:ext uri="{FF2B5EF4-FFF2-40B4-BE49-F238E27FC236}">
                <a16:creationId xmlns:a16="http://schemas.microsoft.com/office/drawing/2014/main" id="{29CCFB4D-AFD9-4B5F-8440-ABF7F8D1F539}"/>
              </a:ext>
            </a:extLst>
          </p:cNvPr>
          <p:cNvSpPr>
            <a:spLocks xmlns:a="http://schemas.openxmlformats.org/drawingml/2006/main" noGrp="1"/>
          </p:cNvSpPr>
          <p:nvPr/>
        </p:nvSpPr>
        <p:spPr>
          <a:xfrm xmlns:a="http://schemas.openxmlformats.org/drawingml/2006/main">
            <a:off x="457200" y="247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SCHEMA-AWARE AI WORKFLOW</a:t>
            </a:r>
          </a:p>
        </p:txBody>
      </p:sp>
      <p:sp>
        <p:nvSpPr>
          <p:cNvPr id="3" name="text-sy8c7i">
            <a:extLst xmlns:a="http://schemas.openxmlformats.org/drawingml/2006/main">
              <a:ext uri="{FF2B5EF4-FFF2-40B4-BE49-F238E27FC236}">
                <a16:creationId xmlns:a16="http://schemas.microsoft.com/office/drawing/2014/main" id="{BCA5B4C3-0EE4-491B-9891-9E5FA10A1555}"/>
              </a:ext>
            </a:extLst>
          </p:cNvPr>
          <p:cNvSpPr>
            <a:spLocks xmlns:a="http://schemas.openxmlformats.org/drawingml/2006/main" noGrp="1"/>
          </p:cNvSpPr>
          <p:nvPr/>
        </p:nvSpPr>
        <p:spPr>
          <a:xfrm xmlns:a="http://schemas.openxmlformats.org/drawingml/2006/main">
            <a:off x="457200" y="504825"/>
            <a:ext cx="11277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A question becomes a checked answer</a:t>
            </a:r>
          </a:p>
        </p:txBody>
      </p:sp>
      <p:sp>
        <p:nvSpPr>
          <p:cNvPr id="4" name="text-48fhsa">
            <a:extLst xmlns:a="http://schemas.openxmlformats.org/drawingml/2006/main">
              <a:ext uri="{FF2B5EF4-FFF2-40B4-BE49-F238E27FC236}">
                <a16:creationId xmlns:a16="http://schemas.microsoft.com/office/drawing/2014/main" id="{0464524C-B0D7-4E41-B9AA-A4B4A1661271}"/>
              </a:ext>
            </a:extLst>
          </p:cNvPr>
          <p:cNvSpPr>
            <a:spLocks xmlns:a="http://schemas.openxmlformats.org/drawingml/2006/main" noGrp="1"/>
          </p:cNvSpPr>
          <p:nvPr/>
        </p:nvSpPr>
        <p:spPr>
          <a:xfrm xmlns:a="http://schemas.openxmlformats.org/drawingml/2006/main">
            <a:off x="476250" y="116205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274"/>
                </a:solidFill>
                <a:latin typeface="Helvetica Neue"/>
                <a:ea typeface="Helvetica Neue"/>
                <a:cs typeface="Helvetica Neue"/>
              </a:defRPr>
            </a:pPr>
            <a:r>
              <a:rPr sz="1575" b="0">
                <a:solidFill>
                  <a:srgbClr val="596274"/>
                </a:solidFill>
                <a:latin typeface="Helvetica Neue"/>
                <a:ea typeface="Helvetica Neue"/>
                <a:cs typeface="Helvetica Neue"/>
              </a:rPr>
              <a:t>Example: “Show the monthly revenue trend for 2025.”</a:t>
            </a:r>
          </a:p>
        </p:txBody>
      </p:sp>
      <p:sp>
        <p:nvSpPr>
          <p:cNvPr id="5" name="">
            <a:extLst xmlns:a="http://schemas.openxmlformats.org/drawingml/2006/main">
              <a:ext uri="{FF2B5EF4-FFF2-40B4-BE49-F238E27FC236}">
                <a16:creationId xmlns:a16="http://schemas.microsoft.com/office/drawing/2014/main" id="{C4A00FC9-697D-4503-ACE8-B7387F614520}"/>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text-qxtwba">
            <a:extLst xmlns:a="http://schemas.openxmlformats.org/drawingml/2006/main">
              <a:ext uri="{FF2B5EF4-FFF2-40B4-BE49-F238E27FC236}">
                <a16:creationId xmlns:a16="http://schemas.microsoft.com/office/drawing/2014/main" id="{DEA6FE1D-363F-448F-8F1A-8C7442D387C5}"/>
              </a:ext>
            </a:extLst>
          </p:cNvPr>
          <p:cNvSpPr>
            <a:spLocks xmlns:a="http://schemas.openxmlformats.org/drawingml/2006/main" noGrp="1"/>
          </p:cNvSpPr>
          <p:nvPr/>
        </p:nvSpPr>
        <p:spPr>
          <a:xfrm xmlns:a="http://schemas.openxmlformats.org/drawingml/2006/main">
            <a:off x="457200" y="65722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InsightCommerce · Deep Learning · Daffodil International University</a:t>
            </a:r>
          </a:p>
        </p:txBody>
      </p:sp>
      <p:sp>
        <p:nvSpPr>
          <p:cNvPr id="7" name="text-hja4qg">
            <a:extLst xmlns:a="http://schemas.openxmlformats.org/drawingml/2006/main">
              <a:ext uri="{FF2B5EF4-FFF2-40B4-BE49-F238E27FC236}">
                <a16:creationId xmlns:a16="http://schemas.microsoft.com/office/drawing/2014/main" id="{F5DE5140-FCEC-48EC-886D-FF745B15ABC2}"/>
              </a:ext>
            </a:extLst>
          </p:cNvPr>
          <p:cNvSpPr>
            <a:spLocks xmlns:a="http://schemas.openxmlformats.org/drawingml/2006/main" noGrp="1"/>
          </p:cNvSpPr>
          <p:nvPr/>
        </p:nvSpPr>
        <p:spPr>
          <a:xfrm xmlns:a="http://schemas.openxmlformats.org/drawingml/2006/main">
            <a:off x="11287125" y="656272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06</a:t>
            </a:r>
          </a:p>
        </p:txBody>
      </p:sp>
      <p:cxnSp>
        <p:nvCxnSpPr>
          <p:cNvPr id="38" name="workflow-connector"/>
          <p:cNvCxnSpPr/>
          <p:nvPr/>
        </p:nvCxnSpPr>
        <p:spPr>
          <a:xfrm xmlns:a="http://schemas.openxmlformats.org/drawingml/2006/main">
            <a:off x="990600" y="3124200"/>
            <a:ext cx="10191750" cy="0"/>
          </a:xfrm>
          <a:prstGeom xmlns:a="http://schemas.openxmlformats.org/drawingml/2006/main" prst="straightConnector1">
            <a:avLst/>
          </a:prstGeom>
          <a:ln xmlns:a="http://schemas.openxmlformats.org/drawingml/2006/main" w="28575">
            <a:solidFill>
              <a:srgbClr val="B8BCC4"/>
            </a:solidFill>
            <a:prstDash val="solid"/>
          </a:ln>
        </p:spPr>
      </p:cxnSp>
      <p:sp>
        <p:nvSpPr>
          <p:cNvPr id="9" name="">
            <a:extLst xmlns:a="http://schemas.openxmlformats.org/drawingml/2006/main">
              <a:ext uri="{FF2B5EF4-FFF2-40B4-BE49-F238E27FC236}">
                <a16:creationId xmlns:a16="http://schemas.microsoft.com/office/drawing/2014/main" id="{E04DC782-EBB6-486B-826D-654DB0033696}"/>
              </a:ext>
            </a:extLst>
          </p:cNvPr>
          <p:cNvSpPr>
            <a:spLocks xmlns:a="http://schemas.openxmlformats.org/drawingml/2006/main" noGrp="1"/>
          </p:cNvSpPr>
          <p:nvPr/>
        </p:nvSpPr>
        <p:spPr>
          <a:xfrm xmlns:a="http://schemas.openxmlformats.org/drawingml/2006/main">
            <a:off x="1285875" y="2828925"/>
            <a:ext cx="590550" cy="590550"/>
          </a:xfrm>
          <a:prstGeom xmlns:a="http://schemas.openxmlformats.org/drawingml/2006/main" prst="ellipse">
            <a:avLst/>
          </a:prstGeom>
          <a:solidFill xmlns:a="http://schemas.openxmlformats.org/drawingml/2006/main">
            <a:srgbClr val="3D8DFF"/>
          </a:solidFill>
          <a:ln xmlns:a="http://schemas.openxmlformats.org/drawingml/2006/main" w="38100">
            <a:solidFill>
              <a:srgbClr val="FFFFFF"/>
            </a:solidFill>
            <a:prstDash val="solid"/>
          </a:ln>
        </p:spPr>
      </p:sp>
      <p:sp>
        <p:nvSpPr>
          <p:cNvPr id="10" name="text-vh1i7z">
            <a:extLst xmlns:a="http://schemas.openxmlformats.org/drawingml/2006/main">
              <a:ext uri="{FF2B5EF4-FFF2-40B4-BE49-F238E27FC236}">
                <a16:creationId xmlns:a16="http://schemas.microsoft.com/office/drawing/2014/main" id="{BCA911D3-34EA-4BB0-928B-0ABDE6C12076}"/>
              </a:ext>
            </a:extLst>
          </p:cNvPr>
          <p:cNvSpPr>
            <a:spLocks xmlns:a="http://schemas.openxmlformats.org/drawingml/2006/main" noGrp="1"/>
          </p:cNvSpPr>
          <p:nvPr/>
        </p:nvSpPr>
        <p:spPr>
          <a:xfrm xmlns:a="http://schemas.openxmlformats.org/drawingml/2006/main">
            <a:off x="1285875" y="2962275"/>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1</a:t>
            </a:r>
          </a:p>
        </p:txBody>
      </p:sp>
      <p:sp>
        <p:nvSpPr>
          <p:cNvPr id="11" name="text-ai0h4v">
            <a:extLst xmlns:a="http://schemas.openxmlformats.org/drawingml/2006/main">
              <a:ext uri="{FF2B5EF4-FFF2-40B4-BE49-F238E27FC236}">
                <a16:creationId xmlns:a16="http://schemas.microsoft.com/office/drawing/2014/main" id="{D1A2B329-E4E6-4B4E-9DA2-A42A05FDE8FC}"/>
              </a:ext>
            </a:extLst>
          </p:cNvPr>
          <p:cNvSpPr>
            <a:spLocks xmlns:a="http://schemas.openxmlformats.org/drawingml/2006/main" noGrp="1"/>
          </p:cNvSpPr>
          <p:nvPr/>
        </p:nvSpPr>
        <p:spPr>
          <a:xfrm xmlns:a="http://schemas.openxmlformats.org/drawingml/2006/main">
            <a:off x="781050" y="3648075"/>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1522"/>
                </a:solidFill>
                <a:latin typeface="Helvetica Neue"/>
                <a:ea typeface="Helvetica Neue"/>
                <a:cs typeface="Helvetica Neue"/>
              </a:defRPr>
            </a:pPr>
            <a:r>
              <a:rPr sz="1950" b="1">
                <a:solidFill>
                  <a:srgbClr val="101522"/>
                </a:solidFill>
                <a:latin typeface="Helvetica Neue"/>
                <a:ea typeface="Helvetica Neue"/>
                <a:cs typeface="Helvetica Neue"/>
              </a:rPr>
              <a:t>Ask</a:t>
            </a:r>
          </a:p>
        </p:txBody>
      </p:sp>
      <p:sp>
        <p:nvSpPr>
          <p:cNvPr id="12" name="text-q3um8o">
            <a:extLst xmlns:a="http://schemas.openxmlformats.org/drawingml/2006/main">
              <a:ext uri="{FF2B5EF4-FFF2-40B4-BE49-F238E27FC236}">
                <a16:creationId xmlns:a16="http://schemas.microsoft.com/office/drawing/2014/main" id="{F1216FFB-A6E4-4590-B910-CC4A97138621}"/>
              </a:ext>
            </a:extLst>
          </p:cNvPr>
          <p:cNvSpPr>
            <a:spLocks xmlns:a="http://schemas.openxmlformats.org/drawingml/2006/main" noGrp="1"/>
          </p:cNvSpPr>
          <p:nvPr/>
        </p:nvSpPr>
        <p:spPr>
          <a:xfrm xmlns:a="http://schemas.openxmlformats.org/drawingml/2006/main">
            <a:off x="781050" y="4076700"/>
            <a:ext cx="1600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Natural language</a:t>
            </a:r>
          </a:p>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 filters</a:t>
            </a:r>
          </a:p>
        </p:txBody>
      </p:sp>
      <p:sp>
        <p:nvSpPr>
          <p:cNvPr id="13" name="">
            <a:extLst xmlns:a="http://schemas.openxmlformats.org/drawingml/2006/main">
              <a:ext uri="{FF2B5EF4-FFF2-40B4-BE49-F238E27FC236}">
                <a16:creationId xmlns:a16="http://schemas.microsoft.com/office/drawing/2014/main" id="{7838F128-B7E8-4746-9FE8-4D1C00BD2655}"/>
              </a:ext>
            </a:extLst>
          </p:cNvPr>
          <p:cNvSpPr>
            <a:spLocks xmlns:a="http://schemas.openxmlformats.org/drawingml/2006/main" noGrp="1"/>
          </p:cNvSpPr>
          <p:nvPr/>
        </p:nvSpPr>
        <p:spPr>
          <a:xfrm xmlns:a="http://schemas.openxmlformats.org/drawingml/2006/main">
            <a:off x="3533775" y="2828925"/>
            <a:ext cx="590550" cy="590550"/>
          </a:xfrm>
          <a:prstGeom xmlns:a="http://schemas.openxmlformats.org/drawingml/2006/main" prst="ellipse">
            <a:avLst/>
          </a:prstGeom>
          <a:solidFill xmlns:a="http://schemas.openxmlformats.org/drawingml/2006/main">
            <a:srgbClr val="3D8DFF"/>
          </a:solidFill>
          <a:ln xmlns:a="http://schemas.openxmlformats.org/drawingml/2006/main" w="38100">
            <a:solidFill>
              <a:srgbClr val="FFFFFF"/>
            </a:solidFill>
            <a:prstDash val="solid"/>
          </a:ln>
        </p:spPr>
      </p:sp>
      <p:sp>
        <p:nvSpPr>
          <p:cNvPr id="14" name="text-lz7fey">
            <a:extLst xmlns:a="http://schemas.openxmlformats.org/drawingml/2006/main">
              <a:ext uri="{FF2B5EF4-FFF2-40B4-BE49-F238E27FC236}">
                <a16:creationId xmlns:a16="http://schemas.microsoft.com/office/drawing/2014/main" id="{3E3BD57D-5200-4B97-A6C8-059F35772941}"/>
              </a:ext>
            </a:extLst>
          </p:cNvPr>
          <p:cNvSpPr>
            <a:spLocks xmlns:a="http://schemas.openxmlformats.org/drawingml/2006/main" noGrp="1"/>
          </p:cNvSpPr>
          <p:nvPr/>
        </p:nvSpPr>
        <p:spPr>
          <a:xfrm xmlns:a="http://schemas.openxmlformats.org/drawingml/2006/main">
            <a:off x="3533775" y="2962275"/>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2</a:t>
            </a:r>
          </a:p>
        </p:txBody>
      </p:sp>
      <p:sp>
        <p:nvSpPr>
          <p:cNvPr id="15" name="text-a7yfjc">
            <a:extLst xmlns:a="http://schemas.openxmlformats.org/drawingml/2006/main">
              <a:ext uri="{FF2B5EF4-FFF2-40B4-BE49-F238E27FC236}">
                <a16:creationId xmlns:a16="http://schemas.microsoft.com/office/drawing/2014/main" id="{112FBB61-F0E9-4994-8660-8340F1C1876C}"/>
              </a:ext>
            </a:extLst>
          </p:cNvPr>
          <p:cNvSpPr>
            <a:spLocks xmlns:a="http://schemas.openxmlformats.org/drawingml/2006/main" noGrp="1"/>
          </p:cNvSpPr>
          <p:nvPr/>
        </p:nvSpPr>
        <p:spPr>
          <a:xfrm xmlns:a="http://schemas.openxmlformats.org/drawingml/2006/main">
            <a:off x="3028950" y="3648075"/>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1522"/>
                </a:solidFill>
                <a:latin typeface="Helvetica Neue"/>
                <a:ea typeface="Helvetica Neue"/>
                <a:cs typeface="Helvetica Neue"/>
              </a:defRPr>
            </a:pPr>
            <a:r>
              <a:rPr sz="1950" b="1">
                <a:solidFill>
                  <a:srgbClr val="101522"/>
                </a:solidFill>
                <a:latin typeface="Helvetica Neue"/>
                <a:ea typeface="Helvetica Neue"/>
                <a:cs typeface="Helvetica Neue"/>
              </a:rPr>
              <a:t>Plan</a:t>
            </a:r>
          </a:p>
        </p:txBody>
      </p:sp>
      <p:sp>
        <p:nvSpPr>
          <p:cNvPr id="16" name="text-w24q6v">
            <a:extLst xmlns:a="http://schemas.openxmlformats.org/drawingml/2006/main">
              <a:ext uri="{FF2B5EF4-FFF2-40B4-BE49-F238E27FC236}">
                <a16:creationId xmlns:a16="http://schemas.microsoft.com/office/drawing/2014/main" id="{41B07739-1FAC-4B70-AD4A-2FF3142D0395}"/>
              </a:ext>
            </a:extLst>
          </p:cNvPr>
          <p:cNvSpPr>
            <a:spLocks xmlns:a="http://schemas.openxmlformats.org/drawingml/2006/main" noGrp="1"/>
          </p:cNvSpPr>
          <p:nvPr/>
        </p:nvSpPr>
        <p:spPr>
          <a:xfrm xmlns:a="http://schemas.openxmlformats.org/drawingml/2006/main">
            <a:off x="3028950" y="4076700"/>
            <a:ext cx="1600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Schema-aware</a:t>
            </a:r>
          </a:p>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 JSON</a:t>
            </a:r>
          </a:p>
        </p:txBody>
      </p:sp>
      <p:sp>
        <p:nvSpPr>
          <p:cNvPr id="17" name="">
            <a:extLst xmlns:a="http://schemas.openxmlformats.org/drawingml/2006/main">
              <a:ext uri="{FF2B5EF4-FFF2-40B4-BE49-F238E27FC236}">
                <a16:creationId xmlns:a16="http://schemas.microsoft.com/office/drawing/2014/main" id="{8B65924E-74F4-4843-985C-45F374526F92}"/>
              </a:ext>
            </a:extLst>
          </p:cNvPr>
          <p:cNvSpPr>
            <a:spLocks xmlns:a="http://schemas.openxmlformats.org/drawingml/2006/main" noGrp="1"/>
          </p:cNvSpPr>
          <p:nvPr/>
        </p:nvSpPr>
        <p:spPr>
          <a:xfrm xmlns:a="http://schemas.openxmlformats.org/drawingml/2006/main">
            <a:off x="5781675" y="2828925"/>
            <a:ext cx="590550" cy="590550"/>
          </a:xfrm>
          <a:prstGeom xmlns:a="http://schemas.openxmlformats.org/drawingml/2006/main" prst="ellipse">
            <a:avLst/>
          </a:prstGeom>
          <a:solidFill xmlns:a="http://schemas.openxmlformats.org/drawingml/2006/main">
            <a:srgbClr val="3D8DFF"/>
          </a:solidFill>
          <a:ln xmlns:a="http://schemas.openxmlformats.org/drawingml/2006/main" w="38100">
            <a:solidFill>
              <a:srgbClr val="FFFFFF"/>
            </a:solidFill>
            <a:prstDash val="solid"/>
          </a:ln>
        </p:spPr>
      </p:sp>
      <p:sp>
        <p:nvSpPr>
          <p:cNvPr id="18" name="text-fs23ec">
            <a:extLst xmlns:a="http://schemas.openxmlformats.org/drawingml/2006/main">
              <a:ext uri="{FF2B5EF4-FFF2-40B4-BE49-F238E27FC236}">
                <a16:creationId xmlns:a16="http://schemas.microsoft.com/office/drawing/2014/main" id="{B1306E0F-2F5B-4CCF-8A24-D46AB1B01E6B}"/>
              </a:ext>
            </a:extLst>
          </p:cNvPr>
          <p:cNvSpPr>
            <a:spLocks xmlns:a="http://schemas.openxmlformats.org/drawingml/2006/main" noGrp="1"/>
          </p:cNvSpPr>
          <p:nvPr/>
        </p:nvSpPr>
        <p:spPr>
          <a:xfrm xmlns:a="http://schemas.openxmlformats.org/drawingml/2006/main">
            <a:off x="5781675" y="2962275"/>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3</a:t>
            </a:r>
          </a:p>
        </p:txBody>
      </p:sp>
      <p:sp>
        <p:nvSpPr>
          <p:cNvPr id="19" name="text-y5gd05">
            <a:extLst xmlns:a="http://schemas.openxmlformats.org/drawingml/2006/main">
              <a:ext uri="{FF2B5EF4-FFF2-40B4-BE49-F238E27FC236}">
                <a16:creationId xmlns:a16="http://schemas.microsoft.com/office/drawing/2014/main" id="{29354103-E290-4F3D-8F0F-950EA67DB2C5}"/>
              </a:ext>
            </a:extLst>
          </p:cNvPr>
          <p:cNvSpPr>
            <a:spLocks xmlns:a="http://schemas.openxmlformats.org/drawingml/2006/main" noGrp="1"/>
          </p:cNvSpPr>
          <p:nvPr/>
        </p:nvSpPr>
        <p:spPr>
          <a:xfrm xmlns:a="http://schemas.openxmlformats.org/drawingml/2006/main">
            <a:off x="5276850" y="3648075"/>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1522"/>
                </a:solidFill>
                <a:latin typeface="Helvetica Neue"/>
                <a:ea typeface="Helvetica Neue"/>
                <a:cs typeface="Helvetica Neue"/>
              </a:defRPr>
            </a:pPr>
            <a:r>
              <a:rPr sz="1950" b="1">
                <a:solidFill>
                  <a:srgbClr val="101522"/>
                </a:solidFill>
                <a:latin typeface="Helvetica Neue"/>
                <a:ea typeface="Helvetica Neue"/>
                <a:cs typeface="Helvetica Neue"/>
              </a:rPr>
              <a:t>Validate</a:t>
            </a:r>
          </a:p>
        </p:txBody>
      </p:sp>
      <p:sp>
        <p:nvSpPr>
          <p:cNvPr id="20" name="text-pah63w">
            <a:extLst xmlns:a="http://schemas.openxmlformats.org/drawingml/2006/main">
              <a:ext uri="{FF2B5EF4-FFF2-40B4-BE49-F238E27FC236}">
                <a16:creationId xmlns:a16="http://schemas.microsoft.com/office/drawing/2014/main" id="{0793E8B5-1BA3-4BAA-8CB3-50BB3870129C}"/>
              </a:ext>
            </a:extLst>
          </p:cNvPr>
          <p:cNvSpPr>
            <a:spLocks xmlns:a="http://schemas.openxmlformats.org/drawingml/2006/main" noGrp="1"/>
          </p:cNvSpPr>
          <p:nvPr/>
        </p:nvSpPr>
        <p:spPr>
          <a:xfrm xmlns:a="http://schemas.openxmlformats.org/drawingml/2006/main">
            <a:off x="5276850" y="4076700"/>
            <a:ext cx="1600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SELECT-only</a:t>
            </a:r>
          </a:p>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 safety gate</a:t>
            </a:r>
          </a:p>
        </p:txBody>
      </p:sp>
      <p:sp>
        <p:nvSpPr>
          <p:cNvPr id="21" name="">
            <a:extLst xmlns:a="http://schemas.openxmlformats.org/drawingml/2006/main">
              <a:ext uri="{FF2B5EF4-FFF2-40B4-BE49-F238E27FC236}">
                <a16:creationId xmlns:a16="http://schemas.microsoft.com/office/drawing/2014/main" id="{BDE89CEF-5A6A-44D0-875F-E9E146BBDC9E}"/>
              </a:ext>
            </a:extLst>
          </p:cNvPr>
          <p:cNvSpPr>
            <a:spLocks xmlns:a="http://schemas.openxmlformats.org/drawingml/2006/main" noGrp="1"/>
          </p:cNvSpPr>
          <p:nvPr/>
        </p:nvSpPr>
        <p:spPr>
          <a:xfrm xmlns:a="http://schemas.openxmlformats.org/drawingml/2006/main">
            <a:off x="8029575" y="2828925"/>
            <a:ext cx="590550" cy="590550"/>
          </a:xfrm>
          <a:prstGeom xmlns:a="http://schemas.openxmlformats.org/drawingml/2006/main" prst="ellipse">
            <a:avLst/>
          </a:prstGeom>
          <a:solidFill xmlns:a="http://schemas.openxmlformats.org/drawingml/2006/main">
            <a:srgbClr val="3D8DFF"/>
          </a:solidFill>
          <a:ln xmlns:a="http://schemas.openxmlformats.org/drawingml/2006/main" w="38100">
            <a:solidFill>
              <a:srgbClr val="FFFFFF"/>
            </a:solidFill>
            <a:prstDash val="solid"/>
          </a:ln>
        </p:spPr>
      </p:sp>
      <p:sp>
        <p:nvSpPr>
          <p:cNvPr id="22" name="text-t197sj">
            <a:extLst xmlns:a="http://schemas.openxmlformats.org/drawingml/2006/main">
              <a:ext uri="{FF2B5EF4-FFF2-40B4-BE49-F238E27FC236}">
                <a16:creationId xmlns:a16="http://schemas.microsoft.com/office/drawing/2014/main" id="{3F7EE746-783B-49DE-A8D4-D26D0D926CD3}"/>
              </a:ext>
            </a:extLst>
          </p:cNvPr>
          <p:cNvSpPr>
            <a:spLocks xmlns:a="http://schemas.openxmlformats.org/drawingml/2006/main" noGrp="1"/>
          </p:cNvSpPr>
          <p:nvPr/>
        </p:nvSpPr>
        <p:spPr>
          <a:xfrm xmlns:a="http://schemas.openxmlformats.org/drawingml/2006/main">
            <a:off x="8029575" y="2962275"/>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4</a:t>
            </a:r>
          </a:p>
        </p:txBody>
      </p:sp>
      <p:sp>
        <p:nvSpPr>
          <p:cNvPr id="23" name="text-37zgme">
            <a:extLst xmlns:a="http://schemas.openxmlformats.org/drawingml/2006/main">
              <a:ext uri="{FF2B5EF4-FFF2-40B4-BE49-F238E27FC236}">
                <a16:creationId xmlns:a16="http://schemas.microsoft.com/office/drawing/2014/main" id="{968CD6F4-35C3-4FEC-A086-EC7DCC6894AC}"/>
              </a:ext>
            </a:extLst>
          </p:cNvPr>
          <p:cNvSpPr>
            <a:spLocks xmlns:a="http://schemas.openxmlformats.org/drawingml/2006/main" noGrp="1"/>
          </p:cNvSpPr>
          <p:nvPr/>
        </p:nvSpPr>
        <p:spPr>
          <a:xfrm xmlns:a="http://schemas.openxmlformats.org/drawingml/2006/main">
            <a:off x="7524750" y="3648075"/>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1522"/>
                </a:solidFill>
                <a:latin typeface="Helvetica Neue"/>
                <a:ea typeface="Helvetica Neue"/>
                <a:cs typeface="Helvetica Neue"/>
              </a:defRPr>
            </a:pPr>
            <a:r>
              <a:rPr sz="1950" b="1">
                <a:solidFill>
                  <a:srgbClr val="101522"/>
                </a:solidFill>
                <a:latin typeface="Helvetica Neue"/>
                <a:ea typeface="Helvetica Neue"/>
                <a:cs typeface="Helvetica Neue"/>
              </a:rPr>
              <a:t>Execute</a:t>
            </a:r>
          </a:p>
        </p:txBody>
      </p:sp>
      <p:sp>
        <p:nvSpPr>
          <p:cNvPr id="24" name="text-fvvag5">
            <a:extLst xmlns:a="http://schemas.openxmlformats.org/drawingml/2006/main">
              <a:ext uri="{FF2B5EF4-FFF2-40B4-BE49-F238E27FC236}">
                <a16:creationId xmlns:a16="http://schemas.microsoft.com/office/drawing/2014/main" id="{2FD5E31C-7322-439F-9F91-9AF89EAF38B4}"/>
              </a:ext>
            </a:extLst>
          </p:cNvPr>
          <p:cNvSpPr>
            <a:spLocks xmlns:a="http://schemas.openxmlformats.org/drawingml/2006/main" noGrp="1"/>
          </p:cNvSpPr>
          <p:nvPr/>
        </p:nvSpPr>
        <p:spPr>
          <a:xfrm xmlns:a="http://schemas.openxmlformats.org/drawingml/2006/main">
            <a:off x="7524750" y="4076700"/>
            <a:ext cx="1600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DuckDB result</a:t>
            </a:r>
          </a:p>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 under limits</a:t>
            </a:r>
          </a:p>
        </p:txBody>
      </p:sp>
      <p:sp>
        <p:nvSpPr>
          <p:cNvPr id="25" name="">
            <a:extLst xmlns:a="http://schemas.openxmlformats.org/drawingml/2006/main">
              <a:ext uri="{FF2B5EF4-FFF2-40B4-BE49-F238E27FC236}">
                <a16:creationId xmlns:a16="http://schemas.microsoft.com/office/drawing/2014/main" id="{C4A3B456-6785-4783-80F5-C551FAEB6BBD}"/>
              </a:ext>
            </a:extLst>
          </p:cNvPr>
          <p:cNvSpPr>
            <a:spLocks xmlns:a="http://schemas.openxmlformats.org/drawingml/2006/main" noGrp="1"/>
          </p:cNvSpPr>
          <p:nvPr/>
        </p:nvSpPr>
        <p:spPr>
          <a:xfrm xmlns:a="http://schemas.openxmlformats.org/drawingml/2006/main">
            <a:off x="10277475" y="2828925"/>
            <a:ext cx="590550" cy="590550"/>
          </a:xfrm>
          <a:prstGeom xmlns:a="http://schemas.openxmlformats.org/drawingml/2006/main" prst="ellipse">
            <a:avLst/>
          </a:prstGeom>
          <a:solidFill xmlns:a="http://schemas.openxmlformats.org/drawingml/2006/main">
            <a:srgbClr val="3D8DFF"/>
          </a:solidFill>
          <a:ln xmlns:a="http://schemas.openxmlformats.org/drawingml/2006/main" w="38100">
            <a:solidFill>
              <a:srgbClr val="FFFFFF"/>
            </a:solidFill>
            <a:prstDash val="solid"/>
          </a:ln>
        </p:spPr>
      </p:sp>
      <p:sp>
        <p:nvSpPr>
          <p:cNvPr id="26" name="text-shkq1q">
            <a:extLst xmlns:a="http://schemas.openxmlformats.org/drawingml/2006/main">
              <a:ext uri="{FF2B5EF4-FFF2-40B4-BE49-F238E27FC236}">
                <a16:creationId xmlns:a16="http://schemas.microsoft.com/office/drawing/2014/main" id="{7058687E-1F7E-4B14-8702-DEBDE63979A6}"/>
              </a:ext>
            </a:extLst>
          </p:cNvPr>
          <p:cNvSpPr>
            <a:spLocks xmlns:a="http://schemas.openxmlformats.org/drawingml/2006/main" noGrp="1"/>
          </p:cNvSpPr>
          <p:nvPr/>
        </p:nvSpPr>
        <p:spPr>
          <a:xfrm xmlns:a="http://schemas.openxmlformats.org/drawingml/2006/main">
            <a:off x="10277475" y="2962275"/>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5</a:t>
            </a:r>
          </a:p>
        </p:txBody>
      </p:sp>
      <p:sp>
        <p:nvSpPr>
          <p:cNvPr id="27" name="text-qjvetx">
            <a:extLst xmlns:a="http://schemas.openxmlformats.org/drawingml/2006/main">
              <a:ext uri="{FF2B5EF4-FFF2-40B4-BE49-F238E27FC236}">
                <a16:creationId xmlns:a16="http://schemas.microsoft.com/office/drawing/2014/main" id="{7C1E1263-FA4E-4B93-BD19-0545E29A123B}"/>
              </a:ext>
            </a:extLst>
          </p:cNvPr>
          <p:cNvSpPr>
            <a:spLocks xmlns:a="http://schemas.openxmlformats.org/drawingml/2006/main" noGrp="1"/>
          </p:cNvSpPr>
          <p:nvPr/>
        </p:nvSpPr>
        <p:spPr>
          <a:xfrm xmlns:a="http://schemas.openxmlformats.org/drawingml/2006/main">
            <a:off x="9772650" y="3648075"/>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01522"/>
                </a:solidFill>
                <a:latin typeface="Helvetica Neue"/>
                <a:ea typeface="Helvetica Neue"/>
                <a:cs typeface="Helvetica Neue"/>
              </a:defRPr>
            </a:pPr>
            <a:r>
              <a:rPr sz="1950" b="1">
                <a:solidFill>
                  <a:srgbClr val="101522"/>
                </a:solidFill>
                <a:latin typeface="Helvetica Neue"/>
                <a:ea typeface="Helvetica Neue"/>
                <a:cs typeface="Helvetica Neue"/>
              </a:rPr>
              <a:t>Explain</a:t>
            </a:r>
          </a:p>
        </p:txBody>
      </p:sp>
      <p:sp>
        <p:nvSpPr>
          <p:cNvPr id="28" name="text-i26ll0">
            <a:extLst xmlns:a="http://schemas.openxmlformats.org/drawingml/2006/main">
              <a:ext uri="{FF2B5EF4-FFF2-40B4-BE49-F238E27FC236}">
                <a16:creationId xmlns:a16="http://schemas.microsoft.com/office/drawing/2014/main" id="{079B87A5-64DA-431C-9F1E-C17EBDB68125}"/>
              </a:ext>
            </a:extLst>
          </p:cNvPr>
          <p:cNvSpPr>
            <a:spLocks xmlns:a="http://schemas.openxmlformats.org/drawingml/2006/main" noGrp="1"/>
          </p:cNvSpPr>
          <p:nvPr/>
        </p:nvSpPr>
        <p:spPr>
          <a:xfrm xmlns:a="http://schemas.openxmlformats.org/drawingml/2006/main">
            <a:off x="9772650" y="4076700"/>
            <a:ext cx="1600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Grounded answer</a:t>
            </a:r>
          </a:p>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 chart</a:t>
            </a:r>
          </a:p>
        </p:txBody>
      </p:sp>
      <p:sp>
        <p:nvSpPr>
          <p:cNvPr id="29" name="">
            <a:extLst xmlns:a="http://schemas.openxmlformats.org/drawingml/2006/main">
              <a:ext uri="{FF2B5EF4-FFF2-40B4-BE49-F238E27FC236}">
                <a16:creationId xmlns:a16="http://schemas.microsoft.com/office/drawing/2014/main" id="{B2100CF0-D18C-440B-B610-5799F27A00B1}"/>
              </a:ext>
            </a:extLst>
          </p:cNvPr>
          <p:cNvSpPr>
            <a:spLocks xmlns:a="http://schemas.openxmlformats.org/drawingml/2006/main" noGrp="1"/>
          </p:cNvSpPr>
          <p:nvPr/>
        </p:nvSpPr>
        <p:spPr>
          <a:xfrm xmlns:a="http://schemas.openxmlformats.org/drawingml/2006/main">
            <a:off x="1123950" y="5162550"/>
            <a:ext cx="9944100" cy="866775"/>
          </a:xfrm>
          <a:prstGeom xmlns:a="http://schemas.openxmlformats.org/drawingml/2006/main" prst="roundRect">
            <a:avLst>
              <a:gd name="adj" fmla="val 17582"/>
            </a:avLst>
          </a:prstGeom>
          <a:solidFill xmlns:a="http://schemas.openxmlformats.org/drawingml/2006/main">
            <a:srgbClr val="EAF5FB"/>
          </a:solidFill>
          <a:ln xmlns:a="http://schemas.openxmlformats.org/drawingml/2006/main" w="9525">
            <a:solidFill>
              <a:srgbClr val="3D8DFF"/>
            </a:solidFill>
            <a:prstDash val="solid"/>
          </a:ln>
        </p:spPr>
      </p:sp>
      <p:sp>
        <p:nvSpPr>
          <p:cNvPr id="30" name="text-2e7gna">
            <a:extLst xmlns:a="http://schemas.openxmlformats.org/drawingml/2006/main">
              <a:ext uri="{FF2B5EF4-FFF2-40B4-BE49-F238E27FC236}">
                <a16:creationId xmlns:a16="http://schemas.microsoft.com/office/drawing/2014/main" id="{16720B07-E308-442B-808A-C7761586559F}"/>
              </a:ext>
            </a:extLst>
          </p:cNvPr>
          <p:cNvSpPr>
            <a:spLocks xmlns:a="http://schemas.openxmlformats.org/drawingml/2006/main" noGrp="1"/>
          </p:cNvSpPr>
          <p:nvPr/>
        </p:nvSpPr>
        <p:spPr>
          <a:xfrm xmlns:a="http://schemas.openxmlformats.org/drawingml/2006/main">
            <a:off x="1438275" y="5391150"/>
            <a:ext cx="9315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The LLM proposes the plan. The validator and executed data decide what is true.</a:t>
            </a:r>
          </a:p>
        </p:txBody>
      </p:sp>
    </p:spTree>
    <p:extLst>
      <p:ext uri="{BB962C8B-B14F-4D97-AF65-F5344CB8AC3E}">
        <p14:creationId xmlns:p14="http://schemas.microsoft.com/office/powerpoint/2010/main" val="10633224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A7DB848B-7B7C-4DCB-80B8-080E2DD6132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bxt57c">
            <a:extLst xmlns:a="http://schemas.openxmlformats.org/drawingml/2006/main">
              <a:ext uri="{FF2B5EF4-FFF2-40B4-BE49-F238E27FC236}">
                <a16:creationId xmlns:a16="http://schemas.microsoft.com/office/drawing/2014/main" id="{0DB5A178-015C-4221-8A6E-C8D6B0ED3205}"/>
              </a:ext>
            </a:extLst>
          </p:cNvPr>
          <p:cNvSpPr>
            <a:spLocks xmlns:a="http://schemas.openxmlformats.org/drawingml/2006/main" noGrp="1"/>
          </p:cNvSpPr>
          <p:nvPr/>
        </p:nvSpPr>
        <p:spPr>
          <a:xfrm xmlns:a="http://schemas.openxmlformats.org/drawingml/2006/main">
            <a:off x="457200" y="247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GUARDRAILS</a:t>
            </a:r>
          </a:p>
        </p:txBody>
      </p:sp>
      <p:sp>
        <p:nvSpPr>
          <p:cNvPr id="3" name="text-y0d35e">
            <a:extLst xmlns:a="http://schemas.openxmlformats.org/drawingml/2006/main">
              <a:ext uri="{FF2B5EF4-FFF2-40B4-BE49-F238E27FC236}">
                <a16:creationId xmlns:a16="http://schemas.microsoft.com/office/drawing/2014/main" id="{9D5660A1-6A0C-42A8-B33C-0DF47A1A0BCC}"/>
              </a:ext>
            </a:extLst>
          </p:cNvPr>
          <p:cNvSpPr>
            <a:spLocks xmlns:a="http://schemas.openxmlformats.org/drawingml/2006/main" noGrp="1"/>
          </p:cNvSpPr>
          <p:nvPr/>
        </p:nvSpPr>
        <p:spPr>
          <a:xfrm xmlns:a="http://schemas.openxmlformats.org/drawingml/2006/main">
            <a:off x="457200" y="504825"/>
            <a:ext cx="11277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Safety is enforced before generated code can run</a:t>
            </a:r>
          </a:p>
        </p:txBody>
      </p:sp>
      <p:sp>
        <p:nvSpPr>
          <p:cNvPr id="4" name="text-o8mac7">
            <a:extLst xmlns:a="http://schemas.openxmlformats.org/drawingml/2006/main">
              <a:ext uri="{FF2B5EF4-FFF2-40B4-BE49-F238E27FC236}">
                <a16:creationId xmlns:a16="http://schemas.microsoft.com/office/drawing/2014/main" id="{B17625CA-89E9-41CA-848E-BD3FE1A89A43}"/>
              </a:ext>
            </a:extLst>
          </p:cNvPr>
          <p:cNvSpPr>
            <a:spLocks xmlns:a="http://schemas.openxmlformats.org/drawingml/2006/main" noGrp="1"/>
          </p:cNvSpPr>
          <p:nvPr/>
        </p:nvSpPr>
        <p:spPr>
          <a:xfrm xmlns:a="http://schemas.openxmlformats.org/drawingml/2006/main">
            <a:off x="476250" y="116205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274"/>
                </a:solidFill>
                <a:latin typeface="Helvetica Neue"/>
                <a:ea typeface="Helvetica Neue"/>
                <a:cs typeface="Helvetica Neue"/>
              </a:defRPr>
            </a:pPr>
            <a:r>
              <a:rPr sz="1575" b="0">
                <a:solidFill>
                  <a:srgbClr val="596274"/>
                </a:solidFill>
                <a:latin typeface="Helvetica Neue"/>
                <a:ea typeface="Helvetica Neue"/>
                <a:cs typeface="Helvetica Neue"/>
              </a:rPr>
              <a:t>Read-only by design, bounded in time and size, and private fields stay outside the prompt.</a:t>
            </a:r>
          </a:p>
        </p:txBody>
      </p:sp>
      <p:sp>
        <p:nvSpPr>
          <p:cNvPr id="5" name="">
            <a:extLst xmlns:a="http://schemas.openxmlformats.org/drawingml/2006/main">
              <a:ext uri="{FF2B5EF4-FFF2-40B4-BE49-F238E27FC236}">
                <a16:creationId xmlns:a16="http://schemas.microsoft.com/office/drawing/2014/main" id="{3ACB46A5-33A3-4293-8329-A55E45000FD2}"/>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text-7nhodl">
            <a:extLst xmlns:a="http://schemas.openxmlformats.org/drawingml/2006/main">
              <a:ext uri="{FF2B5EF4-FFF2-40B4-BE49-F238E27FC236}">
                <a16:creationId xmlns:a16="http://schemas.microsoft.com/office/drawing/2014/main" id="{A6C2B5DD-D4A2-40D6-9668-61B25702A381}"/>
              </a:ext>
            </a:extLst>
          </p:cNvPr>
          <p:cNvSpPr>
            <a:spLocks xmlns:a="http://schemas.openxmlformats.org/drawingml/2006/main" noGrp="1"/>
          </p:cNvSpPr>
          <p:nvPr/>
        </p:nvSpPr>
        <p:spPr>
          <a:xfrm xmlns:a="http://schemas.openxmlformats.org/drawingml/2006/main">
            <a:off x="457200" y="65722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InsightCommerce · Deep Learning · Daffodil International University</a:t>
            </a:r>
          </a:p>
        </p:txBody>
      </p:sp>
      <p:sp>
        <p:nvSpPr>
          <p:cNvPr id="7" name="text-svgtvy">
            <a:extLst xmlns:a="http://schemas.openxmlformats.org/drawingml/2006/main">
              <a:ext uri="{FF2B5EF4-FFF2-40B4-BE49-F238E27FC236}">
                <a16:creationId xmlns:a16="http://schemas.microsoft.com/office/drawing/2014/main" id="{1FE8CB31-4DF0-4014-B5FE-53EE37C079FF}"/>
              </a:ext>
            </a:extLst>
          </p:cNvPr>
          <p:cNvSpPr>
            <a:spLocks xmlns:a="http://schemas.openxmlformats.org/drawingml/2006/main" noGrp="1"/>
          </p:cNvSpPr>
          <p:nvPr/>
        </p:nvSpPr>
        <p:spPr>
          <a:xfrm xmlns:a="http://schemas.openxmlformats.org/drawingml/2006/main">
            <a:off x="11287125" y="656272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07</a:t>
            </a:r>
          </a:p>
        </p:txBody>
      </p:sp>
      <p:sp>
        <p:nvSpPr>
          <p:cNvPr id="8" name="">
            <a:extLst xmlns:a="http://schemas.openxmlformats.org/drawingml/2006/main">
              <a:ext uri="{FF2B5EF4-FFF2-40B4-BE49-F238E27FC236}">
                <a16:creationId xmlns:a16="http://schemas.microsoft.com/office/drawing/2014/main" id="{75FE8D2E-2057-4902-A783-97571949E5B8}"/>
              </a:ext>
            </a:extLst>
          </p:cNvPr>
          <p:cNvSpPr>
            <a:spLocks xmlns:a="http://schemas.openxmlformats.org/drawingml/2006/main" noGrp="1"/>
          </p:cNvSpPr>
          <p:nvPr/>
        </p:nvSpPr>
        <p:spPr>
          <a:xfrm xmlns:a="http://schemas.openxmlformats.org/drawingml/2006/main">
            <a:off x="457200" y="1695450"/>
            <a:ext cx="5353050" cy="3667125"/>
          </a:xfrm>
          <a:prstGeom xmlns:a="http://schemas.openxmlformats.org/drawingml/2006/main" prst="roundRect">
            <a:avLst>
              <a:gd name="adj" fmla="val 4156"/>
            </a:avLst>
          </a:prstGeom>
          <a:solidFill xmlns:a="http://schemas.openxmlformats.org/drawingml/2006/main">
            <a:srgbClr val="FBE8EB"/>
          </a:solidFill>
          <a:ln xmlns:a="http://schemas.openxmlformats.org/drawingml/2006/main" w="9525">
            <a:solidFill>
              <a:srgbClr val="C44A5A"/>
            </a:solidFill>
            <a:prstDash val="solid"/>
          </a:ln>
        </p:spPr>
      </p:sp>
      <p:sp>
        <p:nvSpPr>
          <p:cNvPr id="9" name="text-5k26em">
            <a:extLst xmlns:a="http://schemas.openxmlformats.org/drawingml/2006/main">
              <a:ext uri="{FF2B5EF4-FFF2-40B4-BE49-F238E27FC236}">
                <a16:creationId xmlns:a16="http://schemas.microsoft.com/office/drawing/2014/main" id="{3DFB2EDC-9E83-4C58-BBF5-5C6FDEDC2F23}"/>
              </a:ext>
            </a:extLst>
          </p:cNvPr>
          <p:cNvSpPr>
            <a:spLocks xmlns:a="http://schemas.openxmlformats.org/drawingml/2006/main" noGrp="1"/>
          </p:cNvSpPr>
          <p:nvPr/>
        </p:nvSpPr>
        <p:spPr>
          <a:xfrm xmlns:a="http://schemas.openxmlformats.org/drawingml/2006/main">
            <a:off x="762000" y="1971675"/>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C44A5A"/>
                </a:solidFill>
                <a:latin typeface="Helvetica Neue"/>
                <a:ea typeface="Helvetica Neue"/>
                <a:cs typeface="Helvetica Neue"/>
              </a:defRPr>
            </a:pPr>
            <a:r>
              <a:rPr sz="2175" b="1">
                <a:solidFill>
                  <a:srgbClr val="C44A5A"/>
                </a:solidFill>
                <a:latin typeface="Helvetica Neue"/>
                <a:ea typeface="Helvetica Neue"/>
                <a:cs typeface="Helvetica Neue"/>
              </a:rPr>
              <a:t>Blocked</a:t>
            </a:r>
          </a:p>
        </p:txBody>
      </p:sp>
      <p:sp>
        <p:nvSpPr>
          <p:cNvPr id="10" name="">
            <a:extLst xmlns:a="http://schemas.openxmlformats.org/drawingml/2006/main">
              <a:ext uri="{FF2B5EF4-FFF2-40B4-BE49-F238E27FC236}">
                <a16:creationId xmlns:a16="http://schemas.microsoft.com/office/drawing/2014/main" id="{57B1B7CD-CAA4-45BA-895B-44EB4DDBC203}"/>
              </a:ext>
            </a:extLst>
          </p:cNvPr>
          <p:cNvSpPr>
            <a:spLocks xmlns:a="http://schemas.openxmlformats.org/drawingml/2006/main" noGrp="1"/>
          </p:cNvSpPr>
          <p:nvPr/>
        </p:nvSpPr>
        <p:spPr>
          <a:xfrm xmlns:a="http://schemas.openxmlformats.org/drawingml/2006/main">
            <a:off x="762000" y="2609850"/>
            <a:ext cx="361950" cy="361950"/>
          </a:xfrm>
          <a:prstGeom xmlns:a="http://schemas.openxmlformats.org/drawingml/2006/main" prst="ellipse">
            <a:avLst/>
          </a:prstGeom>
          <a:solidFill xmlns:a="http://schemas.openxmlformats.org/drawingml/2006/main">
            <a:srgbClr val="FBE8EB"/>
          </a:solidFill>
          <a:ln xmlns:a="http://schemas.openxmlformats.org/drawingml/2006/main" w="9525">
            <a:solidFill>
              <a:srgbClr val="C44A5A"/>
            </a:solidFill>
            <a:prstDash val="solid"/>
          </a:ln>
        </p:spPr>
      </p:sp>
      <p:sp>
        <p:nvSpPr>
          <p:cNvPr id="11" name="text-vapgkw">
            <a:extLst xmlns:a="http://schemas.openxmlformats.org/drawingml/2006/main">
              <a:ext uri="{FF2B5EF4-FFF2-40B4-BE49-F238E27FC236}">
                <a16:creationId xmlns:a16="http://schemas.microsoft.com/office/drawing/2014/main" id="{F8D15D55-E67A-462A-B9DC-1C4E3A2E84F5}"/>
              </a:ext>
            </a:extLst>
          </p:cNvPr>
          <p:cNvSpPr>
            <a:spLocks xmlns:a="http://schemas.openxmlformats.org/drawingml/2006/main" noGrp="1"/>
          </p:cNvSpPr>
          <p:nvPr/>
        </p:nvSpPr>
        <p:spPr>
          <a:xfrm xmlns:a="http://schemas.openxmlformats.org/drawingml/2006/main">
            <a:off x="762000" y="2657475"/>
            <a:ext cx="361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C44A5A"/>
                </a:solidFill>
                <a:latin typeface="Helvetica Neue"/>
                <a:ea typeface="Helvetica Neue"/>
                <a:cs typeface="Helvetica Neue"/>
              </a:defRPr>
            </a:pPr>
            <a:r>
              <a:rPr sz="1350" b="1">
                <a:solidFill>
                  <a:srgbClr val="C44A5A"/>
                </a:solidFill>
                <a:latin typeface="Helvetica Neue"/>
                <a:ea typeface="Helvetica Neue"/>
                <a:cs typeface="Helvetica Neue"/>
              </a:rPr>
              <a:t>×</a:t>
            </a:r>
          </a:p>
        </p:txBody>
      </p:sp>
      <p:sp>
        <p:nvSpPr>
          <p:cNvPr id="12" name="text-ilqv32">
            <a:extLst xmlns:a="http://schemas.openxmlformats.org/drawingml/2006/main">
              <a:ext uri="{FF2B5EF4-FFF2-40B4-BE49-F238E27FC236}">
                <a16:creationId xmlns:a16="http://schemas.microsoft.com/office/drawing/2014/main" id="{40A6FD65-7293-4A60-AEA4-7901C32AF68C}"/>
              </a:ext>
            </a:extLst>
          </p:cNvPr>
          <p:cNvSpPr>
            <a:spLocks xmlns:a="http://schemas.openxmlformats.org/drawingml/2006/main" noGrp="1"/>
          </p:cNvSpPr>
          <p:nvPr/>
        </p:nvSpPr>
        <p:spPr>
          <a:xfrm xmlns:a="http://schemas.openxmlformats.org/drawingml/2006/main">
            <a:off x="1285875" y="2600325"/>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Mutation and commands</a:t>
            </a:r>
          </a:p>
        </p:txBody>
      </p:sp>
      <p:sp>
        <p:nvSpPr>
          <p:cNvPr id="13" name="text-tb8xe7">
            <a:extLst xmlns:a="http://schemas.openxmlformats.org/drawingml/2006/main">
              <a:ext uri="{FF2B5EF4-FFF2-40B4-BE49-F238E27FC236}">
                <a16:creationId xmlns:a16="http://schemas.microsoft.com/office/drawing/2014/main" id="{9ECA94A4-8A8F-4A2D-A229-94EA8F521E44}"/>
              </a:ext>
            </a:extLst>
          </p:cNvPr>
          <p:cNvSpPr>
            <a:spLocks xmlns:a="http://schemas.openxmlformats.org/drawingml/2006/main" noGrp="1"/>
          </p:cNvSpPr>
          <p:nvPr/>
        </p:nvSpPr>
        <p:spPr>
          <a:xfrm xmlns:a="http://schemas.openxmlformats.org/drawingml/2006/main">
            <a:off x="1285875" y="2905125"/>
            <a:ext cx="4048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No INSERT, UPDATE, DELETE, DDL, PRAGMA, or multiple statements.</a:t>
            </a:r>
          </a:p>
        </p:txBody>
      </p:sp>
      <p:sp>
        <p:nvSpPr>
          <p:cNvPr id="14" name="">
            <a:extLst xmlns:a="http://schemas.openxmlformats.org/drawingml/2006/main">
              <a:ext uri="{FF2B5EF4-FFF2-40B4-BE49-F238E27FC236}">
                <a16:creationId xmlns:a16="http://schemas.microsoft.com/office/drawing/2014/main" id="{43756202-B57C-483A-AEE9-5EE94F2E00E4}"/>
              </a:ext>
            </a:extLst>
          </p:cNvPr>
          <p:cNvSpPr>
            <a:spLocks xmlns:a="http://schemas.openxmlformats.org/drawingml/2006/main" noGrp="1"/>
          </p:cNvSpPr>
          <p:nvPr/>
        </p:nvSpPr>
        <p:spPr>
          <a:xfrm xmlns:a="http://schemas.openxmlformats.org/drawingml/2006/main">
            <a:off x="762000" y="3476625"/>
            <a:ext cx="361950" cy="361950"/>
          </a:xfrm>
          <a:prstGeom xmlns:a="http://schemas.openxmlformats.org/drawingml/2006/main" prst="ellipse">
            <a:avLst/>
          </a:prstGeom>
          <a:solidFill xmlns:a="http://schemas.openxmlformats.org/drawingml/2006/main">
            <a:srgbClr val="FBE8EB"/>
          </a:solidFill>
          <a:ln xmlns:a="http://schemas.openxmlformats.org/drawingml/2006/main" w="9525">
            <a:solidFill>
              <a:srgbClr val="C44A5A"/>
            </a:solidFill>
            <a:prstDash val="solid"/>
          </a:ln>
        </p:spPr>
      </p:sp>
      <p:sp>
        <p:nvSpPr>
          <p:cNvPr id="15" name="text-2x01xm">
            <a:extLst xmlns:a="http://schemas.openxmlformats.org/drawingml/2006/main">
              <a:ext uri="{FF2B5EF4-FFF2-40B4-BE49-F238E27FC236}">
                <a16:creationId xmlns:a16="http://schemas.microsoft.com/office/drawing/2014/main" id="{73E01081-B8F5-440E-9DD2-B6015C2BF4AB}"/>
              </a:ext>
            </a:extLst>
          </p:cNvPr>
          <p:cNvSpPr>
            <a:spLocks xmlns:a="http://schemas.openxmlformats.org/drawingml/2006/main" noGrp="1"/>
          </p:cNvSpPr>
          <p:nvPr/>
        </p:nvSpPr>
        <p:spPr>
          <a:xfrm xmlns:a="http://schemas.openxmlformats.org/drawingml/2006/main">
            <a:off x="762000" y="3524250"/>
            <a:ext cx="361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C44A5A"/>
                </a:solidFill>
                <a:latin typeface="Helvetica Neue"/>
                <a:ea typeface="Helvetica Neue"/>
                <a:cs typeface="Helvetica Neue"/>
              </a:defRPr>
            </a:pPr>
            <a:r>
              <a:rPr sz="1350" b="1">
                <a:solidFill>
                  <a:srgbClr val="C44A5A"/>
                </a:solidFill>
                <a:latin typeface="Helvetica Neue"/>
                <a:ea typeface="Helvetica Neue"/>
                <a:cs typeface="Helvetica Neue"/>
              </a:rPr>
              <a:t>×</a:t>
            </a:r>
          </a:p>
        </p:txBody>
      </p:sp>
      <p:sp>
        <p:nvSpPr>
          <p:cNvPr id="16" name="text-cfmimn">
            <a:extLst xmlns:a="http://schemas.openxmlformats.org/drawingml/2006/main">
              <a:ext uri="{FF2B5EF4-FFF2-40B4-BE49-F238E27FC236}">
                <a16:creationId xmlns:a16="http://schemas.microsoft.com/office/drawing/2014/main" id="{69FDFA3E-81B3-4A59-BFCF-97237D1A9FE0}"/>
              </a:ext>
            </a:extLst>
          </p:cNvPr>
          <p:cNvSpPr>
            <a:spLocks xmlns:a="http://schemas.openxmlformats.org/drawingml/2006/main" noGrp="1"/>
          </p:cNvSpPr>
          <p:nvPr/>
        </p:nvSpPr>
        <p:spPr>
          <a:xfrm xmlns:a="http://schemas.openxmlformats.org/drawingml/2006/main">
            <a:off x="1285875" y="34671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External and hidden access</a:t>
            </a:r>
          </a:p>
        </p:txBody>
      </p:sp>
      <p:sp>
        <p:nvSpPr>
          <p:cNvPr id="17" name="text-hk5vos">
            <a:extLst xmlns:a="http://schemas.openxmlformats.org/drawingml/2006/main">
              <a:ext uri="{FF2B5EF4-FFF2-40B4-BE49-F238E27FC236}">
                <a16:creationId xmlns:a16="http://schemas.microsoft.com/office/drawing/2014/main" id="{8E5F4BA4-3E64-4488-A82C-FD719DD6C25C}"/>
              </a:ext>
            </a:extLst>
          </p:cNvPr>
          <p:cNvSpPr>
            <a:spLocks xmlns:a="http://schemas.openxmlformats.org/drawingml/2006/main" noGrp="1"/>
          </p:cNvSpPr>
          <p:nvPr/>
        </p:nvSpPr>
        <p:spPr>
          <a:xfrm xmlns:a="http://schemas.openxmlformats.org/drawingml/2006/main">
            <a:off x="1285875" y="3771900"/>
            <a:ext cx="4048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No files, URLs, extensions, hidden schemas, or unrestricted SELECT *.</a:t>
            </a:r>
          </a:p>
        </p:txBody>
      </p:sp>
      <p:sp>
        <p:nvSpPr>
          <p:cNvPr id="18" name="">
            <a:extLst xmlns:a="http://schemas.openxmlformats.org/drawingml/2006/main">
              <a:ext uri="{FF2B5EF4-FFF2-40B4-BE49-F238E27FC236}">
                <a16:creationId xmlns:a16="http://schemas.microsoft.com/office/drawing/2014/main" id="{97D85C5D-8487-4B98-851F-F4DEFC82C98C}"/>
              </a:ext>
            </a:extLst>
          </p:cNvPr>
          <p:cNvSpPr>
            <a:spLocks xmlns:a="http://schemas.openxmlformats.org/drawingml/2006/main" noGrp="1"/>
          </p:cNvSpPr>
          <p:nvPr/>
        </p:nvSpPr>
        <p:spPr>
          <a:xfrm xmlns:a="http://schemas.openxmlformats.org/drawingml/2006/main">
            <a:off x="762000" y="4343400"/>
            <a:ext cx="361950" cy="361950"/>
          </a:xfrm>
          <a:prstGeom xmlns:a="http://schemas.openxmlformats.org/drawingml/2006/main" prst="ellipse">
            <a:avLst/>
          </a:prstGeom>
          <a:solidFill xmlns:a="http://schemas.openxmlformats.org/drawingml/2006/main">
            <a:srgbClr val="FBE8EB"/>
          </a:solidFill>
          <a:ln xmlns:a="http://schemas.openxmlformats.org/drawingml/2006/main" w="9525">
            <a:solidFill>
              <a:srgbClr val="C44A5A"/>
            </a:solidFill>
            <a:prstDash val="solid"/>
          </a:ln>
        </p:spPr>
      </p:sp>
      <p:sp>
        <p:nvSpPr>
          <p:cNvPr id="19" name="text-b97e6w">
            <a:extLst xmlns:a="http://schemas.openxmlformats.org/drawingml/2006/main">
              <a:ext uri="{FF2B5EF4-FFF2-40B4-BE49-F238E27FC236}">
                <a16:creationId xmlns:a16="http://schemas.microsoft.com/office/drawing/2014/main" id="{A4841A77-25F9-4952-BB36-0A3F9D8557ED}"/>
              </a:ext>
            </a:extLst>
          </p:cNvPr>
          <p:cNvSpPr>
            <a:spLocks xmlns:a="http://schemas.openxmlformats.org/drawingml/2006/main" noGrp="1"/>
          </p:cNvSpPr>
          <p:nvPr/>
        </p:nvSpPr>
        <p:spPr>
          <a:xfrm xmlns:a="http://schemas.openxmlformats.org/drawingml/2006/main">
            <a:off x="762000" y="4391025"/>
            <a:ext cx="361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C44A5A"/>
                </a:solidFill>
                <a:latin typeface="Helvetica Neue"/>
                <a:ea typeface="Helvetica Neue"/>
                <a:cs typeface="Helvetica Neue"/>
              </a:defRPr>
            </a:pPr>
            <a:r>
              <a:rPr sz="1350" b="1">
                <a:solidFill>
                  <a:srgbClr val="C44A5A"/>
                </a:solidFill>
                <a:latin typeface="Helvetica Neue"/>
                <a:ea typeface="Helvetica Neue"/>
                <a:cs typeface="Helvetica Neue"/>
              </a:rPr>
              <a:t>×</a:t>
            </a:r>
          </a:p>
        </p:txBody>
      </p:sp>
      <p:sp>
        <p:nvSpPr>
          <p:cNvPr id="20" name="text-nu5d32">
            <a:extLst xmlns:a="http://schemas.openxmlformats.org/drawingml/2006/main">
              <a:ext uri="{FF2B5EF4-FFF2-40B4-BE49-F238E27FC236}">
                <a16:creationId xmlns:a16="http://schemas.microsoft.com/office/drawing/2014/main" id="{E018CC53-121C-421C-929D-6D679A166656}"/>
              </a:ext>
            </a:extLst>
          </p:cNvPr>
          <p:cNvSpPr>
            <a:spLocks xmlns:a="http://schemas.openxmlformats.org/drawingml/2006/main" noGrp="1"/>
          </p:cNvSpPr>
          <p:nvPr/>
        </p:nvSpPr>
        <p:spPr>
          <a:xfrm xmlns:a="http://schemas.openxmlformats.org/drawingml/2006/main">
            <a:off x="1285875" y="4333875"/>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Sensitive fields</a:t>
            </a:r>
          </a:p>
        </p:txBody>
      </p:sp>
      <p:sp>
        <p:nvSpPr>
          <p:cNvPr id="21" name="text-fuyq3o">
            <a:extLst xmlns:a="http://schemas.openxmlformats.org/drawingml/2006/main">
              <a:ext uri="{FF2B5EF4-FFF2-40B4-BE49-F238E27FC236}">
                <a16:creationId xmlns:a16="http://schemas.microsoft.com/office/drawing/2014/main" id="{52F6E531-D8D0-4344-B882-4DBE7CCA04ED}"/>
              </a:ext>
            </a:extLst>
          </p:cNvPr>
          <p:cNvSpPr>
            <a:spLocks xmlns:a="http://schemas.openxmlformats.org/drawingml/2006/main" noGrp="1"/>
          </p:cNvSpPr>
          <p:nvPr/>
        </p:nvSpPr>
        <p:spPr>
          <a:xfrm xmlns:a="http://schemas.openxmlformats.org/drawingml/2006/main">
            <a:off x="1285875" y="4638675"/>
            <a:ext cx="4048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customer_name and customer_email never enter AI prompts or general exports.</a:t>
            </a:r>
          </a:p>
        </p:txBody>
      </p:sp>
      <p:sp>
        <p:nvSpPr>
          <p:cNvPr id="22" name="">
            <a:extLst xmlns:a="http://schemas.openxmlformats.org/drawingml/2006/main">
              <a:ext uri="{FF2B5EF4-FFF2-40B4-BE49-F238E27FC236}">
                <a16:creationId xmlns:a16="http://schemas.microsoft.com/office/drawing/2014/main" id="{67680D7E-BAED-4DF9-81E4-189920F351E5}"/>
              </a:ext>
            </a:extLst>
          </p:cNvPr>
          <p:cNvSpPr>
            <a:spLocks xmlns:a="http://schemas.openxmlformats.org/drawingml/2006/main" noGrp="1"/>
          </p:cNvSpPr>
          <p:nvPr/>
        </p:nvSpPr>
        <p:spPr>
          <a:xfrm xmlns:a="http://schemas.openxmlformats.org/drawingml/2006/main">
            <a:off x="6115050" y="1695450"/>
            <a:ext cx="5619750" cy="3667125"/>
          </a:xfrm>
          <a:prstGeom xmlns:a="http://schemas.openxmlformats.org/drawingml/2006/main" prst="roundRect">
            <a:avLst>
              <a:gd name="adj" fmla="val 4156"/>
            </a:avLst>
          </a:prstGeom>
          <a:solidFill xmlns:a="http://schemas.openxmlformats.org/drawingml/2006/main">
            <a:srgbClr val="E4F6EF"/>
          </a:solidFill>
          <a:ln xmlns:a="http://schemas.openxmlformats.org/drawingml/2006/main" w="9525">
            <a:solidFill>
              <a:srgbClr val="1D9A6C"/>
            </a:solidFill>
            <a:prstDash val="solid"/>
          </a:ln>
        </p:spPr>
      </p:sp>
      <p:sp>
        <p:nvSpPr>
          <p:cNvPr id="23" name="text-wk3cbw">
            <a:extLst xmlns:a="http://schemas.openxmlformats.org/drawingml/2006/main">
              <a:ext uri="{FF2B5EF4-FFF2-40B4-BE49-F238E27FC236}">
                <a16:creationId xmlns:a16="http://schemas.microsoft.com/office/drawing/2014/main" id="{9F48847D-71C5-495F-83AE-6EB55347ECE9}"/>
              </a:ext>
            </a:extLst>
          </p:cNvPr>
          <p:cNvSpPr>
            <a:spLocks xmlns:a="http://schemas.openxmlformats.org/drawingml/2006/main" noGrp="1"/>
          </p:cNvSpPr>
          <p:nvPr/>
        </p:nvSpPr>
        <p:spPr>
          <a:xfrm xmlns:a="http://schemas.openxmlformats.org/drawingml/2006/main">
            <a:off x="6419850" y="19716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D9A6C"/>
                </a:solidFill>
                <a:latin typeface="Helvetica Neue"/>
                <a:ea typeface="Helvetica Neue"/>
                <a:cs typeface="Helvetica Neue"/>
              </a:defRPr>
            </a:pPr>
            <a:r>
              <a:rPr sz="2175" b="1">
                <a:solidFill>
                  <a:srgbClr val="1D9A6C"/>
                </a:solidFill>
                <a:latin typeface="Helvetica Neue"/>
                <a:ea typeface="Helvetica Neue"/>
                <a:cs typeface="Helvetica Neue"/>
              </a:rPr>
              <a:t>Allowed—with limits</a:t>
            </a:r>
          </a:p>
        </p:txBody>
      </p:sp>
      <p:sp>
        <p:nvSpPr>
          <p:cNvPr id="24" name="">
            <a:extLst xmlns:a="http://schemas.openxmlformats.org/drawingml/2006/main">
              <a:ext uri="{FF2B5EF4-FFF2-40B4-BE49-F238E27FC236}">
                <a16:creationId xmlns:a16="http://schemas.microsoft.com/office/drawing/2014/main" id="{0B315EF7-0E5A-4FAF-BF08-B570FAAF43EB}"/>
              </a:ext>
            </a:extLst>
          </p:cNvPr>
          <p:cNvSpPr>
            <a:spLocks xmlns:a="http://schemas.openxmlformats.org/drawingml/2006/main" noGrp="1"/>
          </p:cNvSpPr>
          <p:nvPr/>
        </p:nvSpPr>
        <p:spPr>
          <a:xfrm xmlns:a="http://schemas.openxmlformats.org/drawingml/2006/main">
            <a:off x="6419850" y="2609850"/>
            <a:ext cx="361950" cy="361950"/>
          </a:xfrm>
          <a:prstGeom xmlns:a="http://schemas.openxmlformats.org/drawingml/2006/main" prst="ellipse">
            <a:avLst/>
          </a:prstGeom>
          <a:solidFill xmlns:a="http://schemas.openxmlformats.org/drawingml/2006/main">
            <a:srgbClr val="E4F6EF"/>
          </a:solidFill>
          <a:ln xmlns:a="http://schemas.openxmlformats.org/drawingml/2006/main" w="9525">
            <a:solidFill>
              <a:srgbClr val="1D9A6C"/>
            </a:solidFill>
            <a:prstDash val="solid"/>
          </a:ln>
        </p:spPr>
      </p:sp>
      <p:sp>
        <p:nvSpPr>
          <p:cNvPr id="25" name="text-tj3xty">
            <a:extLst xmlns:a="http://schemas.openxmlformats.org/drawingml/2006/main">
              <a:ext uri="{FF2B5EF4-FFF2-40B4-BE49-F238E27FC236}">
                <a16:creationId xmlns:a16="http://schemas.microsoft.com/office/drawing/2014/main" id="{10FDFAC4-CEB3-41C1-8A78-0FE19DE936A0}"/>
              </a:ext>
            </a:extLst>
          </p:cNvPr>
          <p:cNvSpPr>
            <a:spLocks xmlns:a="http://schemas.openxmlformats.org/drawingml/2006/main" noGrp="1"/>
          </p:cNvSpPr>
          <p:nvPr/>
        </p:nvSpPr>
        <p:spPr>
          <a:xfrm xmlns:a="http://schemas.openxmlformats.org/drawingml/2006/main">
            <a:off x="6419850" y="2657475"/>
            <a:ext cx="361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D9A6C"/>
                </a:solidFill>
                <a:latin typeface="Helvetica Neue"/>
                <a:ea typeface="Helvetica Neue"/>
                <a:cs typeface="Helvetica Neue"/>
              </a:defRPr>
            </a:pPr>
            <a:r>
              <a:rPr sz="1350" b="1">
                <a:solidFill>
                  <a:srgbClr val="1D9A6C"/>
                </a:solidFill>
                <a:latin typeface="Helvetica Neue"/>
                <a:ea typeface="Helvetica Neue"/>
                <a:cs typeface="Helvetica Neue"/>
              </a:rPr>
              <a:t>✓</a:t>
            </a:r>
          </a:p>
        </p:txBody>
      </p:sp>
      <p:sp>
        <p:nvSpPr>
          <p:cNvPr id="26" name="text-yegsur">
            <a:extLst xmlns:a="http://schemas.openxmlformats.org/drawingml/2006/main">
              <a:ext uri="{FF2B5EF4-FFF2-40B4-BE49-F238E27FC236}">
                <a16:creationId xmlns:a16="http://schemas.microsoft.com/office/drawing/2014/main" id="{C04BF817-A3AC-437B-90FA-D265BE977C9F}"/>
              </a:ext>
            </a:extLst>
          </p:cNvPr>
          <p:cNvSpPr>
            <a:spLocks xmlns:a="http://schemas.openxmlformats.org/drawingml/2006/main" noGrp="1"/>
          </p:cNvSpPr>
          <p:nvPr/>
        </p:nvSpPr>
        <p:spPr>
          <a:xfrm xmlns:a="http://schemas.openxmlformats.org/drawingml/2006/main">
            <a:off x="6943725" y="2600325"/>
            <a:ext cx="4314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One SELECT or CTE</a:t>
            </a:r>
          </a:p>
        </p:txBody>
      </p:sp>
      <p:sp>
        <p:nvSpPr>
          <p:cNvPr id="27" name="text-3af3xp">
            <a:extLst xmlns:a="http://schemas.openxmlformats.org/drawingml/2006/main">
              <a:ext uri="{FF2B5EF4-FFF2-40B4-BE49-F238E27FC236}">
                <a16:creationId xmlns:a16="http://schemas.microsoft.com/office/drawing/2014/main" id="{8AC192C3-5E8E-44C9-958E-3B500486C0C2}"/>
              </a:ext>
            </a:extLst>
          </p:cNvPr>
          <p:cNvSpPr>
            <a:spLocks xmlns:a="http://schemas.openxmlformats.org/drawingml/2006/main" noGrp="1"/>
          </p:cNvSpPr>
          <p:nvPr/>
        </p:nvSpPr>
        <p:spPr>
          <a:xfrm xmlns:a="http://schemas.openxmlformats.org/drawingml/2006/main">
            <a:off x="6943725" y="2905125"/>
            <a:ext cx="43148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The SQL AST must match the approved orders-table contract.</a:t>
            </a:r>
          </a:p>
        </p:txBody>
      </p:sp>
      <p:sp>
        <p:nvSpPr>
          <p:cNvPr id="28" name="">
            <a:extLst xmlns:a="http://schemas.openxmlformats.org/drawingml/2006/main">
              <a:ext uri="{FF2B5EF4-FFF2-40B4-BE49-F238E27FC236}">
                <a16:creationId xmlns:a16="http://schemas.microsoft.com/office/drawing/2014/main" id="{C096D9BA-7372-489A-9BD4-F12D444488A3}"/>
              </a:ext>
            </a:extLst>
          </p:cNvPr>
          <p:cNvSpPr>
            <a:spLocks xmlns:a="http://schemas.openxmlformats.org/drawingml/2006/main" noGrp="1"/>
          </p:cNvSpPr>
          <p:nvPr/>
        </p:nvSpPr>
        <p:spPr>
          <a:xfrm xmlns:a="http://schemas.openxmlformats.org/drawingml/2006/main">
            <a:off x="6419850" y="3476625"/>
            <a:ext cx="361950" cy="361950"/>
          </a:xfrm>
          <a:prstGeom xmlns:a="http://schemas.openxmlformats.org/drawingml/2006/main" prst="ellipse">
            <a:avLst/>
          </a:prstGeom>
          <a:solidFill xmlns:a="http://schemas.openxmlformats.org/drawingml/2006/main">
            <a:srgbClr val="E4F6EF"/>
          </a:solidFill>
          <a:ln xmlns:a="http://schemas.openxmlformats.org/drawingml/2006/main" w="9525">
            <a:solidFill>
              <a:srgbClr val="1D9A6C"/>
            </a:solidFill>
            <a:prstDash val="solid"/>
          </a:ln>
        </p:spPr>
      </p:sp>
      <p:sp>
        <p:nvSpPr>
          <p:cNvPr id="29" name="text-1i16d3">
            <a:extLst xmlns:a="http://schemas.openxmlformats.org/drawingml/2006/main">
              <a:ext uri="{FF2B5EF4-FFF2-40B4-BE49-F238E27FC236}">
                <a16:creationId xmlns:a16="http://schemas.microsoft.com/office/drawing/2014/main" id="{88311027-C654-42E2-917C-B76D30EEED4D}"/>
              </a:ext>
            </a:extLst>
          </p:cNvPr>
          <p:cNvSpPr>
            <a:spLocks xmlns:a="http://schemas.openxmlformats.org/drawingml/2006/main" noGrp="1"/>
          </p:cNvSpPr>
          <p:nvPr/>
        </p:nvSpPr>
        <p:spPr>
          <a:xfrm xmlns:a="http://schemas.openxmlformats.org/drawingml/2006/main">
            <a:off x="6419850" y="3524250"/>
            <a:ext cx="361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D9A6C"/>
                </a:solidFill>
                <a:latin typeface="Helvetica Neue"/>
                <a:ea typeface="Helvetica Neue"/>
                <a:cs typeface="Helvetica Neue"/>
              </a:defRPr>
            </a:pPr>
            <a:r>
              <a:rPr sz="1350" b="1">
                <a:solidFill>
                  <a:srgbClr val="1D9A6C"/>
                </a:solidFill>
                <a:latin typeface="Helvetica Neue"/>
                <a:ea typeface="Helvetica Neue"/>
                <a:cs typeface="Helvetica Neue"/>
              </a:rPr>
              <a:t>✓</a:t>
            </a:r>
          </a:p>
        </p:txBody>
      </p:sp>
      <p:sp>
        <p:nvSpPr>
          <p:cNvPr id="30" name="text-q6194o">
            <a:extLst xmlns:a="http://schemas.openxmlformats.org/drawingml/2006/main">
              <a:ext uri="{FF2B5EF4-FFF2-40B4-BE49-F238E27FC236}">
                <a16:creationId xmlns:a16="http://schemas.microsoft.com/office/drawing/2014/main" id="{F74C3A3F-4304-4785-8DB5-F2FF8FC8AA51}"/>
              </a:ext>
            </a:extLst>
          </p:cNvPr>
          <p:cNvSpPr>
            <a:spLocks xmlns:a="http://schemas.openxmlformats.org/drawingml/2006/main" noGrp="1"/>
          </p:cNvSpPr>
          <p:nvPr/>
        </p:nvSpPr>
        <p:spPr>
          <a:xfrm xmlns:a="http://schemas.openxmlformats.org/drawingml/2006/main">
            <a:off x="6943725" y="3467100"/>
            <a:ext cx="4314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5 seconds · 5,000 rows</a:t>
            </a:r>
          </a:p>
        </p:txBody>
      </p:sp>
      <p:sp>
        <p:nvSpPr>
          <p:cNvPr id="31" name="text-93ktm9">
            <a:extLst xmlns:a="http://schemas.openxmlformats.org/drawingml/2006/main">
              <a:ext uri="{FF2B5EF4-FFF2-40B4-BE49-F238E27FC236}">
                <a16:creationId xmlns:a16="http://schemas.microsoft.com/office/drawing/2014/main" id="{955ECAE3-9880-4C19-8F62-3880C7E977E4}"/>
              </a:ext>
            </a:extLst>
          </p:cNvPr>
          <p:cNvSpPr>
            <a:spLocks xmlns:a="http://schemas.openxmlformats.org/drawingml/2006/main" noGrp="1"/>
          </p:cNvSpPr>
          <p:nvPr/>
        </p:nvSpPr>
        <p:spPr>
          <a:xfrm xmlns:a="http://schemas.openxmlformats.org/drawingml/2006/main">
            <a:off x="6943725" y="3771900"/>
            <a:ext cx="43148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Execution also runs under a 1 GB DuckDB memory limit.</a:t>
            </a:r>
          </a:p>
        </p:txBody>
      </p:sp>
      <p:sp>
        <p:nvSpPr>
          <p:cNvPr id="32" name="">
            <a:extLst xmlns:a="http://schemas.openxmlformats.org/drawingml/2006/main">
              <a:ext uri="{FF2B5EF4-FFF2-40B4-BE49-F238E27FC236}">
                <a16:creationId xmlns:a16="http://schemas.microsoft.com/office/drawing/2014/main" id="{122DC2B7-F814-41EA-8BC6-3D3D212C2112}"/>
              </a:ext>
            </a:extLst>
          </p:cNvPr>
          <p:cNvSpPr>
            <a:spLocks xmlns:a="http://schemas.openxmlformats.org/drawingml/2006/main" noGrp="1"/>
          </p:cNvSpPr>
          <p:nvPr/>
        </p:nvSpPr>
        <p:spPr>
          <a:xfrm xmlns:a="http://schemas.openxmlformats.org/drawingml/2006/main">
            <a:off x="6419850" y="4343400"/>
            <a:ext cx="361950" cy="361950"/>
          </a:xfrm>
          <a:prstGeom xmlns:a="http://schemas.openxmlformats.org/drawingml/2006/main" prst="ellipse">
            <a:avLst/>
          </a:prstGeom>
          <a:solidFill xmlns:a="http://schemas.openxmlformats.org/drawingml/2006/main">
            <a:srgbClr val="E4F6EF"/>
          </a:solidFill>
          <a:ln xmlns:a="http://schemas.openxmlformats.org/drawingml/2006/main" w="9525">
            <a:solidFill>
              <a:srgbClr val="1D9A6C"/>
            </a:solidFill>
            <a:prstDash val="solid"/>
          </a:ln>
        </p:spPr>
      </p:sp>
      <p:sp>
        <p:nvSpPr>
          <p:cNvPr id="33" name="text-ac5pxn">
            <a:extLst xmlns:a="http://schemas.openxmlformats.org/drawingml/2006/main">
              <a:ext uri="{FF2B5EF4-FFF2-40B4-BE49-F238E27FC236}">
                <a16:creationId xmlns:a16="http://schemas.microsoft.com/office/drawing/2014/main" id="{657BCDFC-95DA-45A4-88D0-C033FBB53642}"/>
              </a:ext>
            </a:extLst>
          </p:cNvPr>
          <p:cNvSpPr>
            <a:spLocks xmlns:a="http://schemas.openxmlformats.org/drawingml/2006/main" noGrp="1"/>
          </p:cNvSpPr>
          <p:nvPr/>
        </p:nvSpPr>
        <p:spPr>
          <a:xfrm xmlns:a="http://schemas.openxmlformats.org/drawingml/2006/main">
            <a:off x="6419850" y="4391025"/>
            <a:ext cx="361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D9A6C"/>
                </a:solidFill>
                <a:latin typeface="Helvetica Neue"/>
                <a:ea typeface="Helvetica Neue"/>
                <a:cs typeface="Helvetica Neue"/>
              </a:defRPr>
            </a:pPr>
            <a:r>
              <a:rPr sz="1350" b="1">
                <a:solidFill>
                  <a:srgbClr val="1D9A6C"/>
                </a:solidFill>
                <a:latin typeface="Helvetica Neue"/>
                <a:ea typeface="Helvetica Neue"/>
                <a:cs typeface="Helvetica Neue"/>
              </a:rPr>
              <a:t>✓</a:t>
            </a:r>
          </a:p>
        </p:txBody>
      </p:sp>
      <p:sp>
        <p:nvSpPr>
          <p:cNvPr id="34" name="text-j26n4k">
            <a:extLst xmlns:a="http://schemas.openxmlformats.org/drawingml/2006/main">
              <a:ext uri="{FF2B5EF4-FFF2-40B4-BE49-F238E27FC236}">
                <a16:creationId xmlns:a16="http://schemas.microsoft.com/office/drawing/2014/main" id="{29586B9E-401C-47BF-A31F-93215423B9C7}"/>
              </a:ext>
            </a:extLst>
          </p:cNvPr>
          <p:cNvSpPr>
            <a:spLocks xmlns:a="http://schemas.openxmlformats.org/drawingml/2006/main" noGrp="1"/>
          </p:cNvSpPr>
          <p:nvPr/>
        </p:nvSpPr>
        <p:spPr>
          <a:xfrm xmlns:a="http://schemas.openxmlformats.org/drawingml/2006/main">
            <a:off x="6943725" y="4333875"/>
            <a:ext cx="4314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One corrective retry</a:t>
            </a:r>
          </a:p>
        </p:txBody>
      </p:sp>
      <p:sp>
        <p:nvSpPr>
          <p:cNvPr id="35" name="text-zabbw9">
            <a:extLst xmlns:a="http://schemas.openxmlformats.org/drawingml/2006/main">
              <a:ext uri="{FF2B5EF4-FFF2-40B4-BE49-F238E27FC236}">
                <a16:creationId xmlns:a16="http://schemas.microsoft.com/office/drawing/2014/main" id="{6BD326CF-C4AD-400D-892E-2A39BA40D237}"/>
              </a:ext>
            </a:extLst>
          </p:cNvPr>
          <p:cNvSpPr>
            <a:spLocks xmlns:a="http://schemas.openxmlformats.org/drawingml/2006/main" noGrp="1"/>
          </p:cNvSpPr>
          <p:nvPr/>
        </p:nvSpPr>
        <p:spPr>
          <a:xfrm xmlns:a="http://schemas.openxmlformats.org/drawingml/2006/main">
            <a:off x="6943725" y="4638675"/>
            <a:ext cx="43148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A failed plan gets exactly one error-informed correction, then stops.</a:t>
            </a:r>
          </a:p>
        </p:txBody>
      </p:sp>
      <p:sp>
        <p:nvSpPr>
          <p:cNvPr id="36" name="">
            <a:extLst xmlns:a="http://schemas.openxmlformats.org/drawingml/2006/main">
              <a:ext uri="{FF2B5EF4-FFF2-40B4-BE49-F238E27FC236}">
                <a16:creationId xmlns:a16="http://schemas.microsoft.com/office/drawing/2014/main" id="{E0B77DEF-2B7A-472A-B3B1-16EDD4FB79C2}"/>
              </a:ext>
            </a:extLst>
          </p:cNvPr>
          <p:cNvSpPr>
            <a:spLocks xmlns:a="http://schemas.openxmlformats.org/drawingml/2006/main" noGrp="1"/>
          </p:cNvSpPr>
          <p:nvPr/>
        </p:nvSpPr>
        <p:spPr>
          <a:xfrm xmlns:a="http://schemas.openxmlformats.org/drawingml/2006/main">
            <a:off x="1428750" y="5610225"/>
            <a:ext cx="9334500" cy="571500"/>
          </a:xfrm>
          <a:prstGeom xmlns:a="http://schemas.openxmlformats.org/drawingml/2006/main" prst="roundRect">
            <a:avLst>
              <a:gd name="adj" fmla="val 26667"/>
            </a:avLst>
          </a:prstGeom>
          <a:solidFill xmlns:a="http://schemas.openxmlformats.org/drawingml/2006/main">
            <a:srgbClr val="EAF5FB"/>
          </a:solidFill>
          <a:ln xmlns:a="http://schemas.openxmlformats.org/drawingml/2006/main" w="9525">
            <a:solidFill>
              <a:srgbClr val="3D8DFF"/>
            </a:solidFill>
            <a:prstDash val="solid"/>
          </a:ln>
        </p:spPr>
      </p:sp>
      <p:sp>
        <p:nvSpPr>
          <p:cNvPr id="37" name="text-sn5y85">
            <a:extLst xmlns:a="http://schemas.openxmlformats.org/drawingml/2006/main">
              <a:ext uri="{FF2B5EF4-FFF2-40B4-BE49-F238E27FC236}">
                <a16:creationId xmlns:a16="http://schemas.microsoft.com/office/drawing/2014/main" id="{F21EB6A2-119B-4B61-AEBA-F423E5200250}"/>
              </a:ext>
            </a:extLst>
          </p:cNvPr>
          <p:cNvSpPr>
            <a:spLocks xmlns:a="http://schemas.openxmlformats.org/drawingml/2006/main" noGrp="1"/>
          </p:cNvSpPr>
          <p:nvPr/>
        </p:nvSpPr>
        <p:spPr>
          <a:xfrm xmlns:a="http://schemas.openxmlformats.org/drawingml/2006/main">
            <a:off x="1695450" y="5772150"/>
            <a:ext cx="880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Conversational memory keeps only the latest 5 successful turns.</a:t>
            </a:r>
          </a:p>
        </p:txBody>
      </p:sp>
    </p:spTree>
    <p:extLst>
      <p:ext uri="{BB962C8B-B14F-4D97-AF65-F5344CB8AC3E}">
        <p14:creationId xmlns:p14="http://schemas.microsoft.com/office/powerpoint/2010/main" val="20484122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C03AB7F-4754-40F2-B347-27395D3D2EE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arzbtp">
            <a:extLst xmlns:a="http://schemas.openxmlformats.org/drawingml/2006/main">
              <a:ext uri="{FF2B5EF4-FFF2-40B4-BE49-F238E27FC236}">
                <a16:creationId xmlns:a16="http://schemas.microsoft.com/office/drawing/2014/main" id="{A684E3CA-D643-420D-BE3C-1BCC163BE05E}"/>
              </a:ext>
            </a:extLst>
          </p:cNvPr>
          <p:cNvSpPr>
            <a:spLocks xmlns:a="http://schemas.openxmlformats.org/drawingml/2006/main" noGrp="1"/>
          </p:cNvSpPr>
          <p:nvPr/>
        </p:nvSpPr>
        <p:spPr>
          <a:xfrm xmlns:a="http://schemas.openxmlformats.org/drawingml/2006/main">
            <a:off x="457200" y="247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PREDICTIVE ANALYTICS</a:t>
            </a:r>
          </a:p>
        </p:txBody>
      </p:sp>
      <p:sp>
        <p:nvSpPr>
          <p:cNvPr id="3" name="text-7qnzfl">
            <a:extLst xmlns:a="http://schemas.openxmlformats.org/drawingml/2006/main">
              <a:ext uri="{FF2B5EF4-FFF2-40B4-BE49-F238E27FC236}">
                <a16:creationId xmlns:a16="http://schemas.microsoft.com/office/drawing/2014/main" id="{CA7239B6-161A-4A00-947F-F61701A83BA4}"/>
              </a:ext>
            </a:extLst>
          </p:cNvPr>
          <p:cNvSpPr>
            <a:spLocks xmlns:a="http://schemas.openxmlformats.org/drawingml/2006/main" noGrp="1"/>
          </p:cNvSpPr>
          <p:nvPr/>
        </p:nvSpPr>
        <p:spPr>
          <a:xfrm xmlns:a="http://schemas.openxmlformats.org/drawingml/2006/main">
            <a:off x="457200" y="381000"/>
            <a:ext cx="11277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Demand prediction follows the pattern—</a:t>
            </a:r>
          </a:p>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but we state the limitation</a:t>
            </a:r>
          </a:p>
        </p:txBody>
      </p:sp>
      <p:sp>
        <p:nvSpPr>
          <p:cNvPr id="4" name="text-hcga6h">
            <a:extLst xmlns:a="http://schemas.openxmlformats.org/drawingml/2006/main">
              <a:ext uri="{FF2B5EF4-FFF2-40B4-BE49-F238E27FC236}">
                <a16:creationId xmlns:a16="http://schemas.microsoft.com/office/drawing/2014/main" id="{BF024DD2-E16B-4634-8F7C-506A6A4E36C7}"/>
              </a:ext>
            </a:extLst>
          </p:cNvPr>
          <p:cNvSpPr>
            <a:spLocks xmlns:a="http://schemas.openxmlformats.org/drawingml/2006/main" noGrp="1"/>
          </p:cNvSpPr>
          <p:nvPr/>
        </p:nvSpPr>
        <p:spPr>
          <a:xfrm xmlns:a="http://schemas.openxmlformats.org/drawingml/2006/main">
            <a:off x="476250" y="15240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274"/>
                </a:solidFill>
                <a:latin typeface="Helvetica Neue"/>
                <a:ea typeface="Helvetica Neue"/>
                <a:cs typeface="Helvetica Neue"/>
              </a:defRPr>
            </a:pPr>
            <a:r>
              <a:rPr sz="1575" b="0">
                <a:solidFill>
                  <a:srgbClr val="596274"/>
                </a:solidFill>
                <a:latin typeface="Helvetica Neue"/>
                <a:ea typeface="Helvetica Neue"/>
                <a:cs typeface="Helvetica Neue"/>
              </a:rPr>
              <a:t>Random Forest daily order model · deterministic weekly holdout</a:t>
            </a:r>
          </a:p>
        </p:txBody>
      </p:sp>
      <p:sp>
        <p:nvSpPr>
          <p:cNvPr id="5" name="">
            <a:extLst xmlns:a="http://schemas.openxmlformats.org/drawingml/2006/main">
              <a:ext uri="{FF2B5EF4-FFF2-40B4-BE49-F238E27FC236}">
                <a16:creationId xmlns:a16="http://schemas.microsoft.com/office/drawing/2014/main" id="{41D30BB8-8080-4DB8-A8A5-6E80DBDFB9F0}"/>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text-2y2wqa">
            <a:extLst xmlns:a="http://schemas.openxmlformats.org/drawingml/2006/main">
              <a:ext uri="{FF2B5EF4-FFF2-40B4-BE49-F238E27FC236}">
                <a16:creationId xmlns:a16="http://schemas.microsoft.com/office/drawing/2014/main" id="{3FD94C8B-10F6-4888-BDAE-CEE15170D902}"/>
              </a:ext>
            </a:extLst>
          </p:cNvPr>
          <p:cNvSpPr>
            <a:spLocks xmlns:a="http://schemas.openxmlformats.org/drawingml/2006/main" noGrp="1"/>
          </p:cNvSpPr>
          <p:nvPr/>
        </p:nvSpPr>
        <p:spPr>
          <a:xfrm xmlns:a="http://schemas.openxmlformats.org/drawingml/2006/main">
            <a:off x="457200" y="65722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InsightCommerce · Deep Learning · Daffodil International University</a:t>
            </a:r>
          </a:p>
        </p:txBody>
      </p:sp>
      <p:sp>
        <p:nvSpPr>
          <p:cNvPr id="7" name="text-48rmzr">
            <a:extLst xmlns:a="http://schemas.openxmlformats.org/drawingml/2006/main">
              <a:ext uri="{FF2B5EF4-FFF2-40B4-BE49-F238E27FC236}">
                <a16:creationId xmlns:a16="http://schemas.microsoft.com/office/drawing/2014/main" id="{66DDA92D-969D-45F1-9CAD-9249FD40E3E9}"/>
              </a:ext>
            </a:extLst>
          </p:cNvPr>
          <p:cNvSpPr>
            <a:spLocks xmlns:a="http://schemas.openxmlformats.org/drawingml/2006/main" noGrp="1"/>
          </p:cNvSpPr>
          <p:nvPr/>
        </p:nvSpPr>
        <p:spPr>
          <a:xfrm xmlns:a="http://schemas.openxmlformats.org/drawingml/2006/main">
            <a:off x="11287125" y="656272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08</a:t>
            </a:r>
          </a:p>
        </p:txBody>
      </p:sp>
      <p:sp>
        <p:nvSpPr>
          <p:cNvPr id="8" name="">
            <a:extLst xmlns:a="http://schemas.openxmlformats.org/drawingml/2006/main">
              <a:ext uri="{FF2B5EF4-FFF2-40B4-BE49-F238E27FC236}">
                <a16:creationId xmlns:a16="http://schemas.microsoft.com/office/drawing/2014/main" id="{2253BF8B-1B67-4D4F-B160-6685097E1A8C}"/>
              </a:ext>
            </a:extLst>
          </p:cNvPr>
          <p:cNvSpPr>
            <a:spLocks xmlns:a="http://schemas.openxmlformats.org/drawingml/2006/main" noGrp="1"/>
          </p:cNvSpPr>
          <p:nvPr/>
        </p:nvSpPr>
        <p:spPr>
          <a:xfrm xmlns:a="http://schemas.openxmlformats.org/drawingml/2006/main">
            <a:off x="457200" y="1952625"/>
            <a:ext cx="7524750" cy="4124325"/>
          </a:xfrm>
          <a:prstGeom xmlns:a="http://schemas.openxmlformats.org/drawingml/2006/main" prst="roundRect">
            <a:avLst>
              <a:gd name="adj" fmla="val 3695"/>
            </a:avLst>
          </a:prstGeom>
          <a:solidFill xmlns:a="http://schemas.openxmlformats.org/drawingml/2006/main">
            <a:srgbClr val="F7F8FA"/>
          </a:solidFill>
          <a:ln xmlns:a="http://schemas.openxmlformats.org/drawingml/2006/main" w="9525">
            <a:solidFill>
              <a:srgbClr val="B8BCC4"/>
            </a:solidFill>
            <a:prstDash val="solid"/>
          </a:ln>
        </p:spPr>
      </p:sp>
      <p:sp>
        <p:nvSpPr>
          <p:cNvPr id="9" name="text-1oa749">
            <a:extLst xmlns:a="http://schemas.openxmlformats.org/drawingml/2006/main">
              <a:ext uri="{FF2B5EF4-FFF2-40B4-BE49-F238E27FC236}">
                <a16:creationId xmlns:a16="http://schemas.microsoft.com/office/drawing/2014/main" id="{481DCC5B-5263-4A01-9847-B7C5CF6A023E}"/>
              </a:ext>
            </a:extLst>
          </p:cNvPr>
          <p:cNvSpPr>
            <a:spLocks xmlns:a="http://schemas.openxmlformats.org/drawingml/2006/main" noGrp="1"/>
          </p:cNvSpPr>
          <p:nvPr/>
        </p:nvSpPr>
        <p:spPr>
          <a:xfrm xmlns:a="http://schemas.openxmlformats.org/drawingml/2006/main">
            <a:off x="742950" y="21526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522"/>
                </a:solidFill>
                <a:latin typeface="Helvetica Neue"/>
                <a:ea typeface="Helvetica Neue"/>
                <a:cs typeface="Helvetica Neue"/>
              </a:defRPr>
            </a:pPr>
            <a:r>
              <a:rPr sz="1800" b="1">
                <a:solidFill>
                  <a:srgbClr val="101522"/>
                </a:solidFill>
                <a:latin typeface="Helvetica Neue"/>
                <a:ea typeface="Helvetica Neue"/>
                <a:cs typeface="Helvetica Neue"/>
              </a:rPr>
              <a:t>Average daily orders by month</a:t>
            </a:r>
          </a:p>
        </p:txBody>
      </p:sp>
      <p:graphicFrame>
        <p:nvGraphicFramePr>
          <p:cNvPr id="31" name="Chart"/>
          <p:cNvGraphicFramePr/>
          <p:nvPr/>
        </p:nvGraphicFramePr>
        <p:xfrm>
          <a:off xmlns:a="http://schemas.openxmlformats.org/drawingml/2006/main" x="685800" y="2514600"/>
          <a:ext xmlns:a="http://schemas.openxmlformats.org/drawingml/2006/main" cx="7067550" cy="3209925"/>
        </p:xfrm>
        <a:graphic xmlns:a="http://schemas.openxmlformats.org/drawingml/2006/main">
          <a:graphicData uri="http://schemas.openxmlformats.org/drawingml/2006/chart">
            <c:chart xmlns:r="http://schemas.openxmlformats.org/officeDocument/2006/relationships" xmlns:c="http://schemas.openxmlformats.org/drawingml/2006/chart" r:id="Rbc32109b80b742aa"/>
          </a:graphicData>
        </a:graphic>
      </p:graphicFrame>
      <p:sp>
        <p:nvSpPr>
          <p:cNvPr id="11" name="">
            <a:extLst xmlns:a="http://schemas.openxmlformats.org/drawingml/2006/main">
              <a:ext uri="{FF2B5EF4-FFF2-40B4-BE49-F238E27FC236}">
                <a16:creationId xmlns:a16="http://schemas.microsoft.com/office/drawing/2014/main" id="{2E23C87C-A524-4B51-A8E9-FB0B97237EC9}"/>
              </a:ext>
            </a:extLst>
          </p:cNvPr>
          <p:cNvSpPr>
            <a:spLocks xmlns:a="http://schemas.openxmlformats.org/drawingml/2006/main" noGrp="1"/>
          </p:cNvSpPr>
          <p:nvPr/>
        </p:nvSpPr>
        <p:spPr>
          <a:xfrm xmlns:a="http://schemas.openxmlformats.org/drawingml/2006/main">
            <a:off x="8258175" y="1952625"/>
            <a:ext cx="3476625" cy="2247900"/>
          </a:xfrm>
          <a:prstGeom xmlns:a="http://schemas.openxmlformats.org/drawingml/2006/main" prst="roundRect">
            <a:avLst>
              <a:gd name="adj" fmla="val 6780"/>
            </a:avLst>
          </a:prstGeom>
          <a:solidFill xmlns:a="http://schemas.openxmlformats.org/drawingml/2006/main">
            <a:srgbClr val="EAF5FB"/>
          </a:solidFill>
          <a:ln xmlns:a="http://schemas.openxmlformats.org/drawingml/2006/main" w="9525">
            <a:solidFill>
              <a:srgbClr val="B8BCC4"/>
            </a:solidFill>
            <a:prstDash val="solid"/>
          </a:ln>
        </p:spPr>
      </p:sp>
      <p:sp>
        <p:nvSpPr>
          <p:cNvPr id="12" name="text-269cm5">
            <a:extLst xmlns:a="http://schemas.openxmlformats.org/drawingml/2006/main">
              <a:ext uri="{FF2B5EF4-FFF2-40B4-BE49-F238E27FC236}">
                <a16:creationId xmlns:a16="http://schemas.microsoft.com/office/drawing/2014/main" id="{A287800C-1C05-4F16-8C02-84292E208A54}"/>
              </a:ext>
            </a:extLst>
          </p:cNvPr>
          <p:cNvSpPr>
            <a:spLocks xmlns:a="http://schemas.openxmlformats.org/drawingml/2006/main" noGrp="1"/>
          </p:cNvSpPr>
          <p:nvPr/>
        </p:nvSpPr>
        <p:spPr>
          <a:xfrm xmlns:a="http://schemas.openxmlformats.org/drawingml/2006/main">
            <a:off x="8496300" y="2238375"/>
            <a:ext cx="3000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1">
                <a:solidFill>
                  <a:srgbClr val="3D8DFF"/>
                </a:solidFill>
                <a:latin typeface="Helvetica Neue"/>
                <a:ea typeface="Helvetica Neue"/>
                <a:cs typeface="Helvetica Neue"/>
              </a:defRPr>
            </a:pPr>
            <a:r>
              <a:rPr sz="3975" b="1">
                <a:solidFill>
                  <a:srgbClr val="3D8DFF"/>
                </a:solidFill>
                <a:latin typeface="Helvetica Neue"/>
                <a:ea typeface="Helvetica Neue"/>
                <a:cs typeface="Helvetica Neue"/>
              </a:rPr>
              <a:t>12.4</a:t>
            </a:r>
          </a:p>
        </p:txBody>
      </p:sp>
      <p:sp>
        <p:nvSpPr>
          <p:cNvPr id="13" name="text-33i67c">
            <a:extLst xmlns:a="http://schemas.openxmlformats.org/drawingml/2006/main">
              <a:ext uri="{FF2B5EF4-FFF2-40B4-BE49-F238E27FC236}">
                <a16:creationId xmlns:a16="http://schemas.microsoft.com/office/drawing/2014/main" id="{0AE4EA1E-6420-45DB-AE03-6C8C704E094C}"/>
              </a:ext>
            </a:extLst>
          </p:cNvPr>
          <p:cNvSpPr>
            <a:spLocks xmlns:a="http://schemas.openxmlformats.org/drawingml/2006/main" noGrp="1"/>
          </p:cNvSpPr>
          <p:nvPr/>
        </p:nvSpPr>
        <p:spPr>
          <a:xfrm xmlns:a="http://schemas.openxmlformats.org/drawingml/2006/main">
            <a:off x="8496300" y="3057525"/>
            <a:ext cx="3000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522"/>
                </a:solidFill>
                <a:latin typeface="Helvetica Neue"/>
                <a:ea typeface="Helvetica Neue"/>
                <a:cs typeface="Helvetica Neue"/>
              </a:defRPr>
            </a:pPr>
            <a:r>
              <a:rPr sz="1800" b="1">
                <a:solidFill>
                  <a:srgbClr val="101522"/>
                </a:solidFill>
                <a:latin typeface="Helvetica Neue"/>
                <a:ea typeface="Helvetica Neue"/>
                <a:cs typeface="Helvetica Neue"/>
              </a:rPr>
              <a:t>MAE orders/day</a:t>
            </a:r>
          </a:p>
        </p:txBody>
      </p:sp>
      <p:sp>
        <p:nvSpPr>
          <p:cNvPr id="14" name="text-zmoux8">
            <a:extLst xmlns:a="http://schemas.openxmlformats.org/drawingml/2006/main">
              <a:ext uri="{FF2B5EF4-FFF2-40B4-BE49-F238E27FC236}">
                <a16:creationId xmlns:a16="http://schemas.microsoft.com/office/drawing/2014/main" id="{AAB8873F-DE6D-4C5E-A490-EC56A6CC9D83}"/>
              </a:ext>
            </a:extLst>
          </p:cNvPr>
          <p:cNvSpPr>
            <a:spLocks xmlns:a="http://schemas.openxmlformats.org/drawingml/2006/main" noGrp="1"/>
          </p:cNvSpPr>
          <p:nvPr/>
        </p:nvSpPr>
        <p:spPr>
          <a:xfrm xmlns:a="http://schemas.openxmlformats.org/drawingml/2006/main">
            <a:off x="8496300" y="3514725"/>
            <a:ext cx="3000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RMSE 18.2 on held-out dates.</a:t>
            </a:r>
          </a:p>
        </p:txBody>
      </p:sp>
      <p:sp>
        <p:nvSpPr>
          <p:cNvPr id="15" name="">
            <a:extLst xmlns:a="http://schemas.openxmlformats.org/drawingml/2006/main">
              <a:ext uri="{FF2B5EF4-FFF2-40B4-BE49-F238E27FC236}">
                <a16:creationId xmlns:a16="http://schemas.microsoft.com/office/drawing/2014/main" id="{7C5DFA8B-756D-46FB-A165-9929679B9E6C}"/>
              </a:ext>
            </a:extLst>
          </p:cNvPr>
          <p:cNvSpPr>
            <a:spLocks xmlns:a="http://schemas.openxmlformats.org/drawingml/2006/main" noGrp="1"/>
          </p:cNvSpPr>
          <p:nvPr/>
        </p:nvSpPr>
        <p:spPr>
          <a:xfrm xmlns:a="http://schemas.openxmlformats.org/drawingml/2006/main">
            <a:off x="8258175" y="4381500"/>
            <a:ext cx="1657350" cy="1066800"/>
          </a:xfrm>
          <a:prstGeom xmlns:a="http://schemas.openxmlformats.org/drawingml/2006/main" prst="roundRect">
            <a:avLst>
              <a:gd name="adj" fmla="val 14286"/>
            </a:avLst>
          </a:prstGeom>
          <a:solidFill xmlns:a="http://schemas.openxmlformats.org/drawingml/2006/main">
            <a:srgbClr val="F2F2F2"/>
          </a:solidFill>
          <a:ln xmlns:a="http://schemas.openxmlformats.org/drawingml/2006/main" w="9525">
            <a:solidFill>
              <a:srgbClr val="B8BCC4"/>
            </a:solidFill>
            <a:prstDash val="solid"/>
          </a:ln>
        </p:spPr>
      </p:sp>
      <p:sp>
        <p:nvSpPr>
          <p:cNvPr id="16" name="text-y7fznm">
            <a:extLst xmlns:a="http://schemas.openxmlformats.org/drawingml/2006/main">
              <a:ext uri="{FF2B5EF4-FFF2-40B4-BE49-F238E27FC236}">
                <a16:creationId xmlns:a16="http://schemas.microsoft.com/office/drawing/2014/main" id="{D269EEDF-C2F7-4FB2-9FA5-CAE0B20D405E}"/>
              </a:ext>
            </a:extLst>
          </p:cNvPr>
          <p:cNvSpPr>
            <a:spLocks xmlns:a="http://schemas.openxmlformats.org/drawingml/2006/main" noGrp="1"/>
          </p:cNvSpPr>
          <p:nvPr/>
        </p:nvSpPr>
        <p:spPr>
          <a:xfrm xmlns:a="http://schemas.openxmlformats.org/drawingml/2006/main">
            <a:off x="8448675" y="4524375"/>
            <a:ext cx="1276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0.995</a:t>
            </a:r>
          </a:p>
        </p:txBody>
      </p:sp>
      <p:sp>
        <p:nvSpPr>
          <p:cNvPr id="17" name="text-qtympm">
            <a:extLst xmlns:a="http://schemas.openxmlformats.org/drawingml/2006/main">
              <a:ext uri="{FF2B5EF4-FFF2-40B4-BE49-F238E27FC236}">
                <a16:creationId xmlns:a16="http://schemas.microsoft.com/office/drawing/2014/main" id="{8EC20F76-DC80-4062-B220-C86B90A1B817}"/>
              </a:ext>
            </a:extLst>
          </p:cNvPr>
          <p:cNvSpPr>
            <a:spLocks xmlns:a="http://schemas.openxmlformats.org/drawingml/2006/main" noGrp="1"/>
          </p:cNvSpPr>
          <p:nvPr/>
        </p:nvSpPr>
        <p:spPr>
          <a:xfrm xmlns:a="http://schemas.openxmlformats.org/drawingml/2006/main">
            <a:off x="8448675" y="5019675"/>
            <a:ext cx="1276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1522"/>
                </a:solidFill>
                <a:latin typeface="Helvetica Neue"/>
                <a:ea typeface="Helvetica Neue"/>
                <a:cs typeface="Helvetica Neue"/>
              </a:defRPr>
            </a:pPr>
            <a:r>
              <a:rPr sz="1425" b="1">
                <a:solidFill>
                  <a:srgbClr val="101522"/>
                </a:solidFill>
                <a:latin typeface="Helvetica Neue"/>
                <a:ea typeface="Helvetica Neue"/>
                <a:cs typeface="Helvetica Neue"/>
              </a:rPr>
              <a:t>R²</a:t>
            </a:r>
          </a:p>
        </p:txBody>
      </p:sp>
      <p:sp>
        <p:nvSpPr>
          <p:cNvPr id="18" name="">
            <a:extLst xmlns:a="http://schemas.openxmlformats.org/drawingml/2006/main">
              <a:ext uri="{FF2B5EF4-FFF2-40B4-BE49-F238E27FC236}">
                <a16:creationId xmlns:a16="http://schemas.microsoft.com/office/drawing/2014/main" id="{3483820D-67A3-49FE-89BB-556C206592B6}"/>
              </a:ext>
            </a:extLst>
          </p:cNvPr>
          <p:cNvSpPr>
            <a:spLocks xmlns:a="http://schemas.openxmlformats.org/drawingml/2006/main" noGrp="1"/>
          </p:cNvSpPr>
          <p:nvPr/>
        </p:nvSpPr>
        <p:spPr>
          <a:xfrm xmlns:a="http://schemas.openxmlformats.org/drawingml/2006/main">
            <a:off x="10077450" y="4381500"/>
            <a:ext cx="1657350" cy="1066800"/>
          </a:xfrm>
          <a:prstGeom xmlns:a="http://schemas.openxmlformats.org/drawingml/2006/main" prst="roundRect">
            <a:avLst>
              <a:gd name="adj" fmla="val 14286"/>
            </a:avLst>
          </a:prstGeom>
          <a:solidFill xmlns:a="http://schemas.openxmlformats.org/drawingml/2006/main">
            <a:srgbClr val="F2F2F2"/>
          </a:solidFill>
          <a:ln xmlns:a="http://schemas.openxmlformats.org/drawingml/2006/main" w="9525">
            <a:solidFill>
              <a:srgbClr val="B8BCC4"/>
            </a:solidFill>
            <a:prstDash val="solid"/>
          </a:ln>
        </p:spPr>
      </p:sp>
      <p:sp>
        <p:nvSpPr>
          <p:cNvPr id="19" name="text-075iwz">
            <a:extLst xmlns:a="http://schemas.openxmlformats.org/drawingml/2006/main">
              <a:ext uri="{FF2B5EF4-FFF2-40B4-BE49-F238E27FC236}">
                <a16:creationId xmlns:a16="http://schemas.microsoft.com/office/drawing/2014/main" id="{56223FED-6197-4277-BF3E-27C0FA3597B5}"/>
              </a:ext>
            </a:extLst>
          </p:cNvPr>
          <p:cNvSpPr>
            <a:spLocks xmlns:a="http://schemas.openxmlformats.org/drawingml/2006/main" noGrp="1"/>
          </p:cNvSpPr>
          <p:nvPr/>
        </p:nvSpPr>
        <p:spPr>
          <a:xfrm xmlns:a="http://schemas.openxmlformats.org/drawingml/2006/main">
            <a:off x="10267950" y="4524375"/>
            <a:ext cx="1276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53</a:t>
            </a:r>
          </a:p>
        </p:txBody>
      </p:sp>
      <p:sp>
        <p:nvSpPr>
          <p:cNvPr id="20" name="text-by97at">
            <a:extLst xmlns:a="http://schemas.openxmlformats.org/drawingml/2006/main">
              <a:ext uri="{FF2B5EF4-FFF2-40B4-BE49-F238E27FC236}">
                <a16:creationId xmlns:a16="http://schemas.microsoft.com/office/drawing/2014/main" id="{D7220678-0717-479F-B02A-308D472274F6}"/>
              </a:ext>
            </a:extLst>
          </p:cNvPr>
          <p:cNvSpPr>
            <a:spLocks xmlns:a="http://schemas.openxmlformats.org/drawingml/2006/main" noGrp="1"/>
          </p:cNvSpPr>
          <p:nvPr/>
        </p:nvSpPr>
        <p:spPr>
          <a:xfrm xmlns:a="http://schemas.openxmlformats.org/drawingml/2006/main">
            <a:off x="10267950" y="5019675"/>
            <a:ext cx="1276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1522"/>
                </a:solidFill>
                <a:latin typeface="Helvetica Neue"/>
                <a:ea typeface="Helvetica Neue"/>
                <a:cs typeface="Helvetica Neue"/>
              </a:defRPr>
            </a:pPr>
            <a:r>
              <a:rPr sz="1425" b="1">
                <a:solidFill>
                  <a:srgbClr val="101522"/>
                </a:solidFill>
                <a:latin typeface="Helvetica Neue"/>
                <a:ea typeface="Helvetica Neue"/>
                <a:cs typeface="Helvetica Neue"/>
              </a:rPr>
              <a:t>test days</a:t>
            </a:r>
          </a:p>
        </p:txBody>
      </p:sp>
      <p:sp>
        <p:nvSpPr>
          <p:cNvPr id="21" name="text-1z7iyj">
            <a:extLst xmlns:a="http://schemas.openxmlformats.org/drawingml/2006/main">
              <a:ext uri="{FF2B5EF4-FFF2-40B4-BE49-F238E27FC236}">
                <a16:creationId xmlns:a16="http://schemas.microsoft.com/office/drawing/2014/main" id="{7751931D-BE20-49A0-9C75-AF368C52069E}"/>
              </a:ext>
            </a:extLst>
          </p:cNvPr>
          <p:cNvSpPr>
            <a:spLocks xmlns:a="http://schemas.openxmlformats.org/drawingml/2006/main" noGrp="1"/>
          </p:cNvSpPr>
          <p:nvPr/>
        </p:nvSpPr>
        <p:spPr>
          <a:xfrm xmlns:a="http://schemas.openxmlformats.org/drawingml/2006/main">
            <a:off x="8258175" y="5514975"/>
            <a:ext cx="3476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C44A5A"/>
                </a:solidFill>
                <a:latin typeface="Helvetica Neue"/>
                <a:ea typeface="Helvetica Neue"/>
                <a:cs typeface="Helvetica Neue"/>
              </a:defRPr>
            </a:pPr>
            <a:r>
              <a:rPr sz="1275" b="1">
                <a:solidFill>
                  <a:srgbClr val="C44A5A"/>
                </a:solidFill>
                <a:latin typeface="Helvetica Neue"/>
                <a:ea typeface="Helvetica Neue"/>
                <a:cs typeface="Helvetica Neue"/>
              </a:rPr>
              <a:t>Caution: the high score mainly reflects the synthetic dataset’s designed Q4 jump—not evidence of real-world generalization.</a:t>
            </a:r>
          </a:p>
        </p:txBody>
      </p:sp>
    </p:spTree>
    <p:extLst>
      <p:ext uri="{BB962C8B-B14F-4D97-AF65-F5344CB8AC3E}">
        <p14:creationId xmlns:p14="http://schemas.microsoft.com/office/powerpoint/2010/main" val="483965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610687C-5CF0-455A-B298-D2E6DC6B09D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jq66kb">
            <a:extLst xmlns:a="http://schemas.openxmlformats.org/drawingml/2006/main">
              <a:ext uri="{FF2B5EF4-FFF2-40B4-BE49-F238E27FC236}">
                <a16:creationId xmlns:a16="http://schemas.microsoft.com/office/drawing/2014/main" id="{5B3F55AD-4647-4966-B091-78B637A78C0A}"/>
              </a:ext>
            </a:extLst>
          </p:cNvPr>
          <p:cNvSpPr>
            <a:spLocks xmlns:a="http://schemas.openxmlformats.org/drawingml/2006/main" noGrp="1"/>
          </p:cNvSpPr>
          <p:nvPr/>
        </p:nvSpPr>
        <p:spPr>
          <a:xfrm xmlns:a="http://schemas.openxmlformats.org/drawingml/2006/main">
            <a:off x="457200" y="247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ANOMALY DETECTION</a:t>
            </a:r>
          </a:p>
        </p:txBody>
      </p:sp>
      <p:sp>
        <p:nvSpPr>
          <p:cNvPr id="3" name="text-7kqkc2">
            <a:extLst xmlns:a="http://schemas.openxmlformats.org/drawingml/2006/main">
              <a:ext uri="{FF2B5EF4-FFF2-40B4-BE49-F238E27FC236}">
                <a16:creationId xmlns:a16="http://schemas.microsoft.com/office/drawing/2014/main" id="{CF3C12D6-CCA5-48A1-B8A7-8B7A4BCC9778}"/>
              </a:ext>
            </a:extLst>
          </p:cNvPr>
          <p:cNvSpPr>
            <a:spLocks xmlns:a="http://schemas.openxmlformats.org/drawingml/2006/main" noGrp="1"/>
          </p:cNvSpPr>
          <p:nvPr/>
        </p:nvSpPr>
        <p:spPr>
          <a:xfrm xmlns:a="http://schemas.openxmlformats.org/drawingml/2006/main">
            <a:off x="457200" y="381000"/>
            <a:ext cx="112776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Anomalies are investigative signals—</a:t>
            </a:r>
          </a:p>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not accusations</a:t>
            </a:r>
          </a:p>
        </p:txBody>
      </p:sp>
      <p:sp>
        <p:nvSpPr>
          <p:cNvPr id="4" name="text-594rs6">
            <a:extLst xmlns:a="http://schemas.openxmlformats.org/drawingml/2006/main">
              <a:ext uri="{FF2B5EF4-FFF2-40B4-BE49-F238E27FC236}">
                <a16:creationId xmlns:a16="http://schemas.microsoft.com/office/drawing/2014/main" id="{09002336-BAC1-4D54-86DB-4D26EE80952D}"/>
              </a:ext>
            </a:extLst>
          </p:cNvPr>
          <p:cNvSpPr>
            <a:spLocks xmlns:a="http://schemas.openxmlformats.org/drawingml/2006/main" noGrp="1"/>
          </p:cNvSpPr>
          <p:nvPr/>
        </p:nvSpPr>
        <p:spPr>
          <a:xfrm xmlns:a="http://schemas.openxmlformats.org/drawingml/2006/main">
            <a:off x="476250" y="152400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274"/>
                </a:solidFill>
                <a:latin typeface="Helvetica Neue"/>
                <a:ea typeface="Helvetica Neue"/>
                <a:cs typeface="Helvetica Neue"/>
              </a:defRPr>
            </a:pPr>
            <a:r>
              <a:rPr sz="1575" b="0">
                <a:solidFill>
                  <a:srgbClr val="596274"/>
                </a:solidFill>
                <a:latin typeface="Helvetica Neue"/>
                <a:ea typeface="Helvetica Neue"/>
                <a:cs typeface="Helvetica Neue"/>
              </a:rPr>
              <a:t>Isolation Forest scores price, quantity, order value, and product-relative value.</a:t>
            </a:r>
          </a:p>
        </p:txBody>
      </p:sp>
      <p:sp>
        <p:nvSpPr>
          <p:cNvPr id="5" name="">
            <a:extLst xmlns:a="http://schemas.openxmlformats.org/drawingml/2006/main">
              <a:ext uri="{FF2B5EF4-FFF2-40B4-BE49-F238E27FC236}">
                <a16:creationId xmlns:a16="http://schemas.microsoft.com/office/drawing/2014/main" id="{3C11F75D-EB5E-4B13-8CFB-EDECABAC211D}"/>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text-ea1g2t">
            <a:extLst xmlns:a="http://schemas.openxmlformats.org/drawingml/2006/main">
              <a:ext uri="{FF2B5EF4-FFF2-40B4-BE49-F238E27FC236}">
                <a16:creationId xmlns:a16="http://schemas.microsoft.com/office/drawing/2014/main" id="{1AF421BF-3F85-4BB1-AA5C-C5BDAA50DDAB}"/>
              </a:ext>
            </a:extLst>
          </p:cNvPr>
          <p:cNvSpPr>
            <a:spLocks xmlns:a="http://schemas.openxmlformats.org/drawingml/2006/main" noGrp="1"/>
          </p:cNvSpPr>
          <p:nvPr/>
        </p:nvSpPr>
        <p:spPr>
          <a:xfrm xmlns:a="http://schemas.openxmlformats.org/drawingml/2006/main">
            <a:off x="457200" y="65722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InsightCommerce · Deep Learning · Daffodil International University</a:t>
            </a:r>
          </a:p>
        </p:txBody>
      </p:sp>
      <p:sp>
        <p:nvSpPr>
          <p:cNvPr id="7" name="text-4uy5sy">
            <a:extLst xmlns:a="http://schemas.openxmlformats.org/drawingml/2006/main">
              <a:ext uri="{FF2B5EF4-FFF2-40B4-BE49-F238E27FC236}">
                <a16:creationId xmlns:a16="http://schemas.microsoft.com/office/drawing/2014/main" id="{5BD27D03-2235-457F-BC7C-FA6CBA3358E1}"/>
              </a:ext>
            </a:extLst>
          </p:cNvPr>
          <p:cNvSpPr>
            <a:spLocks xmlns:a="http://schemas.openxmlformats.org/drawingml/2006/main" noGrp="1"/>
          </p:cNvSpPr>
          <p:nvPr/>
        </p:nvSpPr>
        <p:spPr>
          <a:xfrm xmlns:a="http://schemas.openxmlformats.org/drawingml/2006/main">
            <a:off x="11287125" y="656272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09</a:t>
            </a:r>
          </a:p>
        </p:txBody>
      </p:sp>
      <p:sp>
        <p:nvSpPr>
          <p:cNvPr id="8" name="">
            <a:extLst xmlns:a="http://schemas.openxmlformats.org/drawingml/2006/main">
              <a:ext uri="{FF2B5EF4-FFF2-40B4-BE49-F238E27FC236}">
                <a16:creationId xmlns:a16="http://schemas.microsoft.com/office/drawing/2014/main" id="{C32A8DE4-DCF5-465E-A3BE-3053FCA77829}"/>
              </a:ext>
            </a:extLst>
          </p:cNvPr>
          <p:cNvSpPr>
            <a:spLocks xmlns:a="http://schemas.openxmlformats.org/drawingml/2006/main" noGrp="1"/>
          </p:cNvSpPr>
          <p:nvPr/>
        </p:nvSpPr>
        <p:spPr>
          <a:xfrm xmlns:a="http://schemas.openxmlformats.org/drawingml/2006/main">
            <a:off x="457200" y="1952625"/>
            <a:ext cx="4810125" cy="4219575"/>
          </a:xfrm>
          <a:prstGeom xmlns:a="http://schemas.openxmlformats.org/drawingml/2006/main" prst="roundRect">
            <a:avLst>
              <a:gd name="adj" fmla="val 3612"/>
            </a:avLst>
          </a:prstGeom>
          <a:solidFill xmlns:a="http://schemas.openxmlformats.org/drawingml/2006/main">
            <a:srgbClr val="F7F8FA"/>
          </a:solidFill>
          <a:ln xmlns:a="http://schemas.openxmlformats.org/drawingml/2006/main" w="9525">
            <a:solidFill>
              <a:srgbClr val="B8BCC4"/>
            </a:solidFill>
            <a:prstDash val="solid"/>
          </a:ln>
        </p:spPr>
      </p:sp>
      <p:graphicFrame>
        <p:nvGraphicFramePr>
          <p:cNvPr id="36" name="Chart"/>
          <p:cNvGraphicFramePr/>
          <p:nvPr/>
        </p:nvGraphicFramePr>
        <p:xfrm>
          <a:off xmlns:a="http://schemas.openxmlformats.org/drawingml/2006/main" x="895350" y="2266950"/>
          <a:ext xmlns:a="http://schemas.openxmlformats.org/drawingml/2006/main" cx="3924300" cy="3009900"/>
        </p:xfrm>
        <a:graphic xmlns:a="http://schemas.openxmlformats.org/drawingml/2006/main">
          <a:graphicData uri="http://schemas.openxmlformats.org/drawingml/2006/chart">
            <c:chart xmlns:r="http://schemas.openxmlformats.org/officeDocument/2006/relationships" xmlns:c="http://schemas.openxmlformats.org/drawingml/2006/chart" r:id="R97cd929faef84252"/>
          </a:graphicData>
        </a:graphic>
      </p:graphicFrame>
      <p:sp>
        <p:nvSpPr>
          <p:cNvPr id="10" name="text-rfa18i">
            <a:extLst xmlns:a="http://schemas.openxmlformats.org/drawingml/2006/main">
              <a:ext uri="{FF2B5EF4-FFF2-40B4-BE49-F238E27FC236}">
                <a16:creationId xmlns:a16="http://schemas.microsoft.com/office/drawing/2014/main" id="{DADC0599-FCF0-4C32-BCD2-10EBA2B87015}"/>
              </a:ext>
            </a:extLst>
          </p:cNvPr>
          <p:cNvSpPr>
            <a:spLocks xmlns:a="http://schemas.openxmlformats.org/drawingml/2006/main" noGrp="1"/>
          </p:cNvSpPr>
          <p:nvPr/>
        </p:nvSpPr>
        <p:spPr>
          <a:xfrm xmlns:a="http://schemas.openxmlformats.org/drawingml/2006/main">
            <a:off x="1781175" y="3295650"/>
            <a:ext cx="2190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375" b="1">
                <a:solidFill>
                  <a:srgbClr val="3D8DFF"/>
                </a:solidFill>
                <a:latin typeface="Helvetica Neue"/>
                <a:ea typeface="Helvetica Neue"/>
                <a:cs typeface="Helvetica Neue"/>
              </a:defRPr>
            </a:pPr>
            <a:r>
              <a:rPr sz="3375" b="1">
                <a:solidFill>
                  <a:srgbClr val="3D8DFF"/>
                </a:solidFill>
                <a:latin typeface="Helvetica Neue"/>
                <a:ea typeface="Helvetica Neue"/>
                <a:cs typeface="Helvetica Neue"/>
              </a:rPr>
              <a:t>0.93%</a:t>
            </a:r>
          </a:p>
        </p:txBody>
      </p:sp>
      <p:sp>
        <p:nvSpPr>
          <p:cNvPr id="11" name="text-e8jiat">
            <a:extLst xmlns:a="http://schemas.openxmlformats.org/drawingml/2006/main">
              <a:ext uri="{FF2B5EF4-FFF2-40B4-BE49-F238E27FC236}">
                <a16:creationId xmlns:a16="http://schemas.microsoft.com/office/drawing/2014/main" id="{83DB1690-55A7-4457-83E2-45CA4AA4674E}"/>
              </a:ext>
            </a:extLst>
          </p:cNvPr>
          <p:cNvSpPr>
            <a:spLocks xmlns:a="http://schemas.openxmlformats.org/drawingml/2006/main" noGrp="1"/>
          </p:cNvSpPr>
          <p:nvPr/>
        </p:nvSpPr>
        <p:spPr>
          <a:xfrm xmlns:a="http://schemas.openxmlformats.org/drawingml/2006/main">
            <a:off x="1352550" y="3905250"/>
            <a:ext cx="304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101522"/>
                </a:solidFill>
                <a:latin typeface="Helvetica Neue"/>
                <a:ea typeface="Helvetica Neue"/>
                <a:cs typeface="Helvetica Neue"/>
              </a:defRPr>
            </a:pPr>
            <a:r>
              <a:rPr sz="1425" b="1">
                <a:solidFill>
                  <a:srgbClr val="101522"/>
                </a:solidFill>
                <a:latin typeface="Helvetica Neue"/>
                <a:ea typeface="Helvetica Neue"/>
                <a:cs typeface="Helvetica Neue"/>
              </a:rPr>
              <a:t>1,006 of 108,300 rows</a:t>
            </a:r>
          </a:p>
        </p:txBody>
      </p:sp>
      <p:sp>
        <p:nvSpPr>
          <p:cNvPr id="12" name="text-ftnwnt">
            <a:extLst xmlns:a="http://schemas.openxmlformats.org/drawingml/2006/main">
              <a:ext uri="{FF2B5EF4-FFF2-40B4-BE49-F238E27FC236}">
                <a16:creationId xmlns:a16="http://schemas.microsoft.com/office/drawing/2014/main" id="{0897E1B0-9E14-4C70-BAB4-9FF438088EF2}"/>
              </a:ext>
            </a:extLst>
          </p:cNvPr>
          <p:cNvSpPr>
            <a:spLocks xmlns:a="http://schemas.openxmlformats.org/drawingml/2006/main" noGrp="1"/>
          </p:cNvSpPr>
          <p:nvPr/>
        </p:nvSpPr>
        <p:spPr>
          <a:xfrm xmlns:a="http://schemas.openxmlformats.org/drawingml/2006/main">
            <a:off x="952500" y="549592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Every flag includes a readable reason code.</a:t>
            </a:r>
          </a:p>
        </p:txBody>
      </p:sp>
      <p:sp>
        <p:nvSpPr>
          <p:cNvPr id="13" name="text-m80b3r">
            <a:extLst xmlns:a="http://schemas.openxmlformats.org/drawingml/2006/main">
              <a:ext uri="{FF2B5EF4-FFF2-40B4-BE49-F238E27FC236}">
                <a16:creationId xmlns:a16="http://schemas.microsoft.com/office/drawing/2014/main" id="{662F5C01-5CB6-49D3-ABEA-D4A1F1EDAF1F}"/>
              </a:ext>
            </a:extLst>
          </p:cNvPr>
          <p:cNvSpPr>
            <a:spLocks xmlns:a="http://schemas.openxmlformats.org/drawingml/2006/main" noGrp="1"/>
          </p:cNvSpPr>
          <p:nvPr/>
        </p:nvSpPr>
        <p:spPr>
          <a:xfrm xmlns:a="http://schemas.openxmlformats.org/drawingml/2006/main">
            <a:off x="5686425" y="20574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01522"/>
                </a:solidFill>
                <a:latin typeface="Helvetica Neue"/>
                <a:ea typeface="Helvetica Neue"/>
                <a:cs typeface="Helvetica Neue"/>
              </a:defRPr>
            </a:pPr>
            <a:r>
              <a:rPr sz="2250" b="1">
                <a:solidFill>
                  <a:srgbClr val="101522"/>
                </a:solidFill>
                <a:latin typeface="Helvetica Neue"/>
                <a:ea typeface="Helvetica Neue"/>
                <a:cs typeface="Helvetica Neue"/>
              </a:rPr>
              <a:t>Most common reasons</a:t>
            </a:r>
          </a:p>
        </p:txBody>
      </p:sp>
      <p:sp>
        <p:nvSpPr>
          <p:cNvPr id="14" name="">
            <a:extLst xmlns:a="http://schemas.openxmlformats.org/drawingml/2006/main">
              <a:ext uri="{FF2B5EF4-FFF2-40B4-BE49-F238E27FC236}">
                <a16:creationId xmlns:a16="http://schemas.microsoft.com/office/drawing/2014/main" id="{91FB25B7-63FE-462C-9038-7AF079AA32FA}"/>
              </a:ext>
            </a:extLst>
          </p:cNvPr>
          <p:cNvSpPr>
            <a:spLocks xmlns:a="http://schemas.openxmlformats.org/drawingml/2006/main" noGrp="1"/>
          </p:cNvSpPr>
          <p:nvPr/>
        </p:nvSpPr>
        <p:spPr>
          <a:xfrm xmlns:a="http://schemas.openxmlformats.org/drawingml/2006/main">
            <a:off x="5686425" y="2571750"/>
            <a:ext cx="914400" cy="628650"/>
          </a:xfrm>
          <a:prstGeom xmlns:a="http://schemas.openxmlformats.org/drawingml/2006/main" prst="roundRect">
            <a:avLst>
              <a:gd name="adj" fmla="val 18182"/>
            </a:avLst>
          </a:prstGeom>
          <a:solidFill xmlns:a="http://schemas.openxmlformats.org/drawingml/2006/main">
            <a:srgbClr val="EAF5FB"/>
          </a:solidFill>
          <a:ln xmlns:a="http://schemas.openxmlformats.org/drawingml/2006/main" w="9525">
            <a:solidFill>
              <a:srgbClr val="3D8DFF"/>
            </a:solidFill>
            <a:prstDash val="solid"/>
          </a:ln>
        </p:spPr>
      </p:sp>
      <p:sp>
        <p:nvSpPr>
          <p:cNvPr id="15" name="text-aoy27o">
            <a:extLst xmlns:a="http://schemas.openxmlformats.org/drawingml/2006/main">
              <a:ext uri="{FF2B5EF4-FFF2-40B4-BE49-F238E27FC236}">
                <a16:creationId xmlns:a16="http://schemas.microsoft.com/office/drawing/2014/main" id="{49F84409-1357-4529-ADA6-4A3ABEE692A8}"/>
              </a:ext>
            </a:extLst>
          </p:cNvPr>
          <p:cNvSpPr>
            <a:spLocks xmlns:a="http://schemas.openxmlformats.org/drawingml/2006/main" noGrp="1"/>
          </p:cNvSpPr>
          <p:nvPr/>
        </p:nvSpPr>
        <p:spPr>
          <a:xfrm xmlns:a="http://schemas.openxmlformats.org/drawingml/2006/main">
            <a:off x="5686425" y="2714625"/>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574</a:t>
            </a:r>
          </a:p>
        </p:txBody>
      </p:sp>
      <p:sp>
        <p:nvSpPr>
          <p:cNvPr id="16" name="text-hl3w3z">
            <a:extLst xmlns:a="http://schemas.openxmlformats.org/drawingml/2006/main">
              <a:ext uri="{FF2B5EF4-FFF2-40B4-BE49-F238E27FC236}">
                <a16:creationId xmlns:a16="http://schemas.microsoft.com/office/drawing/2014/main" id="{76F112B5-27A0-40A3-86B8-4511D8ABE2C8}"/>
              </a:ext>
            </a:extLst>
          </p:cNvPr>
          <p:cNvSpPr>
            <a:spLocks xmlns:a="http://schemas.openxmlformats.org/drawingml/2006/main" noGrp="1"/>
          </p:cNvSpPr>
          <p:nvPr/>
        </p:nvSpPr>
        <p:spPr>
          <a:xfrm xmlns:a="http://schemas.openxmlformats.org/drawingml/2006/main">
            <a:off x="6819900" y="2638425"/>
            <a:ext cx="4457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01522"/>
                </a:solidFill>
                <a:latin typeface="Helvetica Neue"/>
                <a:ea typeface="Helvetica Neue"/>
                <a:cs typeface="Helvetica Neue"/>
              </a:defRPr>
            </a:pPr>
            <a:r>
              <a:rPr sz="1425" b="0">
                <a:solidFill>
                  <a:srgbClr val="101522"/>
                </a:solidFill>
                <a:latin typeface="Helvetica Neue"/>
                <a:ea typeface="Helvetica Neue"/>
                <a:cs typeface="Helvetica Neue"/>
              </a:rPr>
              <a:t>Unusual multivariate price-and-quantity combination</a:t>
            </a:r>
          </a:p>
        </p:txBody>
      </p:sp>
      <p:sp>
        <p:nvSpPr>
          <p:cNvPr id="17" name="">
            <a:extLst xmlns:a="http://schemas.openxmlformats.org/drawingml/2006/main">
              <a:ext uri="{FF2B5EF4-FFF2-40B4-BE49-F238E27FC236}">
                <a16:creationId xmlns:a16="http://schemas.microsoft.com/office/drawing/2014/main" id="{450284DA-8C5E-402E-99D2-0584A14B3FFD}"/>
              </a:ext>
            </a:extLst>
          </p:cNvPr>
          <p:cNvSpPr>
            <a:spLocks xmlns:a="http://schemas.openxmlformats.org/drawingml/2006/main" noGrp="1"/>
          </p:cNvSpPr>
          <p:nvPr/>
        </p:nvSpPr>
        <p:spPr>
          <a:xfrm xmlns:a="http://schemas.openxmlformats.org/drawingml/2006/main">
            <a:off x="5686425" y="3371850"/>
            <a:ext cx="914400" cy="628650"/>
          </a:xfrm>
          <a:prstGeom xmlns:a="http://schemas.openxmlformats.org/drawingml/2006/main" prst="roundRect">
            <a:avLst>
              <a:gd name="adj" fmla="val 18182"/>
            </a:avLst>
          </a:prstGeom>
          <a:solidFill xmlns:a="http://schemas.openxmlformats.org/drawingml/2006/main">
            <a:srgbClr val="EAF5FB"/>
          </a:solidFill>
          <a:ln xmlns:a="http://schemas.openxmlformats.org/drawingml/2006/main" w="9525">
            <a:solidFill>
              <a:srgbClr val="3D8DFF"/>
            </a:solidFill>
            <a:prstDash val="solid"/>
          </a:ln>
        </p:spPr>
      </p:sp>
      <p:sp>
        <p:nvSpPr>
          <p:cNvPr id="18" name="text-iedapk">
            <a:extLst xmlns:a="http://schemas.openxmlformats.org/drawingml/2006/main">
              <a:ext uri="{FF2B5EF4-FFF2-40B4-BE49-F238E27FC236}">
                <a16:creationId xmlns:a16="http://schemas.microsoft.com/office/drawing/2014/main" id="{9491E0D9-5337-44F3-94BF-DA21BC8863C6}"/>
              </a:ext>
            </a:extLst>
          </p:cNvPr>
          <p:cNvSpPr>
            <a:spLocks xmlns:a="http://schemas.openxmlformats.org/drawingml/2006/main" noGrp="1"/>
          </p:cNvSpPr>
          <p:nvPr/>
        </p:nvSpPr>
        <p:spPr>
          <a:xfrm xmlns:a="http://schemas.openxmlformats.org/drawingml/2006/main">
            <a:off x="5686425" y="3514725"/>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210</a:t>
            </a:r>
          </a:p>
        </p:txBody>
      </p:sp>
      <p:sp>
        <p:nvSpPr>
          <p:cNvPr id="19" name="text-xpre79">
            <a:extLst xmlns:a="http://schemas.openxmlformats.org/drawingml/2006/main">
              <a:ext uri="{FF2B5EF4-FFF2-40B4-BE49-F238E27FC236}">
                <a16:creationId xmlns:a16="http://schemas.microsoft.com/office/drawing/2014/main" id="{857786CC-BBE0-40D5-AC47-B012E7D2985C}"/>
              </a:ext>
            </a:extLst>
          </p:cNvPr>
          <p:cNvSpPr>
            <a:spLocks xmlns:a="http://schemas.openxmlformats.org/drawingml/2006/main" noGrp="1"/>
          </p:cNvSpPr>
          <p:nvPr/>
        </p:nvSpPr>
        <p:spPr>
          <a:xfrm xmlns:a="http://schemas.openxmlformats.org/drawingml/2006/main">
            <a:off x="6819900" y="3438525"/>
            <a:ext cx="4457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01522"/>
                </a:solidFill>
                <a:latin typeface="Helvetica Neue"/>
                <a:ea typeface="Helvetica Neue"/>
                <a:cs typeface="Helvetica Neue"/>
              </a:defRPr>
            </a:pPr>
            <a:r>
              <a:rPr sz="1425" b="0">
                <a:solidFill>
                  <a:srgbClr val="101522"/>
                </a:solidFill>
                <a:latin typeface="Helvetica Neue"/>
                <a:ea typeface="Helvetica Neue"/>
                <a:cs typeface="Helvetica Neue"/>
              </a:rPr>
              <a:t>High value + premium price + above-product norm + max quantity</a:t>
            </a:r>
          </a:p>
        </p:txBody>
      </p:sp>
      <p:sp>
        <p:nvSpPr>
          <p:cNvPr id="20" name="">
            <a:extLst xmlns:a="http://schemas.openxmlformats.org/drawingml/2006/main">
              <a:ext uri="{FF2B5EF4-FFF2-40B4-BE49-F238E27FC236}">
                <a16:creationId xmlns:a16="http://schemas.microsoft.com/office/drawing/2014/main" id="{6A09B585-16B1-4B3A-9DE4-D9157D98BF2E}"/>
              </a:ext>
            </a:extLst>
          </p:cNvPr>
          <p:cNvSpPr>
            <a:spLocks xmlns:a="http://schemas.openxmlformats.org/drawingml/2006/main" noGrp="1"/>
          </p:cNvSpPr>
          <p:nvPr/>
        </p:nvSpPr>
        <p:spPr>
          <a:xfrm xmlns:a="http://schemas.openxmlformats.org/drawingml/2006/main">
            <a:off x="5686425" y="4171950"/>
            <a:ext cx="914400" cy="628650"/>
          </a:xfrm>
          <a:prstGeom xmlns:a="http://schemas.openxmlformats.org/drawingml/2006/main" prst="roundRect">
            <a:avLst>
              <a:gd name="adj" fmla="val 18182"/>
            </a:avLst>
          </a:prstGeom>
          <a:solidFill xmlns:a="http://schemas.openxmlformats.org/drawingml/2006/main">
            <a:srgbClr val="EAF5FB"/>
          </a:solidFill>
          <a:ln xmlns:a="http://schemas.openxmlformats.org/drawingml/2006/main" w="9525">
            <a:solidFill>
              <a:srgbClr val="3D8DFF"/>
            </a:solidFill>
            <a:prstDash val="solid"/>
          </a:ln>
        </p:spPr>
      </p:sp>
      <p:sp>
        <p:nvSpPr>
          <p:cNvPr id="21" name="text-91dp94">
            <a:extLst xmlns:a="http://schemas.openxmlformats.org/drawingml/2006/main">
              <a:ext uri="{FF2B5EF4-FFF2-40B4-BE49-F238E27FC236}">
                <a16:creationId xmlns:a16="http://schemas.microsoft.com/office/drawing/2014/main" id="{045EBA2D-4604-4B3F-A178-B9E5D64D896E}"/>
              </a:ext>
            </a:extLst>
          </p:cNvPr>
          <p:cNvSpPr>
            <a:spLocks xmlns:a="http://schemas.openxmlformats.org/drawingml/2006/main" noGrp="1"/>
          </p:cNvSpPr>
          <p:nvPr/>
        </p:nvSpPr>
        <p:spPr>
          <a:xfrm xmlns:a="http://schemas.openxmlformats.org/drawingml/2006/main">
            <a:off x="5686425" y="4314825"/>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116</a:t>
            </a:r>
          </a:p>
        </p:txBody>
      </p:sp>
      <p:sp>
        <p:nvSpPr>
          <p:cNvPr id="22" name="text-kx1see">
            <a:extLst xmlns:a="http://schemas.openxmlformats.org/drawingml/2006/main">
              <a:ext uri="{FF2B5EF4-FFF2-40B4-BE49-F238E27FC236}">
                <a16:creationId xmlns:a16="http://schemas.microsoft.com/office/drawing/2014/main" id="{E9874E59-68B6-4F56-8C6F-D3B94B8F02BA}"/>
              </a:ext>
            </a:extLst>
          </p:cNvPr>
          <p:cNvSpPr>
            <a:spLocks xmlns:a="http://schemas.openxmlformats.org/drawingml/2006/main" noGrp="1"/>
          </p:cNvSpPr>
          <p:nvPr/>
        </p:nvSpPr>
        <p:spPr>
          <a:xfrm xmlns:a="http://schemas.openxmlformats.org/drawingml/2006/main">
            <a:off x="6819900" y="4238625"/>
            <a:ext cx="4457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01522"/>
                </a:solidFill>
                <a:latin typeface="Helvetica Neue"/>
                <a:ea typeface="Helvetica Neue"/>
                <a:cs typeface="Helvetica Neue"/>
              </a:defRPr>
            </a:pPr>
            <a:r>
              <a:rPr sz="1425" b="0">
                <a:solidFill>
                  <a:srgbClr val="101522"/>
                </a:solidFill>
                <a:latin typeface="Helvetica Neue"/>
                <a:ea typeface="Helvetica Neue"/>
                <a:cs typeface="Helvetica Neue"/>
              </a:rPr>
              <a:t>Maximum observed quantity</a:t>
            </a:r>
          </a:p>
        </p:txBody>
      </p:sp>
      <p:sp>
        <p:nvSpPr>
          <p:cNvPr id="23" name="">
            <a:extLst xmlns:a="http://schemas.openxmlformats.org/drawingml/2006/main">
              <a:ext uri="{FF2B5EF4-FFF2-40B4-BE49-F238E27FC236}">
                <a16:creationId xmlns:a16="http://schemas.microsoft.com/office/drawing/2014/main" id="{833DC54B-9A66-40E6-9B98-FCBC0E7F93B4}"/>
              </a:ext>
            </a:extLst>
          </p:cNvPr>
          <p:cNvSpPr>
            <a:spLocks xmlns:a="http://schemas.openxmlformats.org/drawingml/2006/main" noGrp="1"/>
          </p:cNvSpPr>
          <p:nvPr/>
        </p:nvSpPr>
        <p:spPr>
          <a:xfrm xmlns:a="http://schemas.openxmlformats.org/drawingml/2006/main">
            <a:off x="5686425" y="4972050"/>
            <a:ext cx="914400" cy="628650"/>
          </a:xfrm>
          <a:prstGeom xmlns:a="http://schemas.openxmlformats.org/drawingml/2006/main" prst="roundRect">
            <a:avLst>
              <a:gd name="adj" fmla="val 18182"/>
            </a:avLst>
          </a:prstGeom>
          <a:solidFill xmlns:a="http://schemas.openxmlformats.org/drawingml/2006/main">
            <a:srgbClr val="EAF5FB"/>
          </a:solidFill>
          <a:ln xmlns:a="http://schemas.openxmlformats.org/drawingml/2006/main" w="9525">
            <a:solidFill>
              <a:srgbClr val="3D8DFF"/>
            </a:solidFill>
            <a:prstDash val="solid"/>
          </a:ln>
        </p:spPr>
      </p:sp>
      <p:sp>
        <p:nvSpPr>
          <p:cNvPr id="24" name="text-r7wpkr">
            <a:extLst xmlns:a="http://schemas.openxmlformats.org/drawingml/2006/main">
              <a:ext uri="{FF2B5EF4-FFF2-40B4-BE49-F238E27FC236}">
                <a16:creationId xmlns:a16="http://schemas.microsoft.com/office/drawing/2014/main" id="{8D4369E3-6F9D-44EA-9A8A-466A4CDBF0CD}"/>
              </a:ext>
            </a:extLst>
          </p:cNvPr>
          <p:cNvSpPr>
            <a:spLocks xmlns:a="http://schemas.openxmlformats.org/drawingml/2006/main" noGrp="1"/>
          </p:cNvSpPr>
          <p:nvPr/>
        </p:nvSpPr>
        <p:spPr>
          <a:xfrm xmlns:a="http://schemas.openxmlformats.org/drawingml/2006/main">
            <a:off x="5686425" y="5114925"/>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106</a:t>
            </a:r>
          </a:p>
        </p:txBody>
      </p:sp>
      <p:sp>
        <p:nvSpPr>
          <p:cNvPr id="25" name="text-aq8hsh">
            <a:extLst xmlns:a="http://schemas.openxmlformats.org/drawingml/2006/main">
              <a:ext uri="{FF2B5EF4-FFF2-40B4-BE49-F238E27FC236}">
                <a16:creationId xmlns:a16="http://schemas.microsoft.com/office/drawing/2014/main" id="{3E01671B-743F-4E60-97F5-FC6D3B4CA2F1}"/>
              </a:ext>
            </a:extLst>
          </p:cNvPr>
          <p:cNvSpPr>
            <a:spLocks xmlns:a="http://schemas.openxmlformats.org/drawingml/2006/main" noGrp="1"/>
          </p:cNvSpPr>
          <p:nvPr/>
        </p:nvSpPr>
        <p:spPr>
          <a:xfrm xmlns:a="http://schemas.openxmlformats.org/drawingml/2006/main">
            <a:off x="6819900" y="5038725"/>
            <a:ext cx="4457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01522"/>
                </a:solidFill>
                <a:latin typeface="Helvetica Neue"/>
                <a:ea typeface="Helvetica Neue"/>
                <a:cs typeface="Helvetica Neue"/>
              </a:defRPr>
            </a:pPr>
            <a:r>
              <a:rPr sz="1425" b="0">
                <a:solidFill>
                  <a:srgbClr val="101522"/>
                </a:solidFill>
                <a:latin typeface="Helvetica Neue"/>
                <a:ea typeface="Helvetica Neue"/>
                <a:cs typeface="Helvetica Neue"/>
              </a:rPr>
              <a:t>High value + above-product norm + max quantity</a:t>
            </a:r>
          </a:p>
        </p:txBody>
      </p:sp>
      <p:sp>
        <p:nvSpPr>
          <p:cNvPr id="26" name="">
            <a:extLst xmlns:a="http://schemas.openxmlformats.org/drawingml/2006/main">
              <a:ext uri="{FF2B5EF4-FFF2-40B4-BE49-F238E27FC236}">
                <a16:creationId xmlns:a16="http://schemas.microsoft.com/office/drawing/2014/main" id="{9C7227F9-FCCA-4D7D-9B5A-E234DD5D90B6}"/>
              </a:ext>
            </a:extLst>
          </p:cNvPr>
          <p:cNvSpPr>
            <a:spLocks xmlns:a="http://schemas.openxmlformats.org/drawingml/2006/main" noGrp="1"/>
          </p:cNvSpPr>
          <p:nvPr/>
        </p:nvSpPr>
        <p:spPr>
          <a:xfrm xmlns:a="http://schemas.openxmlformats.org/drawingml/2006/main">
            <a:off x="5686425" y="5667375"/>
            <a:ext cx="5591175" cy="495300"/>
          </a:xfrm>
          <a:prstGeom xmlns:a="http://schemas.openxmlformats.org/drawingml/2006/main" prst="roundRect">
            <a:avLst>
              <a:gd name="adj" fmla="val 23077"/>
            </a:avLst>
          </a:prstGeom>
          <a:solidFill xmlns:a="http://schemas.openxmlformats.org/drawingml/2006/main">
            <a:srgbClr val="FFF1C9"/>
          </a:solidFill>
          <a:ln xmlns:a="http://schemas.openxmlformats.org/drawingml/2006/main" w="9525">
            <a:solidFill>
              <a:srgbClr val="C37A00"/>
            </a:solidFill>
            <a:prstDash val="solid"/>
          </a:ln>
        </p:spPr>
      </p:sp>
      <p:sp>
        <p:nvSpPr>
          <p:cNvPr id="27" name="text-ve3od7">
            <a:extLst xmlns:a="http://schemas.openxmlformats.org/drawingml/2006/main">
              <a:ext uri="{FF2B5EF4-FFF2-40B4-BE49-F238E27FC236}">
                <a16:creationId xmlns:a16="http://schemas.microsoft.com/office/drawing/2014/main" id="{1CA59F8D-035D-46D1-B5C3-DFF9D94A1EAB}"/>
              </a:ext>
            </a:extLst>
          </p:cNvPr>
          <p:cNvSpPr>
            <a:spLocks xmlns:a="http://schemas.openxmlformats.org/drawingml/2006/main" noGrp="1"/>
          </p:cNvSpPr>
          <p:nvPr/>
        </p:nvSpPr>
        <p:spPr>
          <a:xfrm xmlns:a="http://schemas.openxmlformats.org/drawingml/2006/main">
            <a:off x="5876925" y="5810250"/>
            <a:ext cx="52101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C37A00"/>
                </a:solidFill>
                <a:latin typeface="Helvetica Neue"/>
                <a:ea typeface="Helvetica Neue"/>
                <a:cs typeface="Helvetica Neue"/>
              </a:defRPr>
            </a:pPr>
            <a:r>
              <a:rPr sz="1350" b="1">
                <a:solidFill>
                  <a:srgbClr val="C37A00"/>
                </a:solidFill>
                <a:latin typeface="Helvetica Neue"/>
                <a:ea typeface="Helvetica Neue"/>
                <a:cs typeface="Helvetica Neue"/>
              </a:rPr>
              <a:t>A flag is a prompt to investigate—not proof of fraud or error.</a:t>
            </a:r>
          </a:p>
        </p:txBody>
      </p:sp>
    </p:spTree>
    <p:extLst>
      <p:ext uri="{BB962C8B-B14F-4D97-AF65-F5344CB8AC3E}">
        <p14:creationId xmlns:p14="http://schemas.microsoft.com/office/powerpoint/2010/main" val="19877546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0B5E0AC-DF3B-443A-9D82-AE7287A9D21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2v0kr3">
            <a:extLst xmlns:a="http://schemas.openxmlformats.org/drawingml/2006/main">
              <a:ext uri="{FF2B5EF4-FFF2-40B4-BE49-F238E27FC236}">
                <a16:creationId xmlns:a16="http://schemas.microsoft.com/office/drawing/2014/main" id="{1A288F7F-CF2B-44FC-B3A7-B2D30583FD58}"/>
              </a:ext>
            </a:extLst>
          </p:cNvPr>
          <p:cNvSpPr>
            <a:spLocks xmlns:a="http://schemas.openxmlformats.org/drawingml/2006/main" noGrp="1"/>
          </p:cNvSpPr>
          <p:nvPr/>
        </p:nvSpPr>
        <p:spPr>
          <a:xfrm xmlns:a="http://schemas.openxmlformats.org/drawingml/2006/main">
            <a:off x="457200" y="247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TESTING AND BENCHMARKS</a:t>
            </a:r>
          </a:p>
        </p:txBody>
      </p:sp>
      <p:sp>
        <p:nvSpPr>
          <p:cNvPr id="3" name="text-8zm32x">
            <a:extLst xmlns:a="http://schemas.openxmlformats.org/drawingml/2006/main">
              <a:ext uri="{FF2B5EF4-FFF2-40B4-BE49-F238E27FC236}">
                <a16:creationId xmlns:a16="http://schemas.microsoft.com/office/drawing/2014/main" id="{F254B81D-C8B6-412F-83E6-910EC22356C4}"/>
              </a:ext>
            </a:extLst>
          </p:cNvPr>
          <p:cNvSpPr>
            <a:spLocks xmlns:a="http://schemas.openxmlformats.org/drawingml/2006/main" noGrp="1"/>
          </p:cNvSpPr>
          <p:nvPr/>
        </p:nvSpPr>
        <p:spPr>
          <a:xfrm xmlns:a="http://schemas.openxmlformats.org/drawingml/2006/main">
            <a:off x="457200" y="504825"/>
            <a:ext cx="112776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01522"/>
                </a:solidFill>
                <a:latin typeface="Helvetica Neue"/>
                <a:ea typeface="Helvetica Neue"/>
                <a:cs typeface="Helvetica Neue"/>
              </a:defRPr>
            </a:pPr>
            <a:r>
              <a:rPr sz="3600" b="1">
                <a:solidFill>
                  <a:srgbClr val="101522"/>
                </a:solidFill>
                <a:latin typeface="Helvetica Neue"/>
                <a:ea typeface="Helvetica Neue"/>
                <a:cs typeface="Helvetica Neue"/>
              </a:rPr>
              <a:t>The project is backed by repeatable checks</a:t>
            </a:r>
          </a:p>
        </p:txBody>
      </p:sp>
      <p:sp>
        <p:nvSpPr>
          <p:cNvPr id="4" name="text-b8kkg9">
            <a:extLst xmlns:a="http://schemas.openxmlformats.org/drawingml/2006/main">
              <a:ext uri="{FF2B5EF4-FFF2-40B4-BE49-F238E27FC236}">
                <a16:creationId xmlns:a16="http://schemas.microsoft.com/office/drawing/2014/main" id="{5DE399B5-40B5-42F5-96DF-793F1B1C169E}"/>
              </a:ext>
            </a:extLst>
          </p:cNvPr>
          <p:cNvSpPr>
            <a:spLocks xmlns:a="http://schemas.openxmlformats.org/drawingml/2006/main" noGrp="1"/>
          </p:cNvSpPr>
          <p:nvPr/>
        </p:nvSpPr>
        <p:spPr>
          <a:xfrm xmlns:a="http://schemas.openxmlformats.org/drawingml/2006/main">
            <a:off x="476250" y="116205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274"/>
                </a:solidFill>
                <a:latin typeface="Helvetica Neue"/>
                <a:ea typeface="Helvetica Neue"/>
                <a:cs typeface="Helvetica Neue"/>
              </a:defRPr>
            </a:pPr>
            <a:r>
              <a:rPr sz="1575" b="0">
                <a:solidFill>
                  <a:srgbClr val="596274"/>
                </a:solidFill>
                <a:latin typeface="Helvetica Neue"/>
                <a:ea typeface="Helvetica Neue"/>
                <a:cs typeface="Helvetica Neue"/>
              </a:rPr>
              <a:t>Functional tests, query correctness, and performance are recorded as project evidence.</a:t>
            </a:r>
          </a:p>
        </p:txBody>
      </p:sp>
      <p:sp>
        <p:nvSpPr>
          <p:cNvPr id="5" name="">
            <a:extLst xmlns:a="http://schemas.openxmlformats.org/drawingml/2006/main">
              <a:ext uri="{FF2B5EF4-FFF2-40B4-BE49-F238E27FC236}">
                <a16:creationId xmlns:a16="http://schemas.microsoft.com/office/drawing/2014/main" id="{9FD4F8AF-1F9E-40EC-8E81-19E57AE0BFA3}"/>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text-ynomoh">
            <a:extLst xmlns:a="http://schemas.openxmlformats.org/drawingml/2006/main">
              <a:ext uri="{FF2B5EF4-FFF2-40B4-BE49-F238E27FC236}">
                <a16:creationId xmlns:a16="http://schemas.microsoft.com/office/drawing/2014/main" id="{6E4D6F5A-5362-403A-9A10-1EC136F867B1}"/>
              </a:ext>
            </a:extLst>
          </p:cNvPr>
          <p:cNvSpPr>
            <a:spLocks xmlns:a="http://schemas.openxmlformats.org/drawingml/2006/main" noGrp="1"/>
          </p:cNvSpPr>
          <p:nvPr/>
        </p:nvSpPr>
        <p:spPr>
          <a:xfrm xmlns:a="http://schemas.openxmlformats.org/drawingml/2006/main">
            <a:off x="457200" y="6572250"/>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InsightCommerce · Deep Learning · Daffodil International University</a:t>
            </a:r>
          </a:p>
        </p:txBody>
      </p:sp>
      <p:sp>
        <p:nvSpPr>
          <p:cNvPr id="7" name="text-3mgu8e">
            <a:extLst xmlns:a="http://schemas.openxmlformats.org/drawingml/2006/main">
              <a:ext uri="{FF2B5EF4-FFF2-40B4-BE49-F238E27FC236}">
                <a16:creationId xmlns:a16="http://schemas.microsoft.com/office/drawing/2014/main" id="{57BBF0B6-E3AA-4EF1-836B-521B48DCE06C}"/>
              </a:ext>
            </a:extLst>
          </p:cNvPr>
          <p:cNvSpPr>
            <a:spLocks xmlns:a="http://schemas.openxmlformats.org/drawingml/2006/main" noGrp="1"/>
          </p:cNvSpPr>
          <p:nvPr/>
        </p:nvSpPr>
        <p:spPr>
          <a:xfrm xmlns:a="http://schemas.openxmlformats.org/drawingml/2006/main">
            <a:off x="11287125" y="6562725"/>
            <a:ext cx="4476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0">
                <a:solidFill>
                  <a:srgbClr val="596274"/>
                </a:solidFill>
                <a:latin typeface="Helvetica Neue"/>
                <a:ea typeface="Helvetica Neue"/>
                <a:cs typeface="Helvetica Neue"/>
              </a:defRPr>
            </a:pPr>
            <a:r>
              <a:rPr sz="900" b="0">
                <a:solidFill>
                  <a:srgbClr val="596274"/>
                </a:solidFill>
                <a:latin typeface="Helvetica Neue"/>
                <a:ea typeface="Helvetica Neue"/>
                <a:cs typeface="Helvetica Neue"/>
              </a:rPr>
              <a:t>10</a:t>
            </a:r>
          </a:p>
        </p:txBody>
      </p:sp>
      <p:sp>
        <p:nvSpPr>
          <p:cNvPr id="8" name="">
            <a:extLst xmlns:a="http://schemas.openxmlformats.org/drawingml/2006/main">
              <a:ext uri="{FF2B5EF4-FFF2-40B4-BE49-F238E27FC236}">
                <a16:creationId xmlns:a16="http://schemas.microsoft.com/office/drawing/2014/main" id="{E4BAC407-D3C0-4E53-BF3C-1482BA50D63E}"/>
              </a:ext>
            </a:extLst>
          </p:cNvPr>
          <p:cNvSpPr>
            <a:spLocks xmlns:a="http://schemas.openxmlformats.org/drawingml/2006/main" noGrp="1"/>
          </p:cNvSpPr>
          <p:nvPr/>
        </p:nvSpPr>
        <p:spPr>
          <a:xfrm xmlns:a="http://schemas.openxmlformats.org/drawingml/2006/main">
            <a:off x="9677400" y="1066800"/>
            <a:ext cx="2057400" cy="400050"/>
          </a:xfrm>
          <a:prstGeom xmlns:a="http://schemas.openxmlformats.org/drawingml/2006/main" prst="roundRect">
            <a:avLst>
              <a:gd name="adj" fmla="val 28571"/>
            </a:avLst>
          </a:prstGeom>
          <a:solidFill xmlns:a="http://schemas.openxmlformats.org/drawingml/2006/main">
            <a:srgbClr val="E4F6EF"/>
          </a:solidFill>
          <a:ln xmlns:a="http://schemas.openxmlformats.org/drawingml/2006/main" w="9525">
            <a:solidFill>
              <a:srgbClr val="1D9A6C"/>
            </a:solidFill>
            <a:prstDash val="solid"/>
          </a:ln>
        </p:spPr>
      </p:sp>
      <p:sp>
        <p:nvSpPr>
          <p:cNvPr id="9" name="text-4lq4t3">
            <a:extLst xmlns:a="http://schemas.openxmlformats.org/drawingml/2006/main">
              <a:ext uri="{FF2B5EF4-FFF2-40B4-BE49-F238E27FC236}">
                <a16:creationId xmlns:a16="http://schemas.microsoft.com/office/drawing/2014/main" id="{A6365EDB-7089-4DE7-8C73-1B72005D5312}"/>
              </a:ext>
            </a:extLst>
          </p:cNvPr>
          <p:cNvSpPr>
            <a:spLocks xmlns:a="http://schemas.openxmlformats.org/drawingml/2006/main" noGrp="1"/>
          </p:cNvSpPr>
          <p:nvPr/>
        </p:nvSpPr>
        <p:spPr>
          <a:xfrm xmlns:a="http://schemas.openxmlformats.org/drawingml/2006/main">
            <a:off x="9763125" y="1171575"/>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D9A6C"/>
                </a:solidFill>
                <a:latin typeface="Helvetica Neue"/>
                <a:ea typeface="Helvetica Neue"/>
                <a:cs typeface="Helvetica Neue"/>
              </a:defRPr>
            </a:pPr>
            <a:r>
              <a:rPr sz="1125" b="1">
                <a:solidFill>
                  <a:srgbClr val="1D9A6C"/>
                </a:solidFill>
                <a:latin typeface="Helvetica Neue"/>
                <a:ea typeface="Helvetica Neue"/>
                <a:cs typeface="Helvetica Neue"/>
              </a:rPr>
              <a:t>STATUS · PASS</a:t>
            </a:r>
          </a:p>
        </p:txBody>
      </p:sp>
      <p:sp>
        <p:nvSpPr>
          <p:cNvPr id="10" name="">
            <a:extLst xmlns:a="http://schemas.openxmlformats.org/drawingml/2006/main">
              <a:ext uri="{FF2B5EF4-FFF2-40B4-BE49-F238E27FC236}">
                <a16:creationId xmlns:a16="http://schemas.microsoft.com/office/drawing/2014/main" id="{8B81F556-15B7-4BFB-9CEF-553D5FE944D9}"/>
              </a:ext>
            </a:extLst>
          </p:cNvPr>
          <p:cNvSpPr>
            <a:spLocks xmlns:a="http://schemas.openxmlformats.org/drawingml/2006/main" noGrp="1"/>
          </p:cNvSpPr>
          <p:nvPr/>
        </p:nvSpPr>
        <p:spPr>
          <a:xfrm xmlns:a="http://schemas.openxmlformats.org/drawingml/2006/main">
            <a:off x="457200" y="2400300"/>
            <a:ext cx="3505200" cy="2247900"/>
          </a:xfrm>
          <a:prstGeom xmlns:a="http://schemas.openxmlformats.org/drawingml/2006/main" prst="roundRect">
            <a:avLst>
              <a:gd name="adj" fmla="val 6780"/>
            </a:avLst>
          </a:prstGeom>
          <a:solidFill xmlns:a="http://schemas.openxmlformats.org/drawingml/2006/main">
            <a:srgbClr val="F2F2F2"/>
          </a:solidFill>
          <a:ln xmlns:a="http://schemas.openxmlformats.org/drawingml/2006/main" w="9525">
            <a:solidFill>
              <a:srgbClr val="B8BCC4"/>
            </a:solidFill>
            <a:prstDash val="solid"/>
          </a:ln>
        </p:spPr>
      </p:sp>
      <p:sp>
        <p:nvSpPr>
          <p:cNvPr id="11" name="text-wp0fu2">
            <a:extLst xmlns:a="http://schemas.openxmlformats.org/drawingml/2006/main">
              <a:ext uri="{FF2B5EF4-FFF2-40B4-BE49-F238E27FC236}">
                <a16:creationId xmlns:a16="http://schemas.microsoft.com/office/drawing/2014/main" id="{2650B171-64EC-4C95-88E1-7605B436A0F1}"/>
              </a:ext>
            </a:extLst>
          </p:cNvPr>
          <p:cNvSpPr>
            <a:spLocks xmlns:a="http://schemas.openxmlformats.org/drawingml/2006/main" noGrp="1"/>
          </p:cNvSpPr>
          <p:nvPr/>
        </p:nvSpPr>
        <p:spPr>
          <a:xfrm xmlns:a="http://schemas.openxmlformats.org/drawingml/2006/main">
            <a:off x="695325" y="2686050"/>
            <a:ext cx="3028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1">
                <a:solidFill>
                  <a:srgbClr val="3D8DFF"/>
                </a:solidFill>
                <a:latin typeface="Helvetica Neue"/>
                <a:ea typeface="Helvetica Neue"/>
                <a:cs typeface="Helvetica Neue"/>
              </a:defRPr>
            </a:pPr>
            <a:r>
              <a:rPr sz="3975" b="1">
                <a:solidFill>
                  <a:srgbClr val="3D8DFF"/>
                </a:solidFill>
                <a:latin typeface="Helvetica Neue"/>
                <a:ea typeface="Helvetica Neue"/>
                <a:cs typeface="Helvetica Neue"/>
              </a:rPr>
              <a:t>21</a:t>
            </a:r>
          </a:p>
        </p:txBody>
      </p:sp>
      <p:sp>
        <p:nvSpPr>
          <p:cNvPr id="12" name="text-g1nz4x">
            <a:extLst xmlns:a="http://schemas.openxmlformats.org/drawingml/2006/main">
              <a:ext uri="{FF2B5EF4-FFF2-40B4-BE49-F238E27FC236}">
                <a16:creationId xmlns:a16="http://schemas.microsoft.com/office/drawing/2014/main" id="{F291218C-24B3-4A70-8B97-22673A2A59F5}"/>
              </a:ext>
            </a:extLst>
          </p:cNvPr>
          <p:cNvSpPr>
            <a:spLocks xmlns:a="http://schemas.openxmlformats.org/drawingml/2006/main" noGrp="1"/>
          </p:cNvSpPr>
          <p:nvPr/>
        </p:nvSpPr>
        <p:spPr>
          <a:xfrm xmlns:a="http://schemas.openxmlformats.org/drawingml/2006/main">
            <a:off x="695325" y="3505200"/>
            <a:ext cx="302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522"/>
                </a:solidFill>
                <a:latin typeface="Helvetica Neue"/>
                <a:ea typeface="Helvetica Neue"/>
                <a:cs typeface="Helvetica Neue"/>
              </a:defRPr>
            </a:pPr>
            <a:r>
              <a:rPr sz="1800" b="1">
                <a:solidFill>
                  <a:srgbClr val="101522"/>
                </a:solidFill>
                <a:latin typeface="Helvetica Neue"/>
                <a:ea typeface="Helvetica Neue"/>
                <a:cs typeface="Helvetica Neue"/>
              </a:rPr>
              <a:t>automated tests</a:t>
            </a:r>
          </a:p>
        </p:txBody>
      </p:sp>
      <p:sp>
        <p:nvSpPr>
          <p:cNvPr id="13" name="text-lnxl1t">
            <a:extLst xmlns:a="http://schemas.openxmlformats.org/drawingml/2006/main">
              <a:ext uri="{FF2B5EF4-FFF2-40B4-BE49-F238E27FC236}">
                <a16:creationId xmlns:a16="http://schemas.microsoft.com/office/drawing/2014/main" id="{7331E595-15C7-4958-AAEC-D3A69B73B2D3}"/>
              </a:ext>
            </a:extLst>
          </p:cNvPr>
          <p:cNvSpPr>
            <a:spLocks xmlns:a="http://schemas.openxmlformats.org/drawingml/2006/main" noGrp="1"/>
          </p:cNvSpPr>
          <p:nvPr/>
        </p:nvSpPr>
        <p:spPr>
          <a:xfrm xmlns:a="http://schemas.openxmlformats.org/drawingml/2006/main">
            <a:off x="695325" y="3962400"/>
            <a:ext cx="3028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Data, safety, memory, charts, exports, ML, and anomalies.</a:t>
            </a:r>
          </a:p>
        </p:txBody>
      </p:sp>
      <p:sp>
        <p:nvSpPr>
          <p:cNvPr id="14" name="">
            <a:extLst xmlns:a="http://schemas.openxmlformats.org/drawingml/2006/main">
              <a:ext uri="{FF2B5EF4-FFF2-40B4-BE49-F238E27FC236}">
                <a16:creationId xmlns:a16="http://schemas.microsoft.com/office/drawing/2014/main" id="{532D46E6-3EC7-4734-BB81-63CAE7B247A4}"/>
              </a:ext>
            </a:extLst>
          </p:cNvPr>
          <p:cNvSpPr>
            <a:spLocks xmlns:a="http://schemas.openxmlformats.org/drawingml/2006/main" noGrp="1"/>
          </p:cNvSpPr>
          <p:nvPr/>
        </p:nvSpPr>
        <p:spPr>
          <a:xfrm xmlns:a="http://schemas.openxmlformats.org/drawingml/2006/main">
            <a:off x="4343400" y="2400300"/>
            <a:ext cx="3505200" cy="2247900"/>
          </a:xfrm>
          <a:prstGeom xmlns:a="http://schemas.openxmlformats.org/drawingml/2006/main" prst="roundRect">
            <a:avLst>
              <a:gd name="adj" fmla="val 6780"/>
            </a:avLst>
          </a:prstGeom>
          <a:solidFill xmlns:a="http://schemas.openxmlformats.org/drawingml/2006/main">
            <a:srgbClr val="EAF5FB"/>
          </a:solidFill>
          <a:ln xmlns:a="http://schemas.openxmlformats.org/drawingml/2006/main" w="9525">
            <a:solidFill>
              <a:srgbClr val="B8BCC4"/>
            </a:solidFill>
            <a:prstDash val="solid"/>
          </a:ln>
        </p:spPr>
      </p:sp>
      <p:sp>
        <p:nvSpPr>
          <p:cNvPr id="15" name="text-5ep05g">
            <a:extLst xmlns:a="http://schemas.openxmlformats.org/drawingml/2006/main">
              <a:ext uri="{FF2B5EF4-FFF2-40B4-BE49-F238E27FC236}">
                <a16:creationId xmlns:a16="http://schemas.microsoft.com/office/drawing/2014/main" id="{B6ABA575-B108-4ED5-AF4D-E61EA280568D}"/>
              </a:ext>
            </a:extLst>
          </p:cNvPr>
          <p:cNvSpPr>
            <a:spLocks xmlns:a="http://schemas.openxmlformats.org/drawingml/2006/main" noGrp="1"/>
          </p:cNvSpPr>
          <p:nvPr/>
        </p:nvSpPr>
        <p:spPr>
          <a:xfrm xmlns:a="http://schemas.openxmlformats.org/drawingml/2006/main">
            <a:off x="4581525" y="2686050"/>
            <a:ext cx="3028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1">
                <a:solidFill>
                  <a:srgbClr val="3D8DFF"/>
                </a:solidFill>
                <a:latin typeface="Helvetica Neue"/>
                <a:ea typeface="Helvetica Neue"/>
                <a:cs typeface="Helvetica Neue"/>
              </a:defRPr>
            </a:pPr>
            <a:r>
              <a:rPr sz="3975" b="1">
                <a:solidFill>
                  <a:srgbClr val="3D8DFF"/>
                </a:solidFill>
                <a:latin typeface="Helvetica Neue"/>
                <a:ea typeface="Helvetica Neue"/>
                <a:cs typeface="Helvetica Neue"/>
              </a:rPr>
              <a:t>10/10</a:t>
            </a:r>
          </a:p>
        </p:txBody>
      </p:sp>
      <p:sp>
        <p:nvSpPr>
          <p:cNvPr id="16" name="text-c7hxly">
            <a:extLst xmlns:a="http://schemas.openxmlformats.org/drawingml/2006/main">
              <a:ext uri="{FF2B5EF4-FFF2-40B4-BE49-F238E27FC236}">
                <a16:creationId xmlns:a16="http://schemas.microsoft.com/office/drawing/2014/main" id="{C547E8B8-CED0-44E7-94C2-E99D77AFEAE2}"/>
              </a:ext>
            </a:extLst>
          </p:cNvPr>
          <p:cNvSpPr>
            <a:spLocks xmlns:a="http://schemas.openxmlformats.org/drawingml/2006/main" noGrp="1"/>
          </p:cNvSpPr>
          <p:nvPr/>
        </p:nvSpPr>
        <p:spPr>
          <a:xfrm xmlns:a="http://schemas.openxmlformats.org/drawingml/2006/main">
            <a:off x="4581525" y="3505200"/>
            <a:ext cx="302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522"/>
                </a:solidFill>
                <a:latin typeface="Helvetica Neue"/>
                <a:ea typeface="Helvetica Neue"/>
                <a:cs typeface="Helvetica Neue"/>
              </a:defRPr>
            </a:pPr>
            <a:r>
              <a:rPr sz="1800" b="1">
                <a:solidFill>
                  <a:srgbClr val="101522"/>
                </a:solidFill>
                <a:latin typeface="Helvetica Neue"/>
                <a:ea typeface="Helvetica Neue"/>
                <a:cs typeface="Helvetica Neue"/>
              </a:rPr>
              <a:t>AI question benchmark</a:t>
            </a:r>
          </a:p>
        </p:txBody>
      </p:sp>
      <p:sp>
        <p:nvSpPr>
          <p:cNvPr id="17" name="text-0bqk8w">
            <a:extLst xmlns:a="http://schemas.openxmlformats.org/drawingml/2006/main">
              <a:ext uri="{FF2B5EF4-FFF2-40B4-BE49-F238E27FC236}">
                <a16:creationId xmlns:a16="http://schemas.microsoft.com/office/drawing/2014/main" id="{B79B6FEC-215F-4173-ADED-BF7206AF169B}"/>
              </a:ext>
            </a:extLst>
          </p:cNvPr>
          <p:cNvSpPr>
            <a:spLocks xmlns:a="http://schemas.openxmlformats.org/drawingml/2006/main" noGrp="1"/>
          </p:cNvSpPr>
          <p:nvPr/>
        </p:nvSpPr>
        <p:spPr>
          <a:xfrm xmlns:a="http://schemas.openxmlformats.org/drawingml/2006/main">
            <a:off x="4581525" y="3962400"/>
            <a:ext cx="3028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All preset-style benchmark questions returned correct results.</a:t>
            </a:r>
          </a:p>
        </p:txBody>
      </p:sp>
      <p:sp>
        <p:nvSpPr>
          <p:cNvPr id="18" name="">
            <a:extLst xmlns:a="http://schemas.openxmlformats.org/drawingml/2006/main">
              <a:ext uri="{FF2B5EF4-FFF2-40B4-BE49-F238E27FC236}">
                <a16:creationId xmlns:a16="http://schemas.microsoft.com/office/drawing/2014/main" id="{D1261C2C-9CAE-403F-8CC1-9B50BB94168E}"/>
              </a:ext>
            </a:extLst>
          </p:cNvPr>
          <p:cNvSpPr>
            <a:spLocks xmlns:a="http://schemas.openxmlformats.org/drawingml/2006/main" noGrp="1"/>
          </p:cNvSpPr>
          <p:nvPr/>
        </p:nvSpPr>
        <p:spPr>
          <a:xfrm xmlns:a="http://schemas.openxmlformats.org/drawingml/2006/main">
            <a:off x="8229600" y="2400300"/>
            <a:ext cx="3505200" cy="2247900"/>
          </a:xfrm>
          <a:prstGeom xmlns:a="http://schemas.openxmlformats.org/drawingml/2006/main" prst="roundRect">
            <a:avLst>
              <a:gd name="adj" fmla="val 6780"/>
            </a:avLst>
          </a:prstGeom>
          <a:solidFill xmlns:a="http://schemas.openxmlformats.org/drawingml/2006/main">
            <a:srgbClr val="E4F6EF"/>
          </a:solidFill>
          <a:ln xmlns:a="http://schemas.openxmlformats.org/drawingml/2006/main" w="9525">
            <a:solidFill>
              <a:srgbClr val="B8BCC4"/>
            </a:solidFill>
            <a:prstDash val="solid"/>
          </a:ln>
        </p:spPr>
      </p:sp>
      <p:sp>
        <p:nvSpPr>
          <p:cNvPr id="19" name="text-bgawog">
            <a:extLst xmlns:a="http://schemas.openxmlformats.org/drawingml/2006/main">
              <a:ext uri="{FF2B5EF4-FFF2-40B4-BE49-F238E27FC236}">
                <a16:creationId xmlns:a16="http://schemas.microsoft.com/office/drawing/2014/main" id="{7C599FC9-E78F-4FBC-A5B0-222D1D78C2FE}"/>
              </a:ext>
            </a:extLst>
          </p:cNvPr>
          <p:cNvSpPr>
            <a:spLocks xmlns:a="http://schemas.openxmlformats.org/drawingml/2006/main" noGrp="1"/>
          </p:cNvSpPr>
          <p:nvPr/>
        </p:nvSpPr>
        <p:spPr>
          <a:xfrm xmlns:a="http://schemas.openxmlformats.org/drawingml/2006/main">
            <a:off x="8467725" y="2686050"/>
            <a:ext cx="3028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75" b="1">
                <a:solidFill>
                  <a:srgbClr val="3D8DFF"/>
                </a:solidFill>
                <a:latin typeface="Helvetica Neue"/>
                <a:ea typeface="Helvetica Neue"/>
                <a:cs typeface="Helvetica Neue"/>
              </a:defRPr>
            </a:pPr>
            <a:r>
              <a:rPr sz="3975" b="1">
                <a:solidFill>
                  <a:srgbClr val="3D8DFF"/>
                </a:solidFill>
                <a:latin typeface="Helvetica Neue"/>
                <a:ea typeface="Helvetica Neue"/>
                <a:cs typeface="Helvetica Neue"/>
              </a:rPr>
              <a:t>2.52 ms</a:t>
            </a:r>
          </a:p>
        </p:txBody>
      </p:sp>
      <p:sp>
        <p:nvSpPr>
          <p:cNvPr id="20" name="text-nz7ss7">
            <a:extLst xmlns:a="http://schemas.openxmlformats.org/drawingml/2006/main">
              <a:ext uri="{FF2B5EF4-FFF2-40B4-BE49-F238E27FC236}">
                <a16:creationId xmlns:a16="http://schemas.microsoft.com/office/drawing/2014/main" id="{1ECB180F-54FE-469B-A222-A3285E2C57A8}"/>
              </a:ext>
            </a:extLst>
          </p:cNvPr>
          <p:cNvSpPr>
            <a:spLocks xmlns:a="http://schemas.openxmlformats.org/drawingml/2006/main" noGrp="1"/>
          </p:cNvSpPr>
          <p:nvPr/>
        </p:nvSpPr>
        <p:spPr>
          <a:xfrm xmlns:a="http://schemas.openxmlformats.org/drawingml/2006/main">
            <a:off x="8467725" y="3505200"/>
            <a:ext cx="302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522"/>
                </a:solidFill>
                <a:latin typeface="Helvetica Neue"/>
                <a:ea typeface="Helvetica Neue"/>
                <a:cs typeface="Helvetica Neue"/>
              </a:defRPr>
            </a:pPr>
            <a:r>
              <a:rPr sz="1800" b="1">
                <a:solidFill>
                  <a:srgbClr val="101522"/>
                </a:solidFill>
                <a:latin typeface="Helvetica Neue"/>
                <a:ea typeface="Helvetica Neue"/>
                <a:cs typeface="Helvetica Neue"/>
              </a:rPr>
              <a:t>aggregation median</a:t>
            </a:r>
          </a:p>
        </p:txBody>
      </p:sp>
      <p:sp>
        <p:nvSpPr>
          <p:cNvPr id="21" name="text-mzczn9">
            <a:extLst xmlns:a="http://schemas.openxmlformats.org/drawingml/2006/main">
              <a:ext uri="{FF2B5EF4-FFF2-40B4-BE49-F238E27FC236}">
                <a16:creationId xmlns:a16="http://schemas.microsoft.com/office/drawing/2014/main" id="{18A09014-AC97-4197-AB93-77E12AA3D2EE}"/>
              </a:ext>
            </a:extLst>
          </p:cNvPr>
          <p:cNvSpPr>
            <a:spLocks xmlns:a="http://schemas.openxmlformats.org/drawingml/2006/main" noGrp="1"/>
          </p:cNvSpPr>
          <p:nvPr/>
        </p:nvSpPr>
        <p:spPr>
          <a:xfrm xmlns:a="http://schemas.openxmlformats.org/drawingml/2006/main">
            <a:off x="8467725" y="3962400"/>
            <a:ext cx="3028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p95 2.66 ms · max 2.71 ms · requirement &lt;500 ms.</a:t>
            </a:r>
          </a:p>
        </p:txBody>
      </p:sp>
      <p:sp>
        <p:nvSpPr>
          <p:cNvPr id="22" name="">
            <a:extLst xmlns:a="http://schemas.openxmlformats.org/drawingml/2006/main">
              <a:ext uri="{FF2B5EF4-FFF2-40B4-BE49-F238E27FC236}">
                <a16:creationId xmlns:a16="http://schemas.microsoft.com/office/drawing/2014/main" id="{26542576-D6AC-49B3-8DA5-99650C8112E2}"/>
              </a:ext>
            </a:extLst>
          </p:cNvPr>
          <p:cNvSpPr>
            <a:spLocks xmlns:a="http://schemas.openxmlformats.org/drawingml/2006/main" noGrp="1"/>
          </p:cNvSpPr>
          <p:nvPr/>
        </p:nvSpPr>
        <p:spPr>
          <a:xfrm xmlns:a="http://schemas.openxmlformats.org/drawingml/2006/main">
            <a:off x="1133475" y="5095875"/>
            <a:ext cx="9925050" cy="876300"/>
          </a:xfrm>
          <a:prstGeom xmlns:a="http://schemas.openxmlformats.org/drawingml/2006/main" prst="roundRect">
            <a:avLst>
              <a:gd name="adj" fmla="val 17391"/>
            </a:avLst>
          </a:prstGeom>
          <a:solidFill xmlns:a="http://schemas.openxmlformats.org/drawingml/2006/main">
            <a:srgbClr val="F7F8FA"/>
          </a:solidFill>
          <a:ln xmlns:a="http://schemas.openxmlformats.org/drawingml/2006/main" w="9525">
            <a:solidFill>
              <a:srgbClr val="B8BCC4"/>
            </a:solidFill>
            <a:prstDash val="solid"/>
          </a:ln>
        </p:spPr>
      </p:sp>
      <p:sp>
        <p:nvSpPr>
          <p:cNvPr id="23" name="text-39cp5t">
            <a:extLst xmlns:a="http://schemas.openxmlformats.org/drawingml/2006/main">
              <a:ext uri="{FF2B5EF4-FFF2-40B4-BE49-F238E27FC236}">
                <a16:creationId xmlns:a16="http://schemas.microsoft.com/office/drawing/2014/main" id="{2A971973-A82F-4545-9137-AB039C4FBF2A}"/>
              </a:ext>
            </a:extLst>
          </p:cNvPr>
          <p:cNvSpPr>
            <a:spLocks xmlns:a="http://schemas.openxmlformats.org/drawingml/2006/main" noGrp="1"/>
          </p:cNvSpPr>
          <p:nvPr/>
        </p:nvSpPr>
        <p:spPr>
          <a:xfrm xmlns:a="http://schemas.openxmlformats.org/drawingml/2006/main">
            <a:off x="1447800" y="531495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Performance margin</a:t>
            </a:r>
          </a:p>
        </p:txBody>
      </p:sp>
      <p:sp>
        <p:nvSpPr>
          <p:cNvPr id="24" name="text-xlztr7">
            <a:extLst xmlns:a="http://schemas.openxmlformats.org/drawingml/2006/main">
              <a:ext uri="{FF2B5EF4-FFF2-40B4-BE49-F238E27FC236}">
                <a16:creationId xmlns:a16="http://schemas.microsoft.com/office/drawing/2014/main" id="{AB97BA7C-D7D7-4ACD-B8EE-5A6DDDE2F201}"/>
              </a:ext>
            </a:extLst>
          </p:cNvPr>
          <p:cNvSpPr>
            <a:spLocks xmlns:a="http://schemas.openxmlformats.org/drawingml/2006/main" noGrp="1"/>
          </p:cNvSpPr>
          <p:nvPr/>
        </p:nvSpPr>
        <p:spPr>
          <a:xfrm xmlns:a="http://schemas.openxmlformats.org/drawingml/2006/main">
            <a:off x="3771900" y="5276850"/>
            <a:ext cx="6896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96274"/>
                </a:solidFill>
                <a:latin typeface="Helvetica Neue"/>
                <a:ea typeface="Helvetica Neue"/>
                <a:cs typeface="Helvetica Neue"/>
              </a:defRPr>
            </a:pPr>
            <a:r>
              <a:rPr sz="1500" b="0">
                <a:solidFill>
                  <a:srgbClr val="596274"/>
                </a:solidFill>
                <a:latin typeface="Helvetica Neue"/>
                <a:ea typeface="Helvetica Neue"/>
                <a:cs typeface="Helvetica Neue"/>
              </a:rPr>
              <a:t>The measured median is about 198× faster than the 500 ms capstone threshold on the development Mac.</a:t>
            </a:r>
          </a:p>
        </p:txBody>
      </p:sp>
    </p:spTree>
    <p:extLst>
      <p:ext uri="{BB962C8B-B14F-4D97-AF65-F5344CB8AC3E}">
        <p14:creationId xmlns:p14="http://schemas.microsoft.com/office/powerpoint/2010/main" val="1375435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BCB58F3-7956-4C41-9E4F-21D207F16D9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text-e0uu9n">
            <a:extLst xmlns:a="http://schemas.openxmlformats.org/drawingml/2006/main">
              <a:ext uri="{FF2B5EF4-FFF2-40B4-BE49-F238E27FC236}">
                <a16:creationId xmlns:a16="http://schemas.microsoft.com/office/drawing/2014/main" id="{DEEEF481-4B9F-42E7-8B89-63734762C2A0}"/>
              </a:ext>
            </a:extLst>
          </p:cNvPr>
          <p:cNvSpPr>
            <a:spLocks xmlns:a="http://schemas.openxmlformats.org/drawingml/2006/main" noGrp="1"/>
          </p:cNvSpPr>
          <p:nvPr/>
        </p:nvSpPr>
        <p:spPr>
          <a:xfrm xmlns:a="http://schemas.openxmlformats.org/drawingml/2006/main">
            <a:off x="495300" y="542925"/>
            <a:ext cx="111252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101522"/>
                </a:solidFill>
                <a:latin typeface="Helvetica Neue"/>
                <a:ea typeface="Helvetica Neue"/>
                <a:cs typeface="Helvetica Neue"/>
              </a:defRPr>
            </a:pPr>
            <a:r>
              <a:rPr sz="3900" b="1">
                <a:solidFill>
                  <a:srgbClr val="101522"/>
                </a:solidFill>
                <a:latin typeface="Helvetica Neue"/>
                <a:ea typeface="Helvetica Neue"/>
                <a:cs typeface="Helvetica Neue"/>
              </a:rPr>
              <a:t>InsightCommerce connects analysis, AI, and evidence</a:t>
            </a:r>
          </a:p>
        </p:txBody>
      </p:sp>
      <p:sp>
        <p:nvSpPr>
          <p:cNvPr id="3" name="text-h79mm6">
            <a:extLst xmlns:a="http://schemas.openxmlformats.org/drawingml/2006/main">
              <a:ext uri="{FF2B5EF4-FFF2-40B4-BE49-F238E27FC236}">
                <a16:creationId xmlns:a16="http://schemas.microsoft.com/office/drawing/2014/main" id="{3DDF7698-68ED-41B1-BCCA-D1FC90F79EA6}"/>
              </a:ext>
            </a:extLst>
          </p:cNvPr>
          <p:cNvSpPr>
            <a:spLocks xmlns:a="http://schemas.openxmlformats.org/drawingml/2006/main" noGrp="1"/>
          </p:cNvSpPr>
          <p:nvPr/>
        </p:nvSpPr>
        <p:spPr>
          <a:xfrm xmlns:a="http://schemas.openxmlformats.org/drawingml/2006/main">
            <a:off x="523875" y="1828800"/>
            <a:ext cx="495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What the capstone demonstrates</a:t>
            </a:r>
          </a:p>
        </p:txBody>
      </p:sp>
      <p:sp>
        <p:nvSpPr>
          <p:cNvPr id="4" name="">
            <a:extLst xmlns:a="http://schemas.openxmlformats.org/drawingml/2006/main">
              <a:ext uri="{FF2B5EF4-FFF2-40B4-BE49-F238E27FC236}">
                <a16:creationId xmlns:a16="http://schemas.microsoft.com/office/drawing/2014/main" id="{8FE79987-E81F-4E70-938D-EFCBAF795F07}"/>
              </a:ext>
            </a:extLst>
          </p:cNvPr>
          <p:cNvSpPr>
            <a:spLocks xmlns:a="http://schemas.openxmlformats.org/drawingml/2006/main" noGrp="1"/>
          </p:cNvSpPr>
          <p:nvPr/>
        </p:nvSpPr>
        <p:spPr>
          <a:xfrm xmlns:a="http://schemas.openxmlformats.org/drawingml/2006/main">
            <a:off x="523875" y="2447925"/>
            <a:ext cx="419100" cy="4191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5" name="text-dbk98u">
            <a:extLst xmlns:a="http://schemas.openxmlformats.org/drawingml/2006/main">
              <a:ext uri="{FF2B5EF4-FFF2-40B4-BE49-F238E27FC236}">
                <a16:creationId xmlns:a16="http://schemas.microsoft.com/office/drawing/2014/main" id="{EBADB701-BFBD-45A8-BB86-7D2B6483380B}"/>
              </a:ext>
            </a:extLst>
          </p:cNvPr>
          <p:cNvSpPr>
            <a:spLocks xmlns:a="http://schemas.openxmlformats.org/drawingml/2006/main" noGrp="1"/>
          </p:cNvSpPr>
          <p:nvPr/>
        </p:nvSpPr>
        <p:spPr>
          <a:xfrm xmlns:a="http://schemas.openxmlformats.org/drawingml/2006/main">
            <a:off x="523875" y="25146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1</a:t>
            </a:r>
          </a:p>
        </p:txBody>
      </p:sp>
      <p:sp>
        <p:nvSpPr>
          <p:cNvPr id="6" name="text-0xbfbs">
            <a:extLst xmlns:a="http://schemas.openxmlformats.org/drawingml/2006/main">
              <a:ext uri="{FF2B5EF4-FFF2-40B4-BE49-F238E27FC236}">
                <a16:creationId xmlns:a16="http://schemas.microsoft.com/office/drawing/2014/main" id="{7C708F0F-833A-4931-AA35-F913281E01A3}"/>
              </a:ext>
            </a:extLst>
          </p:cNvPr>
          <p:cNvSpPr>
            <a:spLocks xmlns:a="http://schemas.openxmlformats.org/drawingml/2006/main" noGrp="1"/>
          </p:cNvSpPr>
          <p:nvPr/>
        </p:nvSpPr>
        <p:spPr>
          <a:xfrm xmlns:a="http://schemas.openxmlformats.org/drawingml/2006/main">
            <a:off x="1133475" y="2438400"/>
            <a:ext cx="481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Verified foundation</a:t>
            </a:r>
          </a:p>
        </p:txBody>
      </p:sp>
      <p:sp>
        <p:nvSpPr>
          <p:cNvPr id="7" name="text-w2ezzn">
            <a:extLst xmlns:a="http://schemas.openxmlformats.org/drawingml/2006/main">
              <a:ext uri="{FF2B5EF4-FFF2-40B4-BE49-F238E27FC236}">
                <a16:creationId xmlns:a16="http://schemas.microsoft.com/office/drawing/2014/main" id="{E83AFCA6-5373-4AA3-9145-8313E4E8D17B}"/>
              </a:ext>
            </a:extLst>
          </p:cNvPr>
          <p:cNvSpPr>
            <a:spLocks xmlns:a="http://schemas.openxmlformats.org/drawingml/2006/main" noGrp="1"/>
          </p:cNvSpPr>
          <p:nvPr/>
        </p:nvSpPr>
        <p:spPr>
          <a:xfrm xmlns:a="http://schemas.openxmlformats.org/drawingml/2006/main">
            <a:off x="1133475" y="2819400"/>
            <a:ext cx="4819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The real downloaded schema drives every feature.</a:t>
            </a:r>
          </a:p>
        </p:txBody>
      </p:sp>
      <p:sp>
        <p:nvSpPr>
          <p:cNvPr id="8" name="">
            <a:extLst xmlns:a="http://schemas.openxmlformats.org/drawingml/2006/main">
              <a:ext uri="{FF2B5EF4-FFF2-40B4-BE49-F238E27FC236}">
                <a16:creationId xmlns:a16="http://schemas.microsoft.com/office/drawing/2014/main" id="{0547FA86-037F-418C-B0BE-E8476479239D}"/>
              </a:ext>
            </a:extLst>
          </p:cNvPr>
          <p:cNvSpPr>
            <a:spLocks xmlns:a="http://schemas.openxmlformats.org/drawingml/2006/main" noGrp="1"/>
          </p:cNvSpPr>
          <p:nvPr/>
        </p:nvSpPr>
        <p:spPr>
          <a:xfrm xmlns:a="http://schemas.openxmlformats.org/drawingml/2006/main">
            <a:off x="523875" y="3505200"/>
            <a:ext cx="419100" cy="4191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9" name="text-zszuzf">
            <a:extLst xmlns:a="http://schemas.openxmlformats.org/drawingml/2006/main">
              <a:ext uri="{FF2B5EF4-FFF2-40B4-BE49-F238E27FC236}">
                <a16:creationId xmlns:a16="http://schemas.microsoft.com/office/drawing/2014/main" id="{CE7F2DC9-DEB6-4F1A-A9BB-AAA563DFF556}"/>
              </a:ext>
            </a:extLst>
          </p:cNvPr>
          <p:cNvSpPr>
            <a:spLocks xmlns:a="http://schemas.openxmlformats.org/drawingml/2006/main" noGrp="1"/>
          </p:cNvSpPr>
          <p:nvPr/>
        </p:nvSpPr>
        <p:spPr>
          <a:xfrm xmlns:a="http://schemas.openxmlformats.org/drawingml/2006/main">
            <a:off x="523875" y="35718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2</a:t>
            </a:r>
          </a:p>
        </p:txBody>
      </p:sp>
      <p:sp>
        <p:nvSpPr>
          <p:cNvPr id="10" name="text-20eg8w">
            <a:extLst xmlns:a="http://schemas.openxmlformats.org/drawingml/2006/main">
              <a:ext uri="{FF2B5EF4-FFF2-40B4-BE49-F238E27FC236}">
                <a16:creationId xmlns:a16="http://schemas.microsoft.com/office/drawing/2014/main" id="{8A3D58AC-A3D8-4825-8FB8-3AB2C93DDC79}"/>
              </a:ext>
            </a:extLst>
          </p:cNvPr>
          <p:cNvSpPr>
            <a:spLocks xmlns:a="http://schemas.openxmlformats.org/drawingml/2006/main" noGrp="1"/>
          </p:cNvSpPr>
          <p:nvPr/>
        </p:nvSpPr>
        <p:spPr>
          <a:xfrm xmlns:a="http://schemas.openxmlformats.org/drawingml/2006/main">
            <a:off x="1133475" y="3495675"/>
            <a:ext cx="481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Guarded intelligence</a:t>
            </a:r>
          </a:p>
        </p:txBody>
      </p:sp>
      <p:sp>
        <p:nvSpPr>
          <p:cNvPr id="11" name="text-pgva2f">
            <a:extLst xmlns:a="http://schemas.openxmlformats.org/drawingml/2006/main">
              <a:ext uri="{FF2B5EF4-FFF2-40B4-BE49-F238E27FC236}">
                <a16:creationId xmlns:a16="http://schemas.microsoft.com/office/drawing/2014/main" id="{96E1B82F-8810-4D3D-9A5B-21A1FC9012B9}"/>
              </a:ext>
            </a:extLst>
          </p:cNvPr>
          <p:cNvSpPr>
            <a:spLocks xmlns:a="http://schemas.openxmlformats.org/drawingml/2006/main" noGrp="1"/>
          </p:cNvSpPr>
          <p:nvPr/>
        </p:nvSpPr>
        <p:spPr>
          <a:xfrm xmlns:a="http://schemas.openxmlformats.org/drawingml/2006/main">
            <a:off x="1133475" y="3876675"/>
            <a:ext cx="4819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AI proposes; deterministic checks and executed data decide.</a:t>
            </a:r>
          </a:p>
        </p:txBody>
      </p:sp>
      <p:sp>
        <p:nvSpPr>
          <p:cNvPr id="12" name="">
            <a:extLst xmlns:a="http://schemas.openxmlformats.org/drawingml/2006/main">
              <a:ext uri="{FF2B5EF4-FFF2-40B4-BE49-F238E27FC236}">
                <a16:creationId xmlns:a16="http://schemas.microsoft.com/office/drawing/2014/main" id="{F0E39B3C-37EB-4B46-B774-D864AE75E7F9}"/>
              </a:ext>
            </a:extLst>
          </p:cNvPr>
          <p:cNvSpPr>
            <a:spLocks xmlns:a="http://schemas.openxmlformats.org/drawingml/2006/main" noGrp="1"/>
          </p:cNvSpPr>
          <p:nvPr/>
        </p:nvSpPr>
        <p:spPr>
          <a:xfrm xmlns:a="http://schemas.openxmlformats.org/drawingml/2006/main">
            <a:off x="523875" y="4562475"/>
            <a:ext cx="419100" cy="4191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3" name="text-k7bn6v">
            <a:extLst xmlns:a="http://schemas.openxmlformats.org/drawingml/2006/main">
              <a:ext uri="{FF2B5EF4-FFF2-40B4-BE49-F238E27FC236}">
                <a16:creationId xmlns:a16="http://schemas.microsoft.com/office/drawing/2014/main" id="{7294331D-8F56-464C-A5C8-0DEEC3C58CA9}"/>
              </a:ext>
            </a:extLst>
          </p:cNvPr>
          <p:cNvSpPr>
            <a:spLocks xmlns:a="http://schemas.openxmlformats.org/drawingml/2006/main" noGrp="1"/>
          </p:cNvSpPr>
          <p:nvPr/>
        </p:nvSpPr>
        <p:spPr>
          <a:xfrm xmlns:a="http://schemas.openxmlformats.org/drawingml/2006/main">
            <a:off x="523875" y="46291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a:t>
            </a:r>
          </a:p>
        </p:txBody>
      </p:sp>
      <p:sp>
        <p:nvSpPr>
          <p:cNvPr id="14" name="text-xiq3vc">
            <a:extLst xmlns:a="http://schemas.openxmlformats.org/drawingml/2006/main">
              <a:ext uri="{FF2B5EF4-FFF2-40B4-BE49-F238E27FC236}">
                <a16:creationId xmlns:a16="http://schemas.microsoft.com/office/drawing/2014/main" id="{FCEE64BE-3B9E-4C18-BE95-B6B7562F41AD}"/>
              </a:ext>
            </a:extLst>
          </p:cNvPr>
          <p:cNvSpPr>
            <a:spLocks xmlns:a="http://schemas.openxmlformats.org/drawingml/2006/main" noGrp="1"/>
          </p:cNvSpPr>
          <p:nvPr/>
        </p:nvSpPr>
        <p:spPr>
          <a:xfrm xmlns:a="http://schemas.openxmlformats.org/drawingml/2006/main">
            <a:off x="1133475" y="4552950"/>
            <a:ext cx="4819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Presentation-ready evidence</a:t>
            </a:r>
          </a:p>
        </p:txBody>
      </p:sp>
      <p:sp>
        <p:nvSpPr>
          <p:cNvPr id="15" name="text-qc16qj">
            <a:extLst xmlns:a="http://schemas.openxmlformats.org/drawingml/2006/main">
              <a:ext uri="{FF2B5EF4-FFF2-40B4-BE49-F238E27FC236}">
                <a16:creationId xmlns:a16="http://schemas.microsoft.com/office/drawing/2014/main" id="{8AB7174E-0ED8-4AB5-9184-4C7063C49138}"/>
              </a:ext>
            </a:extLst>
          </p:cNvPr>
          <p:cNvSpPr>
            <a:spLocks xmlns:a="http://schemas.openxmlformats.org/drawingml/2006/main" noGrp="1"/>
          </p:cNvSpPr>
          <p:nvPr/>
        </p:nvSpPr>
        <p:spPr>
          <a:xfrm xmlns:a="http://schemas.openxmlformats.org/drawingml/2006/main">
            <a:off x="1133475" y="4933950"/>
            <a:ext cx="4819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96274"/>
                </a:solidFill>
                <a:latin typeface="Helvetica Neue"/>
                <a:ea typeface="Helvetica Neue"/>
                <a:cs typeface="Helvetica Neue"/>
              </a:defRPr>
            </a:pPr>
            <a:r>
              <a:rPr sz="1425" b="0">
                <a:solidFill>
                  <a:srgbClr val="596274"/>
                </a:solidFill>
                <a:latin typeface="Helvetica Neue"/>
                <a:ea typeface="Helvetica Neue"/>
                <a:cs typeface="Helvetica Neue"/>
              </a:rPr>
              <a:t>Interactive visuals, exports, tests, benchmarks, report, and deployment prep.</a:t>
            </a:r>
          </a:p>
        </p:txBody>
      </p:sp>
      <p:sp>
        <p:nvSpPr>
          <p:cNvPr id="16" name="">
            <a:extLst xmlns:a="http://schemas.openxmlformats.org/drawingml/2006/main">
              <a:ext uri="{FF2B5EF4-FFF2-40B4-BE49-F238E27FC236}">
                <a16:creationId xmlns:a16="http://schemas.microsoft.com/office/drawing/2014/main" id="{3B3B6620-2D12-42D0-A437-D6EA47F631BC}"/>
              </a:ext>
            </a:extLst>
          </p:cNvPr>
          <p:cNvSpPr>
            <a:spLocks xmlns:a="http://schemas.openxmlformats.org/drawingml/2006/main" noGrp="1"/>
          </p:cNvSpPr>
          <p:nvPr/>
        </p:nvSpPr>
        <p:spPr>
          <a:xfrm xmlns:a="http://schemas.openxmlformats.org/drawingml/2006/main">
            <a:off x="6524625" y="1857375"/>
            <a:ext cx="5095875" cy="3657600"/>
          </a:xfrm>
          <a:prstGeom xmlns:a="http://schemas.openxmlformats.org/drawingml/2006/main" prst="roundRect">
            <a:avLst>
              <a:gd name="adj" fmla="val 4167"/>
            </a:avLst>
          </a:prstGeom>
          <a:solidFill xmlns:a="http://schemas.openxmlformats.org/drawingml/2006/main">
            <a:srgbClr val="EAF5FB"/>
          </a:solidFill>
          <a:ln xmlns:a="http://schemas.openxmlformats.org/drawingml/2006/main" w="9525">
            <a:solidFill>
              <a:srgbClr val="3D8DFF"/>
            </a:solidFill>
            <a:prstDash val="solid"/>
          </a:ln>
        </p:spPr>
      </p:sp>
      <p:sp>
        <p:nvSpPr>
          <p:cNvPr id="17" name="text-0onew9">
            <a:extLst xmlns:a="http://schemas.openxmlformats.org/drawingml/2006/main">
              <a:ext uri="{FF2B5EF4-FFF2-40B4-BE49-F238E27FC236}">
                <a16:creationId xmlns:a16="http://schemas.microsoft.com/office/drawing/2014/main" id="{6C2AE7FE-FEE0-4D00-ADF2-C7BA00354F0B}"/>
              </a:ext>
            </a:extLst>
          </p:cNvPr>
          <p:cNvSpPr>
            <a:spLocks xmlns:a="http://schemas.openxmlformats.org/drawingml/2006/main" noGrp="1"/>
          </p:cNvSpPr>
          <p:nvPr/>
        </p:nvSpPr>
        <p:spPr>
          <a:xfrm xmlns:a="http://schemas.openxmlformats.org/drawingml/2006/main">
            <a:off x="6896100" y="220980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3D8DFF"/>
                </a:solidFill>
                <a:latin typeface="Helvetica Neue"/>
                <a:ea typeface="Helvetica Neue"/>
                <a:cs typeface="Helvetica Neue"/>
              </a:defRPr>
            </a:pPr>
            <a:r>
              <a:rPr sz="2175" b="1">
                <a:solidFill>
                  <a:srgbClr val="3D8DFF"/>
                </a:solidFill>
                <a:latin typeface="Helvetica Neue"/>
                <a:ea typeface="Helvetica Neue"/>
                <a:cs typeface="Helvetica Neue"/>
              </a:rPr>
              <a:t>Project repository</a:t>
            </a:r>
          </a:p>
        </p:txBody>
      </p:sp>
      <p:sp>
        <p:nvSpPr>
          <p:cNvPr id="18" name="text-lo6nui">
            <a:extLst xmlns:a="http://schemas.openxmlformats.org/drawingml/2006/main">
              <a:ext uri="{FF2B5EF4-FFF2-40B4-BE49-F238E27FC236}">
                <a16:creationId xmlns:a16="http://schemas.microsoft.com/office/drawing/2014/main" id="{03D1E35B-B10E-44E6-A3D2-43B741A9B032}"/>
              </a:ext>
            </a:extLst>
          </p:cNvPr>
          <p:cNvSpPr>
            <a:spLocks xmlns:a="http://schemas.openxmlformats.org/drawingml/2006/main" noGrp="1"/>
          </p:cNvSpPr>
          <p:nvPr/>
        </p:nvSpPr>
        <p:spPr>
          <a:xfrm xmlns:a="http://schemas.openxmlformats.org/drawingml/2006/main">
            <a:off x="6896100" y="2781300"/>
            <a:ext cx="4333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github.com/AishaAfroj/</a:t>
            </a:r>
          </a:p>
          <a:p xmlns:a="http://schemas.openxmlformats.org/drawingml/2006/main">
            <a:pPr algn="l">
              <a:defRPr sz="1875" b="1">
                <a:solidFill>
                  <a:srgbClr val="101522"/>
                </a:solidFill>
                <a:latin typeface="Helvetica Neue"/>
                <a:ea typeface="Helvetica Neue"/>
                <a:cs typeface="Helvetica Neue"/>
              </a:defRPr>
            </a:pPr>
            <a:r>
              <a:rPr sz="1875" b="1">
                <a:solidFill>
                  <a:srgbClr val="101522"/>
                </a:solidFill>
                <a:latin typeface="Helvetica Neue"/>
                <a:ea typeface="Helvetica Neue"/>
                <a:cs typeface="Helvetica Neue"/>
              </a:rPr>
              <a:t>insightcommerce-ai-analytics</a:t>
            </a:r>
          </a:p>
        </p:txBody>
      </p:sp>
      <p:sp>
        <p:nvSpPr>
          <p:cNvPr id="19" name="">
            <a:extLst xmlns:a="http://schemas.openxmlformats.org/drawingml/2006/main">
              <a:ext uri="{FF2B5EF4-FFF2-40B4-BE49-F238E27FC236}">
                <a16:creationId xmlns:a16="http://schemas.microsoft.com/office/drawing/2014/main" id="{F4AE42E5-6A81-4BD3-AFA7-444C5BF4CD7D}"/>
              </a:ext>
            </a:extLst>
          </p:cNvPr>
          <p:cNvSpPr>
            <a:spLocks xmlns:a="http://schemas.openxmlformats.org/drawingml/2006/main" noGrp="1"/>
          </p:cNvSpPr>
          <p:nvPr/>
        </p:nvSpPr>
        <p:spPr>
          <a:xfrm xmlns:a="http://schemas.openxmlformats.org/drawingml/2006/main">
            <a:off x="6896100" y="3752850"/>
            <a:ext cx="43338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text-rcqvi5">
            <a:extLst xmlns:a="http://schemas.openxmlformats.org/drawingml/2006/main">
              <a:ext uri="{FF2B5EF4-FFF2-40B4-BE49-F238E27FC236}">
                <a16:creationId xmlns:a16="http://schemas.microsoft.com/office/drawing/2014/main" id="{CBD93889-48E4-4A69-AFDF-D644E7A172CC}"/>
              </a:ext>
            </a:extLst>
          </p:cNvPr>
          <p:cNvSpPr>
            <a:spLocks xmlns:a="http://schemas.openxmlformats.org/drawingml/2006/main" noGrp="1"/>
          </p:cNvSpPr>
          <p:nvPr/>
        </p:nvSpPr>
        <p:spPr>
          <a:xfrm xmlns:a="http://schemas.openxmlformats.org/drawingml/2006/main">
            <a:off x="6896100" y="4038600"/>
            <a:ext cx="4333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MD. Shahriar Ahamed Ridoy</a:t>
            </a:r>
          </a:p>
          <a:p xmlns:a="http://schemas.openxmlformats.org/drawingml/2006/main">
            <a:pPr algn="l">
              <a:defRPr sz="1725" b="1">
                <a:solidFill>
                  <a:srgbClr val="101522"/>
                </a:solidFill>
                <a:latin typeface="Helvetica Neue"/>
                <a:ea typeface="Helvetica Neue"/>
                <a:cs typeface="Helvetica Neue"/>
              </a:defRPr>
            </a:pPr>
            <a:r>
              <a:rPr sz="1725" b="1">
                <a:solidFill>
                  <a:srgbClr val="101522"/>
                </a:solidFill>
                <a:latin typeface="Helvetica Neue"/>
                <a:ea typeface="Helvetica Neue"/>
                <a:cs typeface="Helvetica Neue"/>
              </a:rPr>
              <a:t>Aisha Afroj</a:t>
            </a:r>
          </a:p>
        </p:txBody>
      </p:sp>
      <p:sp>
        <p:nvSpPr>
          <p:cNvPr id="21" name="text-8mxue0">
            <a:extLst xmlns:a="http://schemas.openxmlformats.org/drawingml/2006/main">
              <a:ext uri="{FF2B5EF4-FFF2-40B4-BE49-F238E27FC236}">
                <a16:creationId xmlns:a16="http://schemas.microsoft.com/office/drawing/2014/main" id="{64FDBB21-709C-4A1E-B3C1-BA2A3DE129A7}"/>
              </a:ext>
            </a:extLst>
          </p:cNvPr>
          <p:cNvSpPr>
            <a:spLocks xmlns:a="http://schemas.openxmlformats.org/drawingml/2006/main" noGrp="1"/>
          </p:cNvSpPr>
          <p:nvPr/>
        </p:nvSpPr>
        <p:spPr>
          <a:xfrm xmlns:a="http://schemas.openxmlformats.org/drawingml/2006/main">
            <a:off x="6896100" y="4762500"/>
            <a:ext cx="4333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MSc in CSE (Major in Data Science)</a:t>
            </a:r>
          </a:p>
          <a:p xmlns:a="http://schemas.openxmlformats.org/drawingml/2006/main">
            <a:pPr algn="l">
              <a:defRPr sz="1350" b="0">
                <a:solidFill>
                  <a:srgbClr val="596274"/>
                </a:solidFill>
                <a:latin typeface="Helvetica Neue"/>
                <a:ea typeface="Helvetica Neue"/>
                <a:cs typeface="Helvetica Neue"/>
              </a:defRPr>
            </a:pPr>
            <a:r>
              <a:rPr sz="1350" b="0">
                <a:solidFill>
                  <a:srgbClr val="596274"/>
                </a:solidFill>
                <a:latin typeface="Helvetica Neue"/>
                <a:ea typeface="Helvetica Neue"/>
                <a:cs typeface="Helvetica Neue"/>
              </a:rPr>
              <a:t>Daffodil International University</a:t>
            </a:r>
          </a:p>
        </p:txBody>
      </p:sp>
      <p:sp>
        <p:nvSpPr>
          <p:cNvPr id="22" name="text-k2gs4y">
            <a:extLst xmlns:a="http://schemas.openxmlformats.org/drawingml/2006/main">
              <a:ext uri="{FF2B5EF4-FFF2-40B4-BE49-F238E27FC236}">
                <a16:creationId xmlns:a16="http://schemas.microsoft.com/office/drawing/2014/main" id="{AF9B9D14-5A7A-481D-8074-DEF0A8D67CD9}"/>
              </a:ext>
            </a:extLst>
          </p:cNvPr>
          <p:cNvSpPr>
            <a:spLocks xmlns:a="http://schemas.openxmlformats.org/drawingml/2006/main" noGrp="1"/>
          </p:cNvSpPr>
          <p:nvPr/>
        </p:nvSpPr>
        <p:spPr>
          <a:xfrm xmlns:a="http://schemas.openxmlformats.org/drawingml/2006/main">
            <a:off x="495300" y="5895975"/>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75" b="1">
                <a:solidFill>
                  <a:srgbClr val="3D8DFF"/>
                </a:solidFill>
                <a:latin typeface="Helvetica Neue"/>
                <a:ea typeface="Helvetica Neue"/>
                <a:cs typeface="Helvetica Neue"/>
              </a:defRPr>
            </a:pPr>
            <a:r>
              <a:rPr sz="2775" b="1">
                <a:solidFill>
                  <a:srgbClr val="3D8DFF"/>
                </a:solidFill>
                <a:latin typeface="Helvetica Neue"/>
                <a:ea typeface="Helvetica Neue"/>
                <a:cs typeface="Helvetica Neue"/>
              </a:rPr>
              <a:t>Questions?</a:t>
            </a:r>
          </a:p>
        </p:txBody>
      </p:sp>
      <p:sp>
        <p:nvSpPr>
          <p:cNvPr id="23" name="text-vzdyog">
            <a:extLst xmlns:a="http://schemas.openxmlformats.org/drawingml/2006/main">
              <a:ext uri="{FF2B5EF4-FFF2-40B4-BE49-F238E27FC236}">
                <a16:creationId xmlns:a16="http://schemas.microsoft.com/office/drawing/2014/main" id="{C111B13E-4FD1-408F-85D8-2EE3EB43968B}"/>
              </a:ext>
            </a:extLst>
          </p:cNvPr>
          <p:cNvSpPr>
            <a:spLocks xmlns:a="http://schemas.openxmlformats.org/drawingml/2006/main" noGrp="1"/>
          </p:cNvSpPr>
          <p:nvPr/>
        </p:nvSpPr>
        <p:spPr>
          <a:xfrm xmlns:a="http://schemas.openxmlformats.org/drawingml/2006/main">
            <a:off x="9191625" y="6019800"/>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500" b="0">
                <a:solidFill>
                  <a:srgbClr val="596274"/>
                </a:solidFill>
                <a:latin typeface="Helvetica Neue"/>
                <a:ea typeface="Helvetica Neue"/>
                <a:cs typeface="Helvetica Neue"/>
              </a:defRPr>
            </a:pPr>
            <a:r>
              <a:rPr sz="1500" b="0">
                <a:solidFill>
                  <a:srgbClr val="596274"/>
                </a:solidFill>
                <a:latin typeface="Helvetica Neue"/>
                <a:ea typeface="Helvetica Neue"/>
                <a:cs typeface="Helvetica Neue"/>
              </a:rPr>
              <a:t>Thank you</a:t>
            </a:r>
          </a:p>
        </p:txBody>
      </p:sp>
    </p:spTree>
    <p:extLst>
      <p:ext uri="{BB962C8B-B14F-4D97-AF65-F5344CB8AC3E}">
        <p14:creationId xmlns:p14="http://schemas.microsoft.com/office/powerpoint/2010/main" val="89573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2026-08-19T09:11:24.8760000Z</dcterms:created>
  <dcterms:modified xsi:type="dcterms:W3CDTF">2026-08-19T09:11:24.8760000Z</dcterms:modified>
</coreProperties>
</file>